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presentar la investigación como un caso real de ingeniería de sistemas, con un radioenlace en operación y evaluación comparativa rigurosa. No prometer superioridad uniforme.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Justificación: no confundir brecha de acceso a Internet con la brecha específica de gestión del radioenlace. Estas cifras muestran el contexto social, no prueban impacto causal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vacío no consiste en ausencia global de algoritmos de machine learning, sino en su integración y validación temporal dentro del escenario real estudiado.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Enunciar que la hipótesis no se declara verdadera por construir un sistema: se contrasta con métricas fuera de muestra. En la tesis la decisión resultó respaldo parcial.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cada pregunta se asigna un resultado observable. Mantener esta estructura para que el jurado no tenga que buscar las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hacia la sección más importante de la sustentación: validez del procesamiento, diseño temporal e instrumentos de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Aclaración para el jurado: no experimental describe el estudio de campo, donde no se manipuló el radioenlace. La experimentación computacional consiste en comparar modelos bajo procedimientos reproducibles, no en intervenir condiciones físicas.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costo y dificultad de instrumentar escenarios altoandinos; esta tesis no exige instalar más enlaces para validar el estudio de caso, aunque sí delimita la generalización. La topografía mostrada es una ilustración no medición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Precisión metodológica clave: la cobertura temporal de 65.80 % y la completitud entre minutos observados de 99.54 % tienen denominadores distintos. No ocultar interrupciones de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cada transformación tiene evidencia en fichas, código y tablas. La construcción de características utiliza información hasta t; objetivos futuros no se interpolan.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estadístico fue que el intervalo de ganancia favorable no incluya cero. La división se hizo sobre minutos observados, no por asignación aleatoria. Señalar que las brechas temporales persistieron, por lo que deben examinarse según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de defensa: el instrumento no es una escala de percepción. Es una estructura tabular y una matriz de control. Identificar los anexos 2 a 6 como evidencia de construcción y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sugerida: Los instrumentos no miden constructos psicológicos, sino datos técnicos. Su validez se fundamentó en la correspondencia operacional; consistencia en reglas uniformes; confiabilidad del proceso en reproducibilidad y pruebas. No afirmar validación externa inexistente.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crítica: reproducibilidad del cálculo no equivale automáticamente a exactitud instrumental absoluta ni a validación externa de las etiquetas. La trazabilidad hace auditable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la variable independiente como artefacto tecnológico construido, no como tratamiento asignado experimentalmente. En anexo se reproduce la tabla más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medición del predictor físico negociado en el radio de rendimiento TCP real. La tasa DL no proviene de una prueba activa de tráfico; no usar throughput de usuario como sinónimo.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significa que la matriz original tenga columnas separadas por cada pregunta en cuatro filas. Este cuadro la reordena para exposición sin modificar su contenido. La versión completa está dividida en el apéndice.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la metodología hace defendibles los resultados; se contestarán una a una las cuatro preguntas específicas.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hipótesis se respaldó por trazabilidad y completitud condicional; siempre mencionar también la cobertura temporal para no sobreinterpretar calidad de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 estadística descriptiva, no comparación causal. El MCS es código reportado por el dispositivo, no un índice lineal de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HE2 respaldada solo en el plano funcional. Prueba de ejecución no se confunde con validez de estados proxy ni con mejora de clasificación.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F1-macro mayor no implica prueba concluyente. La persistencia tiene exactitud 0.884; HGB 0.851, con sensibilidad de estados minoritarios. AUC describe discriminación, no aporta prueba de superioridad frente a persistencia.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conjunto de 1,000 es solo el subconjunto de mayores puntuaciones y su distribución se muestra por estado proxy. La detección de anomalía no prueba un incidente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respalda una mejora predictiva auténtica para MCS DL dentro del caso: los errores se calcularon sobre la prueba temporal y la ganancia de Ridge fue estable. No implica mejora automática para RSSI.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distinción: tasa DL física o negociada NO throughput medido en capa de aplicación. La mejora es sobre el indicador radioeléctrico analizado, no sobre QoE ni rendimiento extremo a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RSSI impide declarar superioridad general. Mencionar que RMSE penaliza errores grandes y MAE resume magnitud típica. Contrastar hipótesis con honestidad.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decir que todo el sistema resultó significativamente superior. HE3 es respaldada parcialmente porque el diagnóstico no superó concluyentemente persistencia aunque varios pronósticos sí mejoraron.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Precisión HGB 29,33%; persistencia 35,72%. Recall 46.71 vs 35.47. La tasa de falsas alertas definida entre negativos reales. Estos estados son proxy; no afirmar validación clínica/operativa externa.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P4: el sistema identifica rasgos influyentes, pero no la causa física del incidente. Los estados proxy fueron construidos usando SNR, RSSI, MCS y tasa, lo que hace necesaria validación externa para juzgar su utilidad diagnóstica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 en este orden ante el jurado. Separar el logro del objetivo de desarrollar el artefacto de la decisión de hipótesis de superioridad.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jurado pregunta si respaldo parcial invalida la tesis: no. La hipótesis es contrastada con evidencia y muestra condiciones específicas de aporte; cambiar la hipótesis después de observar los resultados para forzar aceptación sería metodológicamente inadecuado.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Importancia: pasar de simulaciones y propuestas puramente teóricas a investigación con telemetría operacional real y proceso auditado. No negar el valor de otros enfoques ni afirmar que esta es la primera investigación real en la UNC.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afirmar institucionalización de una nueva línea. Formular como oportunidad para el laboratorio y la UNC: proyectos longitudinales sobre infraestructura existente, con datos reproducibles y rigor observacional.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literalmente cada fila: sintetizar cada objetivo en menos de 25 segundos. Señalar que lograr objetivos no equivale a aceptar íntegramente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investigación actual no queda invalidada por falta de otros radioenlaces; las recomendaciones se orientan a fortalecer validación externa, anotación de incidencias y adopción gradual.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evitar una afirmación triunfalista. Argumentar que se estableció una ruta de investigación de ingeniería de sistemas a partir de datos del mundo real y resultados auditablemente limitados.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diapositivas se conservan como apoyo de preguntas y no necesariamente deben proyectarse durante la exposición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E3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7B755"/>
          </a:solidFill>
          <a:ln w="12700">
            <a:solidFill>
              <a:srgbClr val="FFFFFF">
                <a:alpha val="0"/>
              </a:srgbClr>
            </a:solidFill>
            <a:prstDash val="solid"/>
          </a:ln>
        </p:spPr>
      </p:sp>
      <p:sp>
        <p:nvSpPr>
          <p:cNvPr id="3" name="Shape 1"/>
          <p:cNvSpPr/>
          <p:nvPr/>
        </p:nvSpPr>
        <p:spPr>
          <a:xfrm>
            <a:off x="7223760" y="0"/>
            <a:ext cx="4937760" cy="5943600"/>
          </a:xfrm>
          <a:prstGeom prst="line">
            <a:avLst/>
          </a:prstGeom>
          <a:noFill/>
          <a:ln w="6350">
            <a:solidFill>
              <a:srgbClr val="2F4160"/>
            </a:solidFill>
            <a:prstDash val="solid"/>
          </a:ln>
        </p:spPr>
      </p:sp>
      <p:sp>
        <p:nvSpPr>
          <p:cNvPr id="4" name="Shape 2"/>
          <p:cNvSpPr/>
          <p:nvPr/>
        </p:nvSpPr>
        <p:spPr>
          <a:xfrm>
            <a:off x="7699248" y="0"/>
            <a:ext cx="4462272" cy="5577840"/>
          </a:xfrm>
          <a:prstGeom prst="line">
            <a:avLst/>
          </a:prstGeom>
          <a:noFill/>
          <a:ln w="6350">
            <a:solidFill>
              <a:srgbClr val="2F4160"/>
            </a:solidFill>
            <a:prstDash val="solid"/>
          </a:ln>
        </p:spPr>
      </p:sp>
      <p:sp>
        <p:nvSpPr>
          <p:cNvPr id="5" name="Shape 3"/>
          <p:cNvSpPr/>
          <p:nvPr/>
        </p:nvSpPr>
        <p:spPr>
          <a:xfrm>
            <a:off x="8174736" y="0"/>
            <a:ext cx="3986784" cy="5212080"/>
          </a:xfrm>
          <a:prstGeom prst="line">
            <a:avLst/>
          </a:prstGeom>
          <a:noFill/>
          <a:ln w="6350">
            <a:solidFill>
              <a:srgbClr val="2F4160"/>
            </a:solidFill>
            <a:prstDash val="solid"/>
          </a:ln>
        </p:spPr>
      </p:sp>
      <p:sp>
        <p:nvSpPr>
          <p:cNvPr id="6" name="Shape 4"/>
          <p:cNvSpPr/>
          <p:nvPr/>
        </p:nvSpPr>
        <p:spPr>
          <a:xfrm>
            <a:off x="8650224" y="0"/>
            <a:ext cx="3511296" cy="4846320"/>
          </a:xfrm>
          <a:prstGeom prst="line">
            <a:avLst/>
          </a:prstGeom>
          <a:noFill/>
          <a:ln w="6350">
            <a:solidFill>
              <a:srgbClr val="2F4160"/>
            </a:solidFill>
            <a:prstDash val="solid"/>
          </a:ln>
        </p:spPr>
      </p:sp>
      <p:sp>
        <p:nvSpPr>
          <p:cNvPr id="7" name="Shape 5"/>
          <p:cNvSpPr/>
          <p:nvPr/>
        </p:nvSpPr>
        <p:spPr>
          <a:xfrm>
            <a:off x="9125712" y="0"/>
            <a:ext cx="3035808" cy="4480560"/>
          </a:xfrm>
          <a:prstGeom prst="line">
            <a:avLst/>
          </a:prstGeom>
          <a:noFill/>
          <a:ln w="6350">
            <a:solidFill>
              <a:srgbClr val="2F4160"/>
            </a:solidFill>
            <a:prstDash val="solid"/>
          </a:ln>
        </p:spPr>
      </p:sp>
      <p:sp>
        <p:nvSpPr>
          <p:cNvPr id="8" name="Shape 6"/>
          <p:cNvSpPr/>
          <p:nvPr/>
        </p:nvSpPr>
        <p:spPr>
          <a:xfrm>
            <a:off x="9601200" y="0"/>
            <a:ext cx="2560320" cy="4114800"/>
          </a:xfrm>
          <a:prstGeom prst="line">
            <a:avLst/>
          </a:prstGeom>
          <a:noFill/>
          <a:ln w="6350">
            <a:solidFill>
              <a:srgbClr val="2F4160"/>
            </a:solidFill>
            <a:prstDash val="solid"/>
          </a:ln>
        </p:spPr>
      </p:sp>
      <p:sp>
        <p:nvSpPr>
          <p:cNvPr id="9" name="Shape 7"/>
          <p:cNvSpPr/>
          <p:nvPr/>
        </p:nvSpPr>
        <p:spPr>
          <a:xfrm>
            <a:off x="10076688" y="0"/>
            <a:ext cx="2084832" cy="3749040"/>
          </a:xfrm>
          <a:prstGeom prst="line">
            <a:avLst/>
          </a:prstGeom>
          <a:noFill/>
          <a:ln w="6350">
            <a:solidFill>
              <a:srgbClr val="2F4160"/>
            </a:solidFill>
            <a:prstDash val="solid"/>
          </a:ln>
        </p:spPr>
      </p:sp>
      <p:pic>
        <p:nvPicPr>
          <p:cNvPr id="10" name="Image 0" descr="/mnt/data/ubel_ppt_build/unc_logo.png">    </p:cNvPr>
          <p:cNvPicPr>
            <a:picLocks noChangeAspect="1"/>
          </p:cNvPicPr>
          <p:nvPr/>
        </p:nvPicPr>
        <p:blipFill>
          <a:blip r:embed="rId1"/>
          <a:stretch>
            <a:fillRect/>
          </a:stretch>
        </p:blipFill>
        <p:spPr>
          <a:xfrm>
            <a:off x="10817352" y="429768"/>
            <a:ext cx="667512" cy="896112"/>
          </a:xfrm>
          <a:prstGeom prst="rect">
            <a:avLst/>
          </a:prstGeom>
        </p:spPr>
      </p:pic>
      <p:sp>
        <p:nvSpPr>
          <p:cNvPr id="11" name="Text 8"/>
          <p:cNvSpPr/>
          <p:nvPr/>
        </p:nvSpPr>
        <p:spPr>
          <a:xfrm>
            <a:off x="640080" y="484632"/>
            <a:ext cx="9692640" cy="228600"/>
          </a:xfrm>
          <a:prstGeom prst="rect">
            <a:avLst/>
          </a:prstGeom>
          <a:noFill/>
          <a:ln/>
        </p:spPr>
        <p:txBody>
          <a:bodyPr wrap="square" lIns="0" tIns="0" rIns="0" bIns="0" rtlCol="0" anchor="ctr">
            <a:normAutofit/>
          </a:bodyPr>
          <a:lstStyle/>
          <a:p>
            <a:pPr algn="l" indent="0" marL="0">
              <a:buNone/>
            </a:pPr>
            <a:r>
              <a:rPr lang="en-US" sz="1300" b="1" spc="145" kern="0" dirty="0">
                <a:solidFill>
                  <a:srgbClr val="F4CE84"/>
                </a:solidFill>
                <a:latin typeface="Aptos" pitchFamily="34" charset="0"/>
                <a:ea typeface="Aptos" pitchFamily="34" charset="-122"/>
                <a:cs typeface="Aptos" pitchFamily="34" charset="-120"/>
              </a:rPr>
              <a:t>UNIVERSIDAD NACIONAL DE CAJAMARCA</a:t>
            </a:r>
            <a:endParaRPr lang="en-US" sz="1300" dirty="0"/>
          </a:p>
        </p:txBody>
      </p:sp>
      <p:sp>
        <p:nvSpPr>
          <p:cNvPr id="12" name="Text 9"/>
          <p:cNvSpPr/>
          <p:nvPr/>
        </p:nvSpPr>
        <p:spPr>
          <a:xfrm>
            <a:off x="649224" y="877824"/>
            <a:ext cx="9692640" cy="210312"/>
          </a:xfrm>
          <a:prstGeom prst="rect">
            <a:avLst/>
          </a:prstGeom>
          <a:noFill/>
          <a:ln/>
        </p:spPr>
        <p:txBody>
          <a:bodyPr wrap="square" lIns="0" tIns="0" rIns="0" bIns="0" rtlCol="0" anchor="ctr">
            <a:normAutofit/>
          </a:bodyPr>
          <a:lstStyle/>
          <a:p>
            <a:pPr algn="l" indent="0" marL="0">
              <a:buNone/>
            </a:pPr>
            <a:r>
              <a:rPr lang="en-US" sz="1010" b="1" spc="55" kern="0" dirty="0">
                <a:solidFill>
                  <a:srgbClr val="BACBDF"/>
                </a:solidFill>
                <a:latin typeface="Aptos" pitchFamily="34" charset="0"/>
                <a:ea typeface="Aptos" pitchFamily="34" charset="-122"/>
                <a:cs typeface="Aptos" pitchFamily="34" charset="-120"/>
              </a:rPr>
              <a:t>FACULTAD DE INGENIERÍA · ESCUELA PROFESIONAL DE INGENIERÍA DE SISTEMAS</a:t>
            </a:r>
            <a:endParaRPr lang="en-US" sz="1010" dirty="0"/>
          </a:p>
        </p:txBody>
      </p:sp>
      <p:sp>
        <p:nvSpPr>
          <p:cNvPr id="13" name="Shape 10"/>
          <p:cNvSpPr/>
          <p:nvPr/>
        </p:nvSpPr>
        <p:spPr>
          <a:xfrm>
            <a:off x="649224" y="1572768"/>
            <a:ext cx="2441448" cy="265176"/>
          </a:xfrm>
          <a:prstGeom prst="roundRect">
            <a:avLst/>
          </a:prstGeom>
          <a:solidFill>
            <a:srgbClr val="1B3154"/>
          </a:solidFill>
          <a:ln w="12700">
            <a:solidFill>
              <a:srgbClr val="FFFFFF">
                <a:alpha val="0"/>
              </a:srgbClr>
            </a:solidFill>
            <a:prstDash val="solid"/>
          </a:ln>
        </p:spPr>
      </p:sp>
      <p:sp>
        <p:nvSpPr>
          <p:cNvPr id="14" name="Text 11"/>
          <p:cNvSpPr/>
          <p:nvPr/>
        </p:nvSpPr>
        <p:spPr>
          <a:xfrm>
            <a:off x="731520" y="1572768"/>
            <a:ext cx="227685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SUSTENTACIÓN DE TESIS</a:t>
            </a:r>
            <a:endParaRPr lang="en-US" sz="940" dirty="0"/>
          </a:p>
        </p:txBody>
      </p:sp>
      <p:sp>
        <p:nvSpPr>
          <p:cNvPr id="15" name="Text 12"/>
          <p:cNvSpPr/>
          <p:nvPr/>
        </p:nvSpPr>
        <p:spPr>
          <a:xfrm>
            <a:off x="640080" y="2029968"/>
            <a:ext cx="10652760" cy="1252728"/>
          </a:xfrm>
          <a:prstGeom prst="rect">
            <a:avLst/>
          </a:prstGeom>
          <a:noFill/>
          <a:ln/>
        </p:spPr>
        <p:txBody>
          <a:bodyPr wrap="square" lIns="0" tIns="0" rIns="0" bIns="0" rtlCol="0" anchor="ctr">
            <a:normAutofit/>
          </a:bodyPr>
          <a:lstStyle/>
          <a:p>
            <a:pPr algn="l" indent="0" marL="0">
              <a:buNone/>
            </a:pPr>
            <a:r>
              <a:rPr lang="en-US" sz="3450" b="1" dirty="0">
                <a:solidFill>
                  <a:srgbClr val="FFFFFF"/>
                </a:solidFill>
                <a:latin typeface="Aptos Display" pitchFamily="34" charset="0"/>
                <a:ea typeface="Aptos Display" pitchFamily="34" charset="-122"/>
                <a:cs typeface="Aptos Display" pitchFamily="34" charset="-120"/>
              </a:rPr>
              <a:t>Sistema inteligente basado en</a:t>
            </a:r>
            <a:endParaRPr lang="en-US" sz="3450" dirty="0"/>
          </a:p>
          <a:p>
            <a:pPr algn="l" indent="0" marL="0">
              <a:buNone/>
            </a:pPr>
            <a:r>
              <a:rPr lang="en-US" sz="3450" b="1" dirty="0">
                <a:solidFill>
                  <a:srgbClr val="FFFFFF"/>
                </a:solidFill>
                <a:latin typeface="Aptos Display" pitchFamily="34" charset="0"/>
                <a:ea typeface="Aptos Display" pitchFamily="34" charset="-122"/>
                <a:cs typeface="Aptos Display" pitchFamily="34" charset="-120"/>
              </a:rPr>
              <a:t>analítica de datos temporales</a:t>
            </a:r>
            <a:endParaRPr lang="en-US" sz="3450" dirty="0"/>
          </a:p>
        </p:txBody>
      </p:sp>
      <p:sp>
        <p:nvSpPr>
          <p:cNvPr id="16" name="Text 13"/>
          <p:cNvSpPr/>
          <p:nvPr/>
        </p:nvSpPr>
        <p:spPr>
          <a:xfrm>
            <a:off x="658368" y="3520440"/>
            <a:ext cx="10149840" cy="640080"/>
          </a:xfrm>
          <a:prstGeom prst="rect">
            <a:avLst/>
          </a:prstGeom>
          <a:noFill/>
          <a:ln/>
        </p:spPr>
        <p:txBody>
          <a:bodyPr wrap="square" lIns="0" tIns="0" rIns="0" bIns="0" rtlCol="0" anchor="ctr">
            <a:normAutofit/>
          </a:bodyPr>
          <a:lstStyle/>
          <a:p>
            <a:pPr algn="l" indent="0" marL="0">
              <a:buNone/>
            </a:pPr>
            <a:r>
              <a:rPr lang="en-US" sz="2100" dirty="0">
                <a:solidFill>
                  <a:srgbClr val="D5E3EE"/>
                </a:solidFill>
                <a:latin typeface="Aptos" pitchFamily="34" charset="0"/>
                <a:ea typeface="Aptos" pitchFamily="34" charset="-122"/>
                <a:cs typeface="Aptos" pitchFamily="34" charset="-120"/>
              </a:rPr>
              <a:t>Diagnóstico y pronóstico del desempeño de un radioenlace rural altoandino</a:t>
            </a:r>
            <a:endParaRPr lang="en-US" sz="2100" dirty="0"/>
          </a:p>
        </p:txBody>
      </p:sp>
      <p:sp>
        <p:nvSpPr>
          <p:cNvPr id="17" name="Shape 14"/>
          <p:cNvSpPr/>
          <p:nvPr/>
        </p:nvSpPr>
        <p:spPr>
          <a:xfrm>
            <a:off x="658368" y="5010912"/>
            <a:ext cx="10826496" cy="0"/>
          </a:xfrm>
          <a:prstGeom prst="line">
            <a:avLst/>
          </a:prstGeom>
          <a:noFill/>
          <a:ln w="10160">
            <a:solidFill>
              <a:srgbClr val="52627C"/>
            </a:solidFill>
            <a:prstDash val="solid"/>
          </a:ln>
        </p:spPr>
      </p:sp>
      <p:sp>
        <p:nvSpPr>
          <p:cNvPr id="18" name="Text 15"/>
          <p:cNvSpPr/>
          <p:nvPr/>
        </p:nvSpPr>
        <p:spPr>
          <a:xfrm>
            <a:off x="667512" y="5239512"/>
            <a:ext cx="1965960" cy="201168"/>
          </a:xfrm>
          <a:prstGeom prst="rect">
            <a:avLst/>
          </a:prstGeom>
          <a:noFill/>
          <a:ln/>
        </p:spPr>
        <p:txBody>
          <a:bodyPr wrap="square" lIns="0" tIns="0" rIns="0" bIns="0" rtlCol="0" anchor="ctr">
            <a:normAutofit/>
          </a:bodyPr>
          <a:lstStyle/>
          <a:p>
            <a:pPr algn="l" indent="0" marL="0">
              <a:buNone/>
            </a:pPr>
            <a:r>
              <a:rPr lang="en-US" sz="940" b="1" spc="120" kern="0" dirty="0">
                <a:solidFill>
                  <a:srgbClr val="F4CE84"/>
                </a:solidFill>
                <a:latin typeface="Aptos" pitchFamily="34" charset="0"/>
                <a:ea typeface="Aptos" pitchFamily="34" charset="-122"/>
                <a:cs typeface="Aptos" pitchFamily="34" charset="-120"/>
              </a:rPr>
              <a:t>TESISTA</a:t>
            </a:r>
            <a:endParaRPr lang="en-US" sz="940" dirty="0"/>
          </a:p>
        </p:txBody>
      </p:sp>
      <p:sp>
        <p:nvSpPr>
          <p:cNvPr id="19" name="Text 16"/>
          <p:cNvSpPr/>
          <p:nvPr/>
        </p:nvSpPr>
        <p:spPr>
          <a:xfrm>
            <a:off x="667512" y="5468112"/>
            <a:ext cx="5303520" cy="320040"/>
          </a:xfrm>
          <a:prstGeom prst="rect">
            <a:avLst/>
          </a:prstGeom>
          <a:noFill/>
          <a:ln/>
        </p:spPr>
        <p:txBody>
          <a:bodyPr wrap="square" lIns="0" tIns="0" rIns="0" bIns="0" rtlCol="0" anchor="ctr">
            <a:normAutofit/>
          </a:bodyPr>
          <a:lstStyle/>
          <a:p>
            <a:pPr algn="l" indent="0" marL="0">
              <a:buNone/>
            </a:pPr>
            <a:r>
              <a:rPr lang="en-US" sz="1550" b="1" dirty="0">
                <a:solidFill>
                  <a:srgbClr val="FFFFFF"/>
                </a:solidFill>
                <a:latin typeface="Aptos" pitchFamily="34" charset="0"/>
                <a:ea typeface="Aptos" pitchFamily="34" charset="-122"/>
                <a:cs typeface="Aptos" pitchFamily="34" charset="-120"/>
              </a:rPr>
              <a:t>Bach. Jose Ubelser Tamay Nuñez</a:t>
            </a:r>
            <a:endParaRPr lang="en-US" sz="1550" dirty="0"/>
          </a:p>
        </p:txBody>
      </p:sp>
      <p:sp>
        <p:nvSpPr>
          <p:cNvPr id="20" name="Text 17"/>
          <p:cNvSpPr/>
          <p:nvPr/>
        </p:nvSpPr>
        <p:spPr>
          <a:xfrm>
            <a:off x="6464808" y="5239512"/>
            <a:ext cx="1965960" cy="201168"/>
          </a:xfrm>
          <a:prstGeom prst="rect">
            <a:avLst/>
          </a:prstGeom>
          <a:noFill/>
          <a:ln/>
        </p:spPr>
        <p:txBody>
          <a:bodyPr wrap="square" lIns="0" tIns="0" rIns="0" bIns="0" rtlCol="0" anchor="ctr">
            <a:normAutofit/>
          </a:bodyPr>
          <a:lstStyle/>
          <a:p>
            <a:pPr algn="l" indent="0" marL="0">
              <a:buNone/>
            </a:pPr>
            <a:r>
              <a:rPr lang="en-US" sz="940" b="1" spc="120" kern="0" dirty="0">
                <a:solidFill>
                  <a:srgbClr val="F4CE84"/>
                </a:solidFill>
                <a:latin typeface="Aptos" pitchFamily="34" charset="0"/>
                <a:ea typeface="Aptos" pitchFamily="34" charset="-122"/>
                <a:cs typeface="Aptos" pitchFamily="34" charset="-120"/>
              </a:rPr>
              <a:t>ASESOR</a:t>
            </a:r>
            <a:endParaRPr lang="en-US" sz="940" dirty="0"/>
          </a:p>
        </p:txBody>
      </p:sp>
      <p:sp>
        <p:nvSpPr>
          <p:cNvPr id="21" name="Text 18"/>
          <p:cNvSpPr/>
          <p:nvPr/>
        </p:nvSpPr>
        <p:spPr>
          <a:xfrm>
            <a:off x="6464808" y="5468112"/>
            <a:ext cx="4937760" cy="320040"/>
          </a:xfrm>
          <a:prstGeom prst="rect">
            <a:avLst/>
          </a:prstGeom>
          <a:noFill/>
          <a:ln/>
        </p:spPr>
        <p:txBody>
          <a:bodyPr wrap="square" lIns="0" tIns="0" rIns="0" bIns="0" rtlCol="0" anchor="ctr">
            <a:normAutofit/>
          </a:bodyPr>
          <a:lstStyle/>
          <a:p>
            <a:pPr algn="l" indent="0" marL="0">
              <a:buNone/>
            </a:pPr>
            <a:r>
              <a:rPr lang="en-US" sz="1550" b="1" dirty="0">
                <a:solidFill>
                  <a:srgbClr val="FFFFFF"/>
                </a:solidFill>
                <a:latin typeface="Aptos" pitchFamily="34" charset="0"/>
                <a:ea typeface="Aptos" pitchFamily="34" charset="-122"/>
                <a:cs typeface="Aptos" pitchFamily="34" charset="-120"/>
              </a:rPr>
              <a:t>Dr. Carlos Jesús Koo Labrín</a:t>
            </a:r>
            <a:endParaRPr lang="en-US" sz="1550" dirty="0"/>
          </a:p>
        </p:txBody>
      </p:sp>
      <p:sp>
        <p:nvSpPr>
          <p:cNvPr id="22" name="Text 19"/>
          <p:cNvSpPr/>
          <p:nvPr/>
        </p:nvSpPr>
        <p:spPr>
          <a:xfrm>
            <a:off x="667512" y="6400800"/>
            <a:ext cx="9875520" cy="201168"/>
          </a:xfrm>
          <a:prstGeom prst="rect">
            <a:avLst/>
          </a:prstGeom>
          <a:noFill/>
          <a:ln/>
        </p:spPr>
        <p:txBody>
          <a:bodyPr wrap="square" lIns="0" tIns="0" rIns="0" bIns="0" rtlCol="0" anchor="ctr">
            <a:normAutofit/>
          </a:bodyPr>
          <a:lstStyle/>
          <a:p>
            <a:pPr algn="l" indent="0" marL="0">
              <a:buNone/>
            </a:pPr>
            <a:r>
              <a:rPr lang="en-US" sz="1100" dirty="0">
                <a:solidFill>
                  <a:srgbClr val="ACBFCE"/>
                </a:solidFill>
                <a:latin typeface="Aptos" pitchFamily="34" charset="0"/>
                <a:ea typeface="Aptos" pitchFamily="34" charset="-122"/>
                <a:cs typeface="Aptos" pitchFamily="34" charset="-120"/>
              </a:rPr>
              <a:t>Cajamarca, Perú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MOTIVACIÓN</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¿Por qué investigar el desempeño de radioenlaces rurales?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 disponibilidad del servicio depende también de la capacidad de diagnosticar y anticipar degradaciones.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capítulo I; cifras de contexto ITU [1] e INEI [2].</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02</a:t>
            </a:r>
            <a:endParaRPr lang="en-US" sz="1040" dirty="0"/>
          </a:p>
        </p:txBody>
      </p:sp>
      <p:sp>
        <p:nvSpPr>
          <p:cNvPr id="9" name="Shape 7"/>
          <p:cNvSpPr/>
          <p:nvPr/>
        </p:nvSpPr>
        <p:spPr>
          <a:xfrm>
            <a:off x="658368" y="1600200"/>
            <a:ext cx="3511296" cy="1261872"/>
          </a:xfrm>
          <a:prstGeom prst="roundRect">
            <a:avLst/>
          </a:prstGeom>
          <a:solidFill>
            <a:srgbClr val="FFFFFF"/>
          </a:solidFill>
          <a:ln w="10160">
            <a:solidFill>
              <a:srgbClr val="DBE3ED"/>
            </a:solidFill>
            <a:prstDash val="solid"/>
          </a:ln>
        </p:spPr>
      </p:sp>
      <p:sp>
        <p:nvSpPr>
          <p:cNvPr id="10" name="Shape 8"/>
          <p:cNvSpPr/>
          <p:nvPr/>
        </p:nvSpPr>
        <p:spPr>
          <a:xfrm>
            <a:off x="658368" y="1600200"/>
            <a:ext cx="59436" cy="1261872"/>
          </a:xfrm>
          <a:prstGeom prst="rect">
            <a:avLst/>
          </a:prstGeom>
          <a:solidFill>
            <a:srgbClr val="2861A1"/>
          </a:solidFill>
          <a:ln w="12700">
            <a:solidFill>
              <a:srgbClr val="FFFFFF">
                <a:alpha val="0"/>
              </a:srgbClr>
            </a:solidFill>
            <a:prstDash val="solid"/>
          </a:ln>
        </p:spPr>
      </p:sp>
      <p:sp>
        <p:nvSpPr>
          <p:cNvPr id="11" name="Text 9"/>
          <p:cNvSpPr/>
          <p:nvPr/>
        </p:nvSpPr>
        <p:spPr>
          <a:xfrm>
            <a:off x="822960" y="1755648"/>
            <a:ext cx="3246120" cy="438912"/>
          </a:xfrm>
          <a:prstGeom prst="rect">
            <a:avLst/>
          </a:prstGeom>
          <a:noFill/>
          <a:ln/>
        </p:spPr>
        <p:txBody>
          <a:bodyPr wrap="square" lIns="0" tIns="0" rIns="0" bIns="0" rtlCol="0" anchor="ctr">
            <a:normAutofit/>
          </a:bodyPr>
          <a:lstStyle/>
          <a:p>
            <a:pPr algn="l" indent="0" marL="0">
              <a:buNone/>
            </a:pPr>
            <a:r>
              <a:rPr lang="en-US" sz="2800" b="1" dirty="0">
                <a:solidFill>
                  <a:srgbClr val="2861A1"/>
                </a:solidFill>
                <a:latin typeface="Aptos" pitchFamily="34" charset="0"/>
                <a:ea typeface="Aptos" pitchFamily="34" charset="-122"/>
                <a:cs typeface="Aptos" pitchFamily="34" charset="-120"/>
              </a:rPr>
              <a:t>48 %</a:t>
            </a:r>
            <a:endParaRPr lang="en-US" sz="2800" dirty="0"/>
          </a:p>
        </p:txBody>
      </p:sp>
      <p:sp>
        <p:nvSpPr>
          <p:cNvPr id="12" name="Text 10"/>
          <p:cNvSpPr/>
          <p:nvPr/>
        </p:nvSpPr>
        <p:spPr>
          <a:xfrm>
            <a:off x="822960" y="2304288"/>
            <a:ext cx="3236976"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Población rural mundial que usaba Internet (2024)</a:t>
            </a:r>
            <a:endParaRPr lang="en-US" sz="1280" dirty="0"/>
          </a:p>
        </p:txBody>
      </p:sp>
      <p:sp>
        <p:nvSpPr>
          <p:cNvPr id="13" name="Text 11"/>
          <p:cNvSpPr/>
          <p:nvPr/>
        </p:nvSpPr>
        <p:spPr>
          <a:xfrm>
            <a:off x="822960" y="2624328"/>
            <a:ext cx="3236976"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Dato de contexto, no del radioenlace</a:t>
            </a:r>
            <a:endParaRPr lang="en-US" sz="930" dirty="0"/>
          </a:p>
        </p:txBody>
      </p:sp>
      <p:sp>
        <p:nvSpPr>
          <p:cNvPr id="14" name="Shape 12"/>
          <p:cNvSpPr/>
          <p:nvPr/>
        </p:nvSpPr>
        <p:spPr>
          <a:xfrm>
            <a:off x="4343400" y="1600200"/>
            <a:ext cx="3511296" cy="1261872"/>
          </a:xfrm>
          <a:prstGeom prst="roundRect">
            <a:avLst/>
          </a:prstGeom>
          <a:solidFill>
            <a:srgbClr val="FFFFFF"/>
          </a:solidFill>
          <a:ln w="10160">
            <a:solidFill>
              <a:srgbClr val="DBE3ED"/>
            </a:solidFill>
            <a:prstDash val="solid"/>
          </a:ln>
        </p:spPr>
      </p:sp>
      <p:sp>
        <p:nvSpPr>
          <p:cNvPr id="15" name="Shape 13"/>
          <p:cNvSpPr/>
          <p:nvPr/>
        </p:nvSpPr>
        <p:spPr>
          <a:xfrm>
            <a:off x="4343400" y="1600200"/>
            <a:ext cx="59436" cy="1261872"/>
          </a:xfrm>
          <a:prstGeom prst="rect">
            <a:avLst/>
          </a:prstGeom>
          <a:solidFill>
            <a:srgbClr val="168B91"/>
          </a:solidFill>
          <a:ln w="12700">
            <a:solidFill>
              <a:srgbClr val="FFFFFF">
                <a:alpha val="0"/>
              </a:srgbClr>
            </a:solidFill>
            <a:prstDash val="solid"/>
          </a:ln>
        </p:spPr>
      </p:sp>
      <p:sp>
        <p:nvSpPr>
          <p:cNvPr id="16" name="Text 14"/>
          <p:cNvSpPr/>
          <p:nvPr/>
        </p:nvSpPr>
        <p:spPr>
          <a:xfrm>
            <a:off x="4507992" y="1755648"/>
            <a:ext cx="3246120" cy="438912"/>
          </a:xfrm>
          <a:prstGeom prst="rect">
            <a:avLst/>
          </a:prstGeom>
          <a:noFill/>
          <a:ln/>
        </p:spPr>
        <p:txBody>
          <a:bodyPr wrap="square" lIns="0" tIns="0" rIns="0" bIns="0" rtlCol="0" anchor="ctr">
            <a:normAutofit/>
          </a:bodyPr>
          <a:lstStyle/>
          <a:p>
            <a:pPr algn="l" indent="0" marL="0">
              <a:buNone/>
            </a:pPr>
            <a:r>
              <a:rPr lang="en-US" sz="2800" b="1" dirty="0">
                <a:solidFill>
                  <a:srgbClr val="168B91"/>
                </a:solidFill>
                <a:latin typeface="Aptos" pitchFamily="34" charset="0"/>
                <a:ea typeface="Aptos" pitchFamily="34" charset="-122"/>
                <a:cs typeface="Aptos" pitchFamily="34" charset="-120"/>
              </a:rPr>
              <a:t>21,7 %</a:t>
            </a:r>
            <a:endParaRPr lang="en-US" sz="2800" dirty="0"/>
          </a:p>
        </p:txBody>
      </p:sp>
      <p:sp>
        <p:nvSpPr>
          <p:cNvPr id="17" name="Text 15"/>
          <p:cNvSpPr/>
          <p:nvPr/>
        </p:nvSpPr>
        <p:spPr>
          <a:xfrm>
            <a:off x="4507992" y="2304288"/>
            <a:ext cx="3236976"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Hogares rurales peruanos con Internet (2025)</a:t>
            </a:r>
            <a:endParaRPr lang="en-US" sz="1280" dirty="0"/>
          </a:p>
        </p:txBody>
      </p:sp>
      <p:sp>
        <p:nvSpPr>
          <p:cNvPr id="18" name="Text 16"/>
          <p:cNvSpPr/>
          <p:nvPr/>
        </p:nvSpPr>
        <p:spPr>
          <a:xfrm>
            <a:off x="4507992" y="2624328"/>
            <a:ext cx="3236976"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Dato de contexto, no del radioenlace</a:t>
            </a:r>
            <a:endParaRPr lang="en-US" sz="930" dirty="0"/>
          </a:p>
        </p:txBody>
      </p:sp>
      <p:sp>
        <p:nvSpPr>
          <p:cNvPr id="19" name="Shape 17"/>
          <p:cNvSpPr/>
          <p:nvPr/>
        </p:nvSpPr>
        <p:spPr>
          <a:xfrm>
            <a:off x="8028432" y="1600200"/>
            <a:ext cx="3511296" cy="1261872"/>
          </a:xfrm>
          <a:prstGeom prst="roundRect">
            <a:avLst/>
          </a:prstGeom>
          <a:solidFill>
            <a:srgbClr val="FFFFFF"/>
          </a:solidFill>
          <a:ln w="10160">
            <a:solidFill>
              <a:srgbClr val="DBE3ED"/>
            </a:solidFill>
            <a:prstDash val="solid"/>
          </a:ln>
        </p:spPr>
      </p:sp>
      <p:sp>
        <p:nvSpPr>
          <p:cNvPr id="20" name="Shape 18"/>
          <p:cNvSpPr/>
          <p:nvPr/>
        </p:nvSpPr>
        <p:spPr>
          <a:xfrm>
            <a:off x="8028432" y="1600200"/>
            <a:ext cx="59436" cy="1261872"/>
          </a:xfrm>
          <a:prstGeom prst="rect">
            <a:avLst/>
          </a:prstGeom>
          <a:solidFill>
            <a:srgbClr val="1B3154"/>
          </a:solidFill>
          <a:ln w="12700">
            <a:solidFill>
              <a:srgbClr val="FFFFFF">
                <a:alpha val="0"/>
              </a:srgbClr>
            </a:solidFill>
            <a:prstDash val="solid"/>
          </a:ln>
        </p:spPr>
      </p:sp>
      <p:sp>
        <p:nvSpPr>
          <p:cNvPr id="21" name="Text 19"/>
          <p:cNvSpPr/>
          <p:nvPr/>
        </p:nvSpPr>
        <p:spPr>
          <a:xfrm>
            <a:off x="8193024" y="1755648"/>
            <a:ext cx="3246120" cy="438912"/>
          </a:xfrm>
          <a:prstGeom prst="rect">
            <a:avLst/>
          </a:prstGeom>
          <a:noFill/>
          <a:ln/>
        </p:spPr>
        <p:txBody>
          <a:bodyPr wrap="square" lIns="0" tIns="0" rIns="0" bIns="0" rtlCol="0" anchor="ctr">
            <a:normAutofit/>
          </a:bodyPr>
          <a:lstStyle/>
          <a:p>
            <a:pPr algn="l" indent="0" marL="0">
              <a:buNone/>
            </a:pPr>
            <a:r>
              <a:rPr lang="en-US" sz="2800" b="1" dirty="0">
                <a:solidFill>
                  <a:srgbClr val="1B3154"/>
                </a:solidFill>
                <a:latin typeface="Aptos" pitchFamily="34" charset="0"/>
                <a:ea typeface="Aptos" pitchFamily="34" charset="-122"/>
                <a:cs typeface="Aptos" pitchFamily="34" charset="-120"/>
              </a:rPr>
              <a:t>≈12 km</a:t>
            </a:r>
            <a:endParaRPr lang="en-US" sz="2800" dirty="0"/>
          </a:p>
        </p:txBody>
      </p:sp>
      <p:sp>
        <p:nvSpPr>
          <p:cNvPr id="22" name="Text 20"/>
          <p:cNvSpPr/>
          <p:nvPr/>
        </p:nvSpPr>
        <p:spPr>
          <a:xfrm>
            <a:off x="8193024" y="2304288"/>
            <a:ext cx="3236976"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Radioenlace real Cuñacales–San José</a:t>
            </a:r>
            <a:endParaRPr lang="en-US" sz="1280" dirty="0"/>
          </a:p>
        </p:txBody>
      </p:sp>
      <p:sp>
        <p:nvSpPr>
          <p:cNvPr id="23" name="Text 21"/>
          <p:cNvSpPr/>
          <p:nvPr/>
        </p:nvSpPr>
        <p:spPr>
          <a:xfrm>
            <a:off x="8193024" y="2624328"/>
            <a:ext cx="3236976"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Escenario altoandino de Cajamarca</a:t>
            </a:r>
            <a:endParaRPr lang="en-US" sz="930" dirty="0"/>
          </a:p>
        </p:txBody>
      </p:sp>
      <p:sp>
        <p:nvSpPr>
          <p:cNvPr id="24" name="Shape 22"/>
          <p:cNvSpPr/>
          <p:nvPr/>
        </p:nvSpPr>
        <p:spPr>
          <a:xfrm>
            <a:off x="685800" y="3236976"/>
            <a:ext cx="10808208" cy="822960"/>
          </a:xfrm>
          <a:prstGeom prst="roundRect">
            <a:avLst/>
          </a:prstGeom>
          <a:solidFill>
            <a:srgbClr val="E8F4F3"/>
          </a:solidFill>
          <a:ln w="12700">
            <a:solidFill>
              <a:srgbClr val="FFFFFF">
                <a:alpha val="0"/>
              </a:srgbClr>
            </a:solidFill>
            <a:prstDash val="solid"/>
          </a:ln>
        </p:spPr>
      </p:sp>
      <p:sp>
        <p:nvSpPr>
          <p:cNvPr id="25" name="Shape 23"/>
          <p:cNvSpPr/>
          <p:nvPr/>
        </p:nvSpPr>
        <p:spPr>
          <a:xfrm>
            <a:off x="685800" y="3236976"/>
            <a:ext cx="73152" cy="822960"/>
          </a:xfrm>
          <a:prstGeom prst="rect">
            <a:avLst/>
          </a:prstGeom>
          <a:solidFill>
            <a:srgbClr val="168B91"/>
          </a:solidFill>
          <a:ln w="12700">
            <a:solidFill>
              <a:srgbClr val="FFFFFF">
                <a:alpha val="0"/>
              </a:srgbClr>
            </a:solidFill>
            <a:prstDash val="solid"/>
          </a:ln>
        </p:spPr>
      </p:sp>
      <p:sp>
        <p:nvSpPr>
          <p:cNvPr id="26" name="Text 24"/>
          <p:cNvSpPr/>
          <p:nvPr/>
        </p:nvSpPr>
        <p:spPr>
          <a:xfrm>
            <a:off x="877824" y="3328416"/>
            <a:ext cx="10442448" cy="658368"/>
          </a:xfrm>
          <a:prstGeom prst="rect">
            <a:avLst/>
          </a:prstGeom>
          <a:noFill/>
          <a:ln/>
        </p:spPr>
        <p:txBody>
          <a:bodyPr wrap="square" lIns="0" tIns="0" rIns="0" bIns="0" rtlCol="0" anchor="ctr">
            <a:normAutofit/>
          </a:bodyPr>
          <a:lstStyle/>
          <a:p>
            <a:pPr algn="l" indent="0" marL="0">
              <a:buNone/>
            </a:pPr>
            <a:r>
              <a:rPr lang="en-US" sz="1800" b="1" dirty="0">
                <a:solidFill>
                  <a:srgbClr val="111E37"/>
                </a:solidFill>
                <a:latin typeface="Aptos" pitchFamily="34" charset="0"/>
                <a:ea typeface="Aptos" pitchFamily="34" charset="-122"/>
                <a:cs typeface="Aptos" pitchFamily="34" charset="-120"/>
              </a:rPr>
              <a:t>La conectividad no termina con desplegar infraestructura: la continuidad operativa requiere transformar telemetría en decisiones de supervisión.</a:t>
            </a:r>
            <a:endParaRPr lang="en-US" sz="1800" dirty="0"/>
          </a:p>
        </p:txBody>
      </p:sp>
      <p:sp>
        <p:nvSpPr>
          <p:cNvPr id="27" name="Shape 25"/>
          <p:cNvSpPr/>
          <p:nvPr/>
        </p:nvSpPr>
        <p:spPr>
          <a:xfrm>
            <a:off x="782726" y="4568342"/>
            <a:ext cx="98755" cy="98755"/>
          </a:xfrm>
          <a:prstGeom prst="ellipse">
            <a:avLst/>
          </a:prstGeom>
          <a:solidFill>
            <a:srgbClr val="168B91"/>
          </a:solidFill>
          <a:ln w="12700">
            <a:solidFill>
              <a:srgbClr val="FFFFFF">
                <a:alpha val="0"/>
              </a:srgbClr>
            </a:solidFill>
            <a:prstDash val="solid"/>
          </a:ln>
        </p:spPr>
      </p:sp>
      <p:sp>
        <p:nvSpPr>
          <p:cNvPr id="28" name="Text 26"/>
          <p:cNvSpPr/>
          <p:nvPr/>
        </p:nvSpPr>
        <p:spPr>
          <a:xfrm>
            <a:off x="987552" y="4471416"/>
            <a:ext cx="10433304" cy="475488"/>
          </a:xfrm>
          <a:prstGeom prst="rect">
            <a:avLst/>
          </a:prstGeom>
          <a:noFill/>
          <a:ln/>
        </p:spPr>
        <p:txBody>
          <a:bodyPr wrap="square" lIns="0" tIns="0" rIns="0" bIns="0" rtlCol="0" anchor="ctr">
            <a:normAutofit/>
          </a:bodyPr>
          <a:lstStyle/>
          <a:p>
            <a:pPr algn="l" indent="0" marL="0">
              <a:buNone/>
            </a:pPr>
            <a:r>
              <a:rPr lang="en-US" sz="1700" dirty="0">
                <a:solidFill>
                  <a:srgbClr val="202B3C"/>
                </a:solidFill>
                <a:latin typeface="Aptos" pitchFamily="34" charset="0"/>
                <a:ea typeface="Aptos" pitchFamily="34" charset="-122"/>
                <a:cs typeface="Aptos" pitchFamily="34" charset="-120"/>
              </a:rPr>
              <a:t>Evaluación con mediciones registradas durante la operación real.</a:t>
            </a:r>
            <a:endParaRPr lang="en-US" sz="1700" dirty="0"/>
          </a:p>
        </p:txBody>
      </p:sp>
      <p:sp>
        <p:nvSpPr>
          <p:cNvPr id="29" name="Shape 27"/>
          <p:cNvSpPr/>
          <p:nvPr/>
        </p:nvSpPr>
        <p:spPr>
          <a:xfrm>
            <a:off x="782726" y="5107838"/>
            <a:ext cx="98755" cy="98755"/>
          </a:xfrm>
          <a:prstGeom prst="ellipse">
            <a:avLst/>
          </a:prstGeom>
          <a:solidFill>
            <a:srgbClr val="168B91"/>
          </a:solidFill>
          <a:ln w="12700">
            <a:solidFill>
              <a:srgbClr val="FFFFFF">
                <a:alpha val="0"/>
              </a:srgbClr>
            </a:solidFill>
            <a:prstDash val="solid"/>
          </a:ln>
        </p:spPr>
      </p:sp>
      <p:sp>
        <p:nvSpPr>
          <p:cNvPr id="30" name="Text 28"/>
          <p:cNvSpPr/>
          <p:nvPr/>
        </p:nvSpPr>
        <p:spPr>
          <a:xfrm>
            <a:off x="987552" y="5010912"/>
            <a:ext cx="10433304" cy="475488"/>
          </a:xfrm>
          <a:prstGeom prst="rect">
            <a:avLst/>
          </a:prstGeom>
          <a:noFill/>
          <a:ln/>
        </p:spPr>
        <p:txBody>
          <a:bodyPr wrap="square" lIns="0" tIns="0" rIns="0" bIns="0" rtlCol="0" anchor="ctr">
            <a:normAutofit/>
          </a:bodyPr>
          <a:lstStyle/>
          <a:p>
            <a:pPr algn="l" indent="0" marL="0">
              <a:buNone/>
            </a:pPr>
            <a:r>
              <a:rPr lang="en-US" sz="1700" dirty="0">
                <a:solidFill>
                  <a:srgbClr val="202B3C"/>
                </a:solidFill>
                <a:latin typeface="Aptos" pitchFamily="34" charset="0"/>
                <a:ea typeface="Aptos" pitchFamily="34" charset="-122"/>
                <a:cs typeface="Aptos" pitchFamily="34" charset="-120"/>
              </a:rPr>
              <a:t>Diagnóstico, detección de anomalías, pronóstico y explicabilidad en un mismo sistema.</a:t>
            </a:r>
            <a:endParaRPr lang="en-US" sz="1700" dirty="0"/>
          </a:p>
        </p:txBody>
      </p:sp>
      <p:sp>
        <p:nvSpPr>
          <p:cNvPr id="31" name="Shape 29"/>
          <p:cNvSpPr/>
          <p:nvPr/>
        </p:nvSpPr>
        <p:spPr>
          <a:xfrm>
            <a:off x="782726" y="5647334"/>
            <a:ext cx="98755" cy="98755"/>
          </a:xfrm>
          <a:prstGeom prst="ellipse">
            <a:avLst/>
          </a:prstGeom>
          <a:solidFill>
            <a:srgbClr val="168B91"/>
          </a:solidFill>
          <a:ln w="12700">
            <a:solidFill>
              <a:srgbClr val="FFFFFF">
                <a:alpha val="0"/>
              </a:srgbClr>
            </a:solidFill>
            <a:prstDash val="solid"/>
          </a:ln>
        </p:spPr>
      </p:sp>
      <p:sp>
        <p:nvSpPr>
          <p:cNvPr id="32" name="Text 30"/>
          <p:cNvSpPr/>
          <p:nvPr/>
        </p:nvSpPr>
        <p:spPr>
          <a:xfrm>
            <a:off x="987552" y="5550408"/>
            <a:ext cx="10433304" cy="475488"/>
          </a:xfrm>
          <a:prstGeom prst="rect">
            <a:avLst/>
          </a:prstGeom>
          <a:noFill/>
          <a:ln/>
        </p:spPr>
        <p:txBody>
          <a:bodyPr wrap="square" lIns="0" tIns="0" rIns="0" bIns="0" rtlCol="0" anchor="ctr">
            <a:normAutofit/>
          </a:bodyPr>
          <a:lstStyle/>
          <a:p>
            <a:pPr algn="l" indent="0" marL="0">
              <a:buNone/>
            </a:pPr>
            <a:r>
              <a:rPr lang="en-US" sz="1700" dirty="0">
                <a:solidFill>
                  <a:srgbClr val="202B3C"/>
                </a:solidFill>
                <a:latin typeface="Aptos" pitchFamily="34" charset="0"/>
                <a:ea typeface="Aptos" pitchFamily="34" charset="-122"/>
                <a:cs typeface="Aptos" pitchFamily="34" charset="-120"/>
              </a:rPr>
              <a:t>Metodología reproducible para investigación aplicada en escenarios altoandinos.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PROBLEMA CIENTÍFICO</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De registros dispersos a conocimiento operacional</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Los indicadores aislados y la supervisión manual no bastan para caracterizar la dinámica temporal.</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03</a:t>
            </a:r>
            <a:endParaRPr lang="en-US" sz="1040" dirty="0"/>
          </a:p>
        </p:txBody>
      </p:sp>
      <p:sp>
        <p:nvSpPr>
          <p:cNvPr id="9" name="Shape 7"/>
          <p:cNvSpPr/>
          <p:nvPr/>
        </p:nvSpPr>
        <p:spPr>
          <a:xfrm>
            <a:off x="694944" y="1847088"/>
            <a:ext cx="3410712" cy="1389888"/>
          </a:xfrm>
          <a:prstGeom prst="roundRect">
            <a:avLst/>
          </a:prstGeom>
          <a:solidFill>
            <a:srgbClr val="FFFFFF"/>
          </a:solidFill>
          <a:ln w="10160">
            <a:solidFill>
              <a:srgbClr val="DBE3ED"/>
            </a:solidFill>
            <a:prstDash val="solid"/>
          </a:ln>
        </p:spPr>
      </p:sp>
      <p:sp>
        <p:nvSpPr>
          <p:cNvPr id="10" name="Text 8"/>
          <p:cNvSpPr/>
          <p:nvPr/>
        </p:nvSpPr>
        <p:spPr>
          <a:xfrm>
            <a:off x="923544" y="2130552"/>
            <a:ext cx="2916936" cy="310896"/>
          </a:xfrm>
          <a:prstGeom prst="rect">
            <a:avLst/>
          </a:prstGeom>
          <a:noFill/>
          <a:ln/>
        </p:spPr>
        <p:txBody>
          <a:bodyPr wrap="square" lIns="0" tIns="0" rIns="0" bIns="0" rtlCol="0" anchor="ctr">
            <a:normAutofit/>
          </a:bodyPr>
          <a:lstStyle/>
          <a:p>
            <a:pPr algn="l" indent="0" marL="0">
              <a:buNone/>
            </a:pPr>
            <a:r>
              <a:rPr lang="en-US" sz="1600" b="1" dirty="0">
                <a:solidFill>
                  <a:srgbClr val="168B91"/>
                </a:solidFill>
                <a:latin typeface="Aptos" pitchFamily="34" charset="0"/>
                <a:ea typeface="Aptos" pitchFamily="34" charset="-122"/>
                <a:cs typeface="Aptos" pitchFamily="34" charset="-120"/>
              </a:rPr>
              <a:t>TELEMETRÍA</a:t>
            </a:r>
            <a:endParaRPr lang="en-US" sz="1600" dirty="0"/>
          </a:p>
        </p:txBody>
      </p:sp>
      <p:sp>
        <p:nvSpPr>
          <p:cNvPr id="11" name="Text 9"/>
          <p:cNvSpPr/>
          <p:nvPr/>
        </p:nvSpPr>
        <p:spPr>
          <a:xfrm>
            <a:off x="923544" y="2615184"/>
            <a:ext cx="2926080" cy="320040"/>
          </a:xfrm>
          <a:prstGeom prst="rect">
            <a:avLst/>
          </a:prstGeom>
          <a:noFill/>
          <a:ln/>
        </p:spPr>
        <p:txBody>
          <a:bodyPr wrap="square" lIns="0" tIns="0" rIns="0" bIns="0" rtlCol="0" anchor="ctr">
            <a:normAutofit/>
          </a:bodyPr>
          <a:lstStyle/>
          <a:p>
            <a:pPr algn="l" indent="0" marL="0">
              <a:buNone/>
            </a:pPr>
            <a:r>
              <a:rPr lang="en-US" sz="1500" dirty="0">
                <a:solidFill>
                  <a:srgbClr val="202B3C"/>
                </a:solidFill>
                <a:latin typeface="Aptos" pitchFamily="34" charset="0"/>
                <a:ea typeface="Aptos" pitchFamily="34" charset="-122"/>
                <a:cs typeface="Aptos" pitchFamily="34" charset="-120"/>
              </a:rPr>
              <a:t>RSSI · SNR · MCS · tasa DL</a:t>
            </a:r>
            <a:endParaRPr lang="en-US" sz="1500" dirty="0"/>
          </a:p>
        </p:txBody>
      </p:sp>
      <p:sp>
        <p:nvSpPr>
          <p:cNvPr id="12" name="Shape 10"/>
          <p:cNvSpPr/>
          <p:nvPr/>
        </p:nvSpPr>
        <p:spPr>
          <a:xfrm>
            <a:off x="4151376" y="2542032"/>
            <a:ext cx="310896" cy="0"/>
          </a:xfrm>
          <a:prstGeom prst="line">
            <a:avLst/>
          </a:prstGeom>
          <a:noFill/>
          <a:ln w="25400">
            <a:solidFill>
              <a:srgbClr val="168B91"/>
            </a:solidFill>
            <a:prstDash val="solid"/>
            <a:headEnd type="none"/>
            <a:tailEnd type="triangle"/>
          </a:ln>
        </p:spPr>
      </p:sp>
      <p:sp>
        <p:nvSpPr>
          <p:cNvPr id="13" name="Shape 11"/>
          <p:cNvSpPr/>
          <p:nvPr/>
        </p:nvSpPr>
        <p:spPr>
          <a:xfrm>
            <a:off x="4562856" y="1847088"/>
            <a:ext cx="3410712" cy="1389888"/>
          </a:xfrm>
          <a:prstGeom prst="roundRect">
            <a:avLst/>
          </a:prstGeom>
          <a:solidFill>
            <a:srgbClr val="EBF2FC"/>
          </a:solidFill>
          <a:ln w="10160">
            <a:solidFill>
              <a:srgbClr val="DBE3ED"/>
            </a:solidFill>
            <a:prstDash val="solid"/>
          </a:ln>
        </p:spPr>
      </p:sp>
      <p:sp>
        <p:nvSpPr>
          <p:cNvPr id="14" name="Text 12"/>
          <p:cNvSpPr/>
          <p:nvPr/>
        </p:nvSpPr>
        <p:spPr>
          <a:xfrm>
            <a:off x="4791456" y="2130552"/>
            <a:ext cx="2916936" cy="310896"/>
          </a:xfrm>
          <a:prstGeom prst="rect">
            <a:avLst/>
          </a:prstGeom>
          <a:noFill/>
          <a:ln/>
        </p:spPr>
        <p:txBody>
          <a:bodyPr wrap="square" lIns="0" tIns="0" rIns="0" bIns="0" rtlCol="0" anchor="ctr">
            <a:normAutofit/>
          </a:bodyPr>
          <a:lstStyle/>
          <a:p>
            <a:pPr algn="l" indent="0" marL="0">
              <a:buNone/>
            </a:pPr>
            <a:r>
              <a:rPr lang="en-US" sz="1600" b="1" dirty="0">
                <a:solidFill>
                  <a:srgbClr val="2861A1"/>
                </a:solidFill>
                <a:latin typeface="Aptos" pitchFamily="34" charset="0"/>
                <a:ea typeface="Aptos" pitchFamily="34" charset="-122"/>
                <a:cs typeface="Aptos" pitchFamily="34" charset="-120"/>
              </a:rPr>
              <a:t>LIMITACIÓN</a:t>
            </a:r>
            <a:endParaRPr lang="en-US" sz="1600" dirty="0"/>
          </a:p>
        </p:txBody>
      </p:sp>
      <p:sp>
        <p:nvSpPr>
          <p:cNvPr id="15" name="Text 13"/>
          <p:cNvSpPr/>
          <p:nvPr/>
        </p:nvSpPr>
        <p:spPr>
          <a:xfrm>
            <a:off x="4791456" y="2615184"/>
            <a:ext cx="2926080" cy="320040"/>
          </a:xfrm>
          <a:prstGeom prst="rect">
            <a:avLst/>
          </a:prstGeom>
          <a:noFill/>
          <a:ln/>
        </p:spPr>
        <p:txBody>
          <a:bodyPr wrap="square" lIns="0" tIns="0" rIns="0" bIns="0" rtlCol="0" anchor="ctr">
            <a:normAutofit/>
          </a:bodyPr>
          <a:lstStyle/>
          <a:p>
            <a:pPr algn="l" indent="0" marL="0">
              <a:buNone/>
            </a:pPr>
            <a:r>
              <a:rPr lang="en-US" sz="1500" dirty="0">
                <a:solidFill>
                  <a:srgbClr val="202B3C"/>
                </a:solidFill>
                <a:latin typeface="Aptos" pitchFamily="34" charset="0"/>
                <a:ea typeface="Aptos" pitchFamily="34" charset="-122"/>
                <a:cs typeface="Aptos" pitchFamily="34" charset="-120"/>
              </a:rPr>
              <a:t>Consulta histórica y umbrales fijos</a:t>
            </a:r>
            <a:endParaRPr lang="en-US" sz="1500" dirty="0"/>
          </a:p>
        </p:txBody>
      </p:sp>
      <p:sp>
        <p:nvSpPr>
          <p:cNvPr id="16" name="Shape 14"/>
          <p:cNvSpPr/>
          <p:nvPr/>
        </p:nvSpPr>
        <p:spPr>
          <a:xfrm>
            <a:off x="8019288" y="2542032"/>
            <a:ext cx="310896" cy="0"/>
          </a:xfrm>
          <a:prstGeom prst="line">
            <a:avLst/>
          </a:prstGeom>
          <a:noFill/>
          <a:ln w="25400">
            <a:solidFill>
              <a:srgbClr val="168B91"/>
            </a:solidFill>
            <a:prstDash val="solid"/>
            <a:headEnd type="none"/>
            <a:tailEnd type="triangle"/>
          </a:ln>
        </p:spPr>
      </p:sp>
      <p:sp>
        <p:nvSpPr>
          <p:cNvPr id="17" name="Shape 15"/>
          <p:cNvSpPr/>
          <p:nvPr/>
        </p:nvSpPr>
        <p:spPr>
          <a:xfrm>
            <a:off x="8430768" y="1847088"/>
            <a:ext cx="3410712" cy="1389888"/>
          </a:xfrm>
          <a:prstGeom prst="roundRect">
            <a:avLst/>
          </a:prstGeom>
          <a:solidFill>
            <a:srgbClr val="FFFFFF"/>
          </a:solidFill>
          <a:ln w="10160">
            <a:solidFill>
              <a:srgbClr val="DBE3ED"/>
            </a:solidFill>
            <a:prstDash val="solid"/>
          </a:ln>
        </p:spPr>
      </p:sp>
      <p:sp>
        <p:nvSpPr>
          <p:cNvPr id="18" name="Text 16"/>
          <p:cNvSpPr/>
          <p:nvPr/>
        </p:nvSpPr>
        <p:spPr>
          <a:xfrm>
            <a:off x="8659368" y="2130552"/>
            <a:ext cx="2916936" cy="310896"/>
          </a:xfrm>
          <a:prstGeom prst="rect">
            <a:avLst/>
          </a:prstGeom>
          <a:noFill/>
          <a:ln/>
        </p:spPr>
        <p:txBody>
          <a:bodyPr wrap="square" lIns="0" tIns="0" rIns="0" bIns="0" rtlCol="0" anchor="ctr">
            <a:normAutofit/>
          </a:bodyPr>
          <a:lstStyle/>
          <a:p>
            <a:pPr algn="l" indent="0" marL="0">
              <a:buNone/>
            </a:pPr>
            <a:r>
              <a:rPr lang="en-US" sz="1600" b="1" dirty="0">
                <a:solidFill>
                  <a:srgbClr val="168B91"/>
                </a:solidFill>
                <a:latin typeface="Aptos" pitchFamily="34" charset="0"/>
                <a:ea typeface="Aptos" pitchFamily="34" charset="-122"/>
                <a:cs typeface="Aptos" pitchFamily="34" charset="-120"/>
              </a:rPr>
              <a:t>NECESIDAD</a:t>
            </a:r>
            <a:endParaRPr lang="en-US" sz="1600" dirty="0"/>
          </a:p>
        </p:txBody>
      </p:sp>
      <p:sp>
        <p:nvSpPr>
          <p:cNvPr id="19" name="Text 17"/>
          <p:cNvSpPr/>
          <p:nvPr/>
        </p:nvSpPr>
        <p:spPr>
          <a:xfrm>
            <a:off x="8659368" y="2615184"/>
            <a:ext cx="2926080" cy="320040"/>
          </a:xfrm>
          <a:prstGeom prst="rect">
            <a:avLst/>
          </a:prstGeom>
          <a:noFill/>
          <a:ln/>
        </p:spPr>
        <p:txBody>
          <a:bodyPr wrap="square" lIns="0" tIns="0" rIns="0" bIns="0" rtlCol="0" anchor="ctr">
            <a:normAutofit/>
          </a:bodyPr>
          <a:lstStyle/>
          <a:p>
            <a:pPr algn="l" indent="0" marL="0">
              <a:buNone/>
            </a:pPr>
            <a:r>
              <a:rPr lang="en-US" sz="1500" dirty="0">
                <a:solidFill>
                  <a:srgbClr val="202B3C"/>
                </a:solidFill>
                <a:latin typeface="Aptos" pitchFamily="34" charset="0"/>
                <a:ea typeface="Aptos" pitchFamily="34" charset="-122"/>
                <a:cs typeface="Aptos" pitchFamily="34" charset="-120"/>
              </a:rPr>
              <a:t>Clasificar · anticipar · explicar</a:t>
            </a:r>
            <a:endParaRPr lang="en-US" sz="1500" dirty="0"/>
          </a:p>
        </p:txBody>
      </p:sp>
      <p:sp>
        <p:nvSpPr>
          <p:cNvPr id="20" name="Shape 18"/>
          <p:cNvSpPr/>
          <p:nvPr/>
        </p:nvSpPr>
        <p:spPr>
          <a:xfrm>
            <a:off x="694944" y="3703320"/>
            <a:ext cx="10771632" cy="1399032"/>
          </a:xfrm>
          <a:prstGeom prst="roundRect">
            <a:avLst/>
          </a:prstGeom>
          <a:solidFill>
            <a:srgbClr val="111E37"/>
          </a:solidFill>
          <a:ln w="12700">
            <a:solidFill>
              <a:srgbClr val="FFFFFF">
                <a:alpha val="0"/>
              </a:srgbClr>
            </a:solidFill>
            <a:prstDash val="solid"/>
          </a:ln>
        </p:spPr>
      </p:sp>
      <p:sp>
        <p:nvSpPr>
          <p:cNvPr id="21" name="Text 19"/>
          <p:cNvSpPr/>
          <p:nvPr/>
        </p:nvSpPr>
        <p:spPr>
          <a:xfrm>
            <a:off x="932688" y="3931920"/>
            <a:ext cx="10332720" cy="228600"/>
          </a:xfrm>
          <a:prstGeom prst="rect">
            <a:avLst/>
          </a:prstGeom>
          <a:noFill/>
          <a:ln/>
        </p:spPr>
        <p:txBody>
          <a:bodyPr wrap="square" lIns="0" tIns="0" rIns="0" bIns="0" rtlCol="0" anchor="ctr">
            <a:normAutofit/>
          </a:bodyPr>
          <a:lstStyle/>
          <a:p>
            <a:pPr algn="l" indent="0" marL="0">
              <a:buNone/>
            </a:pPr>
            <a:r>
              <a:rPr lang="en-US" sz="1100" b="1" spc="130" kern="0" dirty="0">
                <a:solidFill>
                  <a:srgbClr val="F4CE84"/>
                </a:solidFill>
                <a:latin typeface="Aptos" pitchFamily="34" charset="0"/>
                <a:ea typeface="Aptos" pitchFamily="34" charset="-122"/>
                <a:cs typeface="Aptos" pitchFamily="34" charset="-120"/>
              </a:rPr>
              <a:t>BRECHA QUE ABORDA LA TESIS</a:t>
            </a:r>
            <a:endParaRPr lang="en-US" sz="1100" dirty="0"/>
          </a:p>
        </p:txBody>
      </p:sp>
      <p:sp>
        <p:nvSpPr>
          <p:cNvPr id="22" name="Text 20"/>
          <p:cNvSpPr/>
          <p:nvPr/>
        </p:nvSpPr>
        <p:spPr>
          <a:xfrm>
            <a:off x="932688" y="4315968"/>
            <a:ext cx="10232136" cy="539496"/>
          </a:xfrm>
          <a:prstGeom prst="rect">
            <a:avLst/>
          </a:prstGeom>
          <a:noFill/>
          <a:ln/>
        </p:spPr>
        <p:txBody>
          <a:bodyPr wrap="square" lIns="0" tIns="0" rIns="0" bIns="0" rtlCol="0" anchor="ctr">
            <a:normAutofit/>
          </a:bodyPr>
          <a:lstStyle/>
          <a:p>
            <a:pPr algn="l" indent="0" marL="0">
              <a:buNone/>
            </a:pPr>
            <a:r>
              <a:rPr lang="en-US" sz="1800" dirty="0">
                <a:solidFill>
                  <a:srgbClr val="FFFFFF"/>
                </a:solidFill>
                <a:latin typeface="Aptos" pitchFamily="34" charset="0"/>
                <a:ea typeface="Aptos" pitchFamily="34" charset="-122"/>
                <a:cs typeface="Aptos" pitchFamily="34" charset="-120"/>
              </a:rPr>
              <a:t>No existía en el caso estudiado un flujo integrado y evaluado cronológicamente para convertir telemetría en estados, anomalías, pronósticos y alertas interpretables.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PLANTEAMIENTO</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Problema, objetivo e hipótesis general</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Tres formulaciones alineadas con la comparación de un artefacto tecnológico y sus referentes.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04</a:t>
            </a:r>
            <a:endParaRPr lang="en-US" sz="1040" dirty="0"/>
          </a:p>
        </p:txBody>
      </p:sp>
      <p:sp>
        <p:nvSpPr>
          <p:cNvPr id="9" name="Shape 7"/>
          <p:cNvSpPr/>
          <p:nvPr/>
        </p:nvSpPr>
        <p:spPr>
          <a:xfrm>
            <a:off x="685800" y="1600200"/>
            <a:ext cx="10817352" cy="1133856"/>
          </a:xfrm>
          <a:prstGeom prst="roundRect">
            <a:avLst/>
          </a:prstGeom>
          <a:solidFill>
            <a:srgbClr val="FFFFFF"/>
          </a:solidFill>
          <a:ln w="10160">
            <a:solidFill>
              <a:srgbClr val="DBE3ED"/>
            </a:solidFill>
            <a:prstDash val="solid"/>
          </a:ln>
        </p:spPr>
      </p:sp>
      <p:sp>
        <p:nvSpPr>
          <p:cNvPr id="10" name="Shape 8"/>
          <p:cNvSpPr/>
          <p:nvPr/>
        </p:nvSpPr>
        <p:spPr>
          <a:xfrm>
            <a:off x="685800" y="1600200"/>
            <a:ext cx="64008" cy="1133856"/>
          </a:xfrm>
          <a:prstGeom prst="rect">
            <a:avLst/>
          </a:prstGeom>
          <a:solidFill>
            <a:srgbClr val="2861A1"/>
          </a:solidFill>
          <a:ln w="12700">
            <a:solidFill>
              <a:srgbClr val="FFFFFF">
                <a:alpha val="0"/>
              </a:srgbClr>
            </a:solidFill>
            <a:prstDash val="solid"/>
          </a:ln>
        </p:spPr>
      </p:sp>
      <p:sp>
        <p:nvSpPr>
          <p:cNvPr id="11" name="Text 9"/>
          <p:cNvSpPr/>
          <p:nvPr/>
        </p:nvSpPr>
        <p:spPr>
          <a:xfrm>
            <a:off x="896112" y="1737360"/>
            <a:ext cx="10405872" cy="411480"/>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PREGUNTA GENERAL</a:t>
            </a:r>
            <a:endParaRPr lang="en-US" sz="1400" dirty="0"/>
          </a:p>
        </p:txBody>
      </p:sp>
      <p:sp>
        <p:nvSpPr>
          <p:cNvPr id="12" name="Text 10"/>
          <p:cNvSpPr/>
          <p:nvPr/>
        </p:nvSpPr>
        <p:spPr>
          <a:xfrm>
            <a:off x="896112" y="2258568"/>
            <a:ext cx="10396728" cy="338328"/>
          </a:xfrm>
          <a:prstGeom prst="rect">
            <a:avLst/>
          </a:prstGeom>
          <a:noFill/>
          <a:ln/>
        </p:spPr>
        <p:txBody>
          <a:bodyPr wrap="square" lIns="0" tIns="0" rIns="0" bIns="0" rtlCol="0" anchor="t">
            <a:normAutofit/>
          </a:bodyPr>
          <a:lstStyle/>
          <a:p>
            <a:pPr algn="l" indent="0" marL="0">
              <a:buNone/>
            </a:pPr>
            <a:r>
              <a:rPr lang="en-US" sz="1580" dirty="0">
                <a:solidFill>
                  <a:srgbClr val="64748B"/>
                </a:solidFill>
                <a:latin typeface="Aptos" pitchFamily="34" charset="0"/>
                <a:ea typeface="Aptos" pitchFamily="34" charset="-122"/>
                <a:cs typeface="Aptos" pitchFamily="34" charset="-120"/>
              </a:rPr>
              <a:t>¿En qué medida un sistema inteligente basado en analítica de datos temporales mejora el diagnóstico y pronóstico del desempeño operacional de un radioenlace rural altoandino?</a:t>
            </a:r>
            <a:endParaRPr lang="en-US" sz="1580" dirty="0"/>
          </a:p>
        </p:txBody>
      </p:sp>
      <p:sp>
        <p:nvSpPr>
          <p:cNvPr id="13" name="Shape 11"/>
          <p:cNvSpPr/>
          <p:nvPr/>
        </p:nvSpPr>
        <p:spPr>
          <a:xfrm>
            <a:off x="685800" y="2898648"/>
            <a:ext cx="10817352" cy="1133856"/>
          </a:xfrm>
          <a:prstGeom prst="roundRect">
            <a:avLst/>
          </a:prstGeom>
          <a:solidFill>
            <a:srgbClr val="FFFFFF"/>
          </a:solidFill>
          <a:ln w="10160">
            <a:solidFill>
              <a:srgbClr val="DBE3ED"/>
            </a:solidFill>
            <a:prstDash val="solid"/>
          </a:ln>
        </p:spPr>
      </p:sp>
      <p:sp>
        <p:nvSpPr>
          <p:cNvPr id="14" name="Shape 12"/>
          <p:cNvSpPr/>
          <p:nvPr/>
        </p:nvSpPr>
        <p:spPr>
          <a:xfrm>
            <a:off x="685800" y="2898648"/>
            <a:ext cx="64008" cy="1133856"/>
          </a:xfrm>
          <a:prstGeom prst="rect">
            <a:avLst/>
          </a:prstGeom>
          <a:solidFill>
            <a:srgbClr val="168B91"/>
          </a:solidFill>
          <a:ln w="12700">
            <a:solidFill>
              <a:srgbClr val="FFFFFF">
                <a:alpha val="0"/>
              </a:srgbClr>
            </a:solidFill>
            <a:prstDash val="solid"/>
          </a:ln>
        </p:spPr>
      </p:sp>
      <p:sp>
        <p:nvSpPr>
          <p:cNvPr id="15" name="Text 13"/>
          <p:cNvSpPr/>
          <p:nvPr/>
        </p:nvSpPr>
        <p:spPr>
          <a:xfrm>
            <a:off x="896112" y="3035808"/>
            <a:ext cx="10405872" cy="411480"/>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OBJETIVO GENERAL</a:t>
            </a:r>
            <a:endParaRPr lang="en-US" sz="1400" dirty="0"/>
          </a:p>
        </p:txBody>
      </p:sp>
      <p:sp>
        <p:nvSpPr>
          <p:cNvPr id="16" name="Text 14"/>
          <p:cNvSpPr/>
          <p:nvPr/>
        </p:nvSpPr>
        <p:spPr>
          <a:xfrm>
            <a:off x="896112" y="3557016"/>
            <a:ext cx="10396728" cy="338328"/>
          </a:xfrm>
          <a:prstGeom prst="rect">
            <a:avLst/>
          </a:prstGeom>
          <a:noFill/>
          <a:ln/>
        </p:spPr>
        <p:txBody>
          <a:bodyPr wrap="square" lIns="0" tIns="0" rIns="0" bIns="0" rtlCol="0" anchor="t">
            <a:normAutofit/>
          </a:bodyPr>
          <a:lstStyle/>
          <a:p>
            <a:pPr algn="l" indent="0" marL="0">
              <a:buNone/>
            </a:pPr>
            <a:r>
              <a:rPr lang="en-US" sz="1580" dirty="0">
                <a:solidFill>
                  <a:srgbClr val="64748B"/>
                </a:solidFill>
                <a:latin typeface="Aptos" pitchFamily="34" charset="0"/>
                <a:ea typeface="Aptos" pitchFamily="34" charset="-122"/>
                <a:cs typeface="Aptos" pitchFamily="34" charset="-120"/>
              </a:rPr>
              <a:t>Desarrollar un sistema inteligente basado en analítica de datos temporales para mejorar el diagnóstico y pronóstico del desempeño operacional de un radioenlace rural altoandino.</a:t>
            </a:r>
            <a:endParaRPr lang="en-US" sz="1580" dirty="0"/>
          </a:p>
        </p:txBody>
      </p:sp>
      <p:sp>
        <p:nvSpPr>
          <p:cNvPr id="17" name="Shape 15"/>
          <p:cNvSpPr/>
          <p:nvPr/>
        </p:nvSpPr>
        <p:spPr>
          <a:xfrm>
            <a:off x="685800" y="4197096"/>
            <a:ext cx="10817352" cy="1271016"/>
          </a:xfrm>
          <a:prstGeom prst="roundRect">
            <a:avLst/>
          </a:prstGeom>
          <a:solidFill>
            <a:srgbClr val="FFFFFF"/>
          </a:solidFill>
          <a:ln w="10160">
            <a:solidFill>
              <a:srgbClr val="DBE3ED"/>
            </a:solidFill>
            <a:prstDash val="solid"/>
          </a:ln>
        </p:spPr>
      </p:sp>
      <p:sp>
        <p:nvSpPr>
          <p:cNvPr id="18" name="Shape 16"/>
          <p:cNvSpPr/>
          <p:nvPr/>
        </p:nvSpPr>
        <p:spPr>
          <a:xfrm>
            <a:off x="685800" y="4197096"/>
            <a:ext cx="64008" cy="1271016"/>
          </a:xfrm>
          <a:prstGeom prst="rect">
            <a:avLst/>
          </a:prstGeom>
          <a:solidFill>
            <a:srgbClr val="E7B755"/>
          </a:solidFill>
          <a:ln w="12700">
            <a:solidFill>
              <a:srgbClr val="FFFFFF">
                <a:alpha val="0"/>
              </a:srgbClr>
            </a:solidFill>
            <a:prstDash val="solid"/>
          </a:ln>
        </p:spPr>
      </p:sp>
      <p:sp>
        <p:nvSpPr>
          <p:cNvPr id="19" name="Text 17"/>
          <p:cNvSpPr/>
          <p:nvPr/>
        </p:nvSpPr>
        <p:spPr>
          <a:xfrm>
            <a:off x="896112" y="4334256"/>
            <a:ext cx="10405872" cy="411480"/>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HIPÓTESIS GENERAL</a:t>
            </a:r>
            <a:endParaRPr lang="en-US" sz="1400" dirty="0"/>
          </a:p>
        </p:txBody>
      </p:sp>
      <p:sp>
        <p:nvSpPr>
          <p:cNvPr id="20" name="Text 18"/>
          <p:cNvSpPr/>
          <p:nvPr/>
        </p:nvSpPr>
        <p:spPr>
          <a:xfrm>
            <a:off x="896112" y="4855464"/>
            <a:ext cx="10396728" cy="475488"/>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El sistema mejora significativamente el diagnóstico y pronóstico frente a métodos convencionales y modelos de referencia. La contrastación final debe determinar en qué funciones se cumple.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ESTRUCTURA DE LA DEFENSA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Cuatro objetivos, cuatro preguntas y cuatro bloques de evidencia</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 exposición mantiene trazabilidad desde el planteamiento hasta conclusiones.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05</a:t>
            </a:r>
            <a:endParaRPr lang="en-US" sz="1040" dirty="0"/>
          </a:p>
        </p:txBody>
      </p:sp>
      <p:sp>
        <p:nvSpPr>
          <p:cNvPr id="9" name="Shape 7"/>
          <p:cNvSpPr/>
          <p:nvPr/>
        </p:nvSpPr>
        <p:spPr>
          <a:xfrm>
            <a:off x="685800" y="1673352"/>
            <a:ext cx="10789920" cy="914400"/>
          </a:xfrm>
          <a:prstGeom prst="roundRect">
            <a:avLst/>
          </a:prstGeom>
          <a:solidFill>
            <a:srgbClr val="FFFFFF"/>
          </a:solidFill>
          <a:ln w="10160">
            <a:solidFill>
              <a:srgbClr val="DBE3ED"/>
            </a:solidFill>
            <a:prstDash val="solid"/>
          </a:ln>
        </p:spPr>
      </p:sp>
      <p:sp>
        <p:nvSpPr>
          <p:cNvPr id="10" name="Shape 8"/>
          <p:cNvSpPr/>
          <p:nvPr/>
        </p:nvSpPr>
        <p:spPr>
          <a:xfrm>
            <a:off x="914400" y="1929384"/>
            <a:ext cx="658368" cy="265176"/>
          </a:xfrm>
          <a:prstGeom prst="roundRect">
            <a:avLst/>
          </a:prstGeom>
          <a:solidFill>
            <a:srgbClr val="168B91"/>
          </a:solidFill>
          <a:ln w="12700">
            <a:solidFill>
              <a:srgbClr val="FFFFFF">
                <a:alpha val="0"/>
              </a:srgbClr>
            </a:solidFill>
            <a:prstDash val="solid"/>
          </a:ln>
        </p:spPr>
      </p:sp>
      <p:sp>
        <p:nvSpPr>
          <p:cNvPr id="11" name="Text 9"/>
          <p:cNvSpPr/>
          <p:nvPr/>
        </p:nvSpPr>
        <p:spPr>
          <a:xfrm>
            <a:off x="996696" y="1929384"/>
            <a:ext cx="49377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OE1</a:t>
            </a:r>
            <a:endParaRPr lang="en-US" sz="940" dirty="0"/>
          </a:p>
        </p:txBody>
      </p:sp>
      <p:sp>
        <p:nvSpPr>
          <p:cNvPr id="12" name="Text 10"/>
          <p:cNvSpPr/>
          <p:nvPr/>
        </p:nvSpPr>
        <p:spPr>
          <a:xfrm>
            <a:off x="1847088" y="1865376"/>
            <a:ext cx="3017520" cy="338328"/>
          </a:xfrm>
          <a:prstGeom prst="rect">
            <a:avLst/>
          </a:prstGeom>
          <a:noFill/>
          <a:ln/>
        </p:spPr>
        <p:txBody>
          <a:bodyPr wrap="square" lIns="0" tIns="0" rIns="0" bIns="0" rtlCol="0" anchor="ctr">
            <a:normAutofit/>
          </a:bodyPr>
          <a:lstStyle/>
          <a:p>
            <a:pPr algn="l" indent="0" marL="0">
              <a:buNone/>
            </a:pPr>
            <a:r>
              <a:rPr lang="en-US" sz="1800" b="1" dirty="0">
                <a:solidFill>
                  <a:srgbClr val="111E37"/>
                </a:solidFill>
                <a:latin typeface="Aptos" pitchFamily="34" charset="0"/>
                <a:ea typeface="Aptos" pitchFamily="34" charset="-122"/>
                <a:cs typeface="Aptos" pitchFamily="34" charset="-120"/>
              </a:rPr>
              <a:t>Calidad y caracterización</a:t>
            </a:r>
            <a:endParaRPr lang="en-US" sz="1800" dirty="0"/>
          </a:p>
        </p:txBody>
      </p:sp>
      <p:sp>
        <p:nvSpPr>
          <p:cNvPr id="13" name="Text 11"/>
          <p:cNvSpPr/>
          <p:nvPr/>
        </p:nvSpPr>
        <p:spPr>
          <a:xfrm>
            <a:off x="4956048" y="1865376"/>
            <a:ext cx="6172200" cy="384048"/>
          </a:xfrm>
          <a:prstGeom prst="rect">
            <a:avLst/>
          </a:prstGeom>
          <a:noFill/>
          <a:ln/>
        </p:spPr>
        <p:txBody>
          <a:bodyPr wrap="square" lIns="0" tIns="0" rIns="0" bIns="0" rtlCol="0" anchor="ctr">
            <a:normAutofit/>
          </a:bodyPr>
          <a:lstStyle/>
          <a:p>
            <a:pPr algn="l" indent="0" marL="0">
              <a:buNone/>
            </a:pPr>
            <a:r>
              <a:rPr lang="en-US" sz="1520" dirty="0">
                <a:solidFill>
                  <a:srgbClr val="64748B"/>
                </a:solidFill>
                <a:latin typeface="Aptos" pitchFamily="34" charset="0"/>
                <a:ea typeface="Aptos" pitchFamily="34" charset="-122"/>
                <a:cs typeface="Aptos" pitchFamily="34" charset="-120"/>
              </a:rPr>
              <a:t>Cobertura · completitud · consistencia temporal</a:t>
            </a:r>
            <a:endParaRPr lang="en-US" sz="1520" dirty="0"/>
          </a:p>
        </p:txBody>
      </p:sp>
      <p:sp>
        <p:nvSpPr>
          <p:cNvPr id="14" name="Shape 12"/>
          <p:cNvSpPr/>
          <p:nvPr/>
        </p:nvSpPr>
        <p:spPr>
          <a:xfrm>
            <a:off x="685800" y="2752344"/>
            <a:ext cx="10789920" cy="914400"/>
          </a:xfrm>
          <a:prstGeom prst="roundRect">
            <a:avLst/>
          </a:prstGeom>
          <a:solidFill>
            <a:srgbClr val="FFFFFF"/>
          </a:solidFill>
          <a:ln w="10160">
            <a:solidFill>
              <a:srgbClr val="DBE3ED"/>
            </a:solidFill>
            <a:prstDash val="solid"/>
          </a:ln>
        </p:spPr>
      </p:sp>
      <p:sp>
        <p:nvSpPr>
          <p:cNvPr id="15" name="Shape 13"/>
          <p:cNvSpPr/>
          <p:nvPr/>
        </p:nvSpPr>
        <p:spPr>
          <a:xfrm>
            <a:off x="914400" y="3008376"/>
            <a:ext cx="658368" cy="265176"/>
          </a:xfrm>
          <a:prstGeom prst="roundRect">
            <a:avLst/>
          </a:prstGeom>
          <a:solidFill>
            <a:srgbClr val="1B3154"/>
          </a:solidFill>
          <a:ln w="12700">
            <a:solidFill>
              <a:srgbClr val="FFFFFF">
                <a:alpha val="0"/>
              </a:srgbClr>
            </a:solidFill>
            <a:prstDash val="solid"/>
          </a:ln>
        </p:spPr>
      </p:sp>
      <p:sp>
        <p:nvSpPr>
          <p:cNvPr id="16" name="Text 14"/>
          <p:cNvSpPr/>
          <p:nvPr/>
        </p:nvSpPr>
        <p:spPr>
          <a:xfrm>
            <a:off x="996696" y="3008376"/>
            <a:ext cx="49377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OE2</a:t>
            </a:r>
            <a:endParaRPr lang="en-US" sz="940" dirty="0"/>
          </a:p>
        </p:txBody>
      </p:sp>
      <p:sp>
        <p:nvSpPr>
          <p:cNvPr id="17" name="Text 15"/>
          <p:cNvSpPr/>
          <p:nvPr/>
        </p:nvSpPr>
        <p:spPr>
          <a:xfrm>
            <a:off x="1847088" y="2944368"/>
            <a:ext cx="3017520" cy="338328"/>
          </a:xfrm>
          <a:prstGeom prst="rect">
            <a:avLst/>
          </a:prstGeom>
          <a:noFill/>
          <a:ln/>
        </p:spPr>
        <p:txBody>
          <a:bodyPr wrap="square" lIns="0" tIns="0" rIns="0" bIns="0" rtlCol="0" anchor="ctr">
            <a:normAutofit/>
          </a:bodyPr>
          <a:lstStyle/>
          <a:p>
            <a:pPr algn="l" indent="0" marL="0">
              <a:buNone/>
            </a:pPr>
            <a:r>
              <a:rPr lang="en-US" sz="1800" b="1" dirty="0">
                <a:solidFill>
                  <a:srgbClr val="111E37"/>
                </a:solidFill>
                <a:latin typeface="Aptos" pitchFamily="34" charset="0"/>
                <a:ea typeface="Aptos" pitchFamily="34" charset="-122"/>
                <a:cs typeface="Aptos" pitchFamily="34" charset="-120"/>
              </a:rPr>
              <a:t>Diseño e integración</a:t>
            </a:r>
            <a:endParaRPr lang="en-US" sz="1800" dirty="0"/>
          </a:p>
        </p:txBody>
      </p:sp>
      <p:sp>
        <p:nvSpPr>
          <p:cNvPr id="18" name="Text 16"/>
          <p:cNvSpPr/>
          <p:nvPr/>
        </p:nvSpPr>
        <p:spPr>
          <a:xfrm>
            <a:off x="4956048" y="2944368"/>
            <a:ext cx="6172200" cy="384048"/>
          </a:xfrm>
          <a:prstGeom prst="rect">
            <a:avLst/>
          </a:prstGeom>
          <a:noFill/>
          <a:ln/>
        </p:spPr>
        <p:txBody>
          <a:bodyPr wrap="square" lIns="0" tIns="0" rIns="0" bIns="0" rtlCol="0" anchor="ctr">
            <a:normAutofit/>
          </a:bodyPr>
          <a:lstStyle/>
          <a:p>
            <a:pPr algn="l" indent="0" marL="0">
              <a:buNone/>
            </a:pPr>
            <a:r>
              <a:rPr lang="en-US" sz="1520" dirty="0">
                <a:solidFill>
                  <a:srgbClr val="64748B"/>
                </a:solidFill>
                <a:latin typeface="Aptos" pitchFamily="34" charset="0"/>
                <a:ea typeface="Aptos" pitchFamily="34" charset="-122"/>
                <a:cs typeface="Aptos" pitchFamily="34" charset="-120"/>
              </a:rPr>
              <a:t>Módulos · entradas/salidas · pruebas funcionales</a:t>
            </a:r>
            <a:endParaRPr lang="en-US" sz="1520" dirty="0"/>
          </a:p>
        </p:txBody>
      </p:sp>
      <p:sp>
        <p:nvSpPr>
          <p:cNvPr id="19" name="Shape 17"/>
          <p:cNvSpPr/>
          <p:nvPr/>
        </p:nvSpPr>
        <p:spPr>
          <a:xfrm>
            <a:off x="685800" y="3831336"/>
            <a:ext cx="10789920" cy="914400"/>
          </a:xfrm>
          <a:prstGeom prst="roundRect">
            <a:avLst/>
          </a:prstGeom>
          <a:solidFill>
            <a:srgbClr val="FFFFFF"/>
          </a:solidFill>
          <a:ln w="10160">
            <a:solidFill>
              <a:srgbClr val="DBE3ED"/>
            </a:solidFill>
            <a:prstDash val="solid"/>
          </a:ln>
        </p:spPr>
      </p:sp>
      <p:sp>
        <p:nvSpPr>
          <p:cNvPr id="20" name="Shape 18"/>
          <p:cNvSpPr/>
          <p:nvPr/>
        </p:nvSpPr>
        <p:spPr>
          <a:xfrm>
            <a:off x="914400" y="4087368"/>
            <a:ext cx="658368" cy="265176"/>
          </a:xfrm>
          <a:prstGeom prst="roundRect">
            <a:avLst/>
          </a:prstGeom>
          <a:solidFill>
            <a:srgbClr val="168B91"/>
          </a:solidFill>
          <a:ln w="12700">
            <a:solidFill>
              <a:srgbClr val="FFFFFF">
                <a:alpha val="0"/>
              </a:srgbClr>
            </a:solidFill>
            <a:prstDash val="solid"/>
          </a:ln>
        </p:spPr>
      </p:sp>
      <p:sp>
        <p:nvSpPr>
          <p:cNvPr id="21" name="Text 19"/>
          <p:cNvSpPr/>
          <p:nvPr/>
        </p:nvSpPr>
        <p:spPr>
          <a:xfrm>
            <a:off x="996696" y="4087368"/>
            <a:ext cx="49377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OE3</a:t>
            </a:r>
            <a:endParaRPr lang="en-US" sz="940" dirty="0"/>
          </a:p>
        </p:txBody>
      </p:sp>
      <p:sp>
        <p:nvSpPr>
          <p:cNvPr id="22" name="Text 20"/>
          <p:cNvSpPr/>
          <p:nvPr/>
        </p:nvSpPr>
        <p:spPr>
          <a:xfrm>
            <a:off x="1847088" y="4023360"/>
            <a:ext cx="3017520" cy="338328"/>
          </a:xfrm>
          <a:prstGeom prst="rect">
            <a:avLst/>
          </a:prstGeom>
          <a:noFill/>
          <a:ln/>
        </p:spPr>
        <p:txBody>
          <a:bodyPr wrap="square" lIns="0" tIns="0" rIns="0" bIns="0" rtlCol="0" anchor="ctr">
            <a:normAutofit/>
          </a:bodyPr>
          <a:lstStyle/>
          <a:p>
            <a:pPr algn="l" indent="0" marL="0">
              <a:buNone/>
            </a:pPr>
            <a:r>
              <a:rPr lang="en-US" sz="1800" b="1" dirty="0">
                <a:solidFill>
                  <a:srgbClr val="111E37"/>
                </a:solidFill>
                <a:latin typeface="Aptos" pitchFamily="34" charset="0"/>
                <a:ea typeface="Aptos" pitchFamily="34" charset="-122"/>
                <a:cs typeface="Aptos" pitchFamily="34" charset="-120"/>
              </a:rPr>
              <a:t>Diagnóstico y pronóstico</a:t>
            </a:r>
            <a:endParaRPr lang="en-US" sz="1800" dirty="0"/>
          </a:p>
        </p:txBody>
      </p:sp>
      <p:sp>
        <p:nvSpPr>
          <p:cNvPr id="23" name="Text 21"/>
          <p:cNvSpPr/>
          <p:nvPr/>
        </p:nvSpPr>
        <p:spPr>
          <a:xfrm>
            <a:off x="4956048" y="4023360"/>
            <a:ext cx="6172200" cy="384048"/>
          </a:xfrm>
          <a:prstGeom prst="rect">
            <a:avLst/>
          </a:prstGeom>
          <a:noFill/>
          <a:ln/>
        </p:spPr>
        <p:txBody>
          <a:bodyPr wrap="square" lIns="0" tIns="0" rIns="0" bIns="0" rtlCol="0" anchor="ctr">
            <a:normAutofit/>
          </a:bodyPr>
          <a:lstStyle/>
          <a:p>
            <a:pPr algn="l" indent="0" marL="0">
              <a:buNone/>
            </a:pPr>
            <a:r>
              <a:rPr lang="en-US" sz="1520" dirty="0">
                <a:solidFill>
                  <a:srgbClr val="64748B"/>
                </a:solidFill>
                <a:latin typeface="Aptos" pitchFamily="34" charset="0"/>
                <a:ea typeface="Aptos" pitchFamily="34" charset="-122"/>
                <a:cs typeface="Aptos" pitchFamily="34" charset="-120"/>
              </a:rPr>
              <a:t>F1/AUC · anomalías · MAE/RMSE · IC 95 %</a:t>
            </a:r>
            <a:endParaRPr lang="en-US" sz="1520" dirty="0"/>
          </a:p>
        </p:txBody>
      </p:sp>
      <p:sp>
        <p:nvSpPr>
          <p:cNvPr id="24" name="Shape 22"/>
          <p:cNvSpPr/>
          <p:nvPr/>
        </p:nvSpPr>
        <p:spPr>
          <a:xfrm>
            <a:off x="685800" y="4910328"/>
            <a:ext cx="10789920" cy="914400"/>
          </a:xfrm>
          <a:prstGeom prst="roundRect">
            <a:avLst/>
          </a:prstGeom>
          <a:solidFill>
            <a:srgbClr val="FFFFFF"/>
          </a:solidFill>
          <a:ln w="10160">
            <a:solidFill>
              <a:srgbClr val="DBE3ED"/>
            </a:solidFill>
            <a:prstDash val="solid"/>
          </a:ln>
        </p:spPr>
      </p:sp>
      <p:sp>
        <p:nvSpPr>
          <p:cNvPr id="25" name="Shape 23"/>
          <p:cNvSpPr/>
          <p:nvPr/>
        </p:nvSpPr>
        <p:spPr>
          <a:xfrm>
            <a:off x="914400" y="5166360"/>
            <a:ext cx="658368" cy="265176"/>
          </a:xfrm>
          <a:prstGeom prst="roundRect">
            <a:avLst/>
          </a:prstGeom>
          <a:solidFill>
            <a:srgbClr val="1B3154"/>
          </a:solidFill>
          <a:ln w="12700">
            <a:solidFill>
              <a:srgbClr val="FFFFFF">
                <a:alpha val="0"/>
              </a:srgbClr>
            </a:solidFill>
            <a:prstDash val="solid"/>
          </a:ln>
        </p:spPr>
      </p:sp>
      <p:sp>
        <p:nvSpPr>
          <p:cNvPr id="26" name="Text 24"/>
          <p:cNvSpPr/>
          <p:nvPr/>
        </p:nvSpPr>
        <p:spPr>
          <a:xfrm>
            <a:off x="996696" y="5166360"/>
            <a:ext cx="49377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OE4</a:t>
            </a:r>
            <a:endParaRPr lang="en-US" sz="940" dirty="0"/>
          </a:p>
        </p:txBody>
      </p:sp>
      <p:sp>
        <p:nvSpPr>
          <p:cNvPr id="27" name="Text 25"/>
          <p:cNvSpPr/>
          <p:nvPr/>
        </p:nvSpPr>
        <p:spPr>
          <a:xfrm>
            <a:off x="1847088" y="5102352"/>
            <a:ext cx="3017520" cy="338328"/>
          </a:xfrm>
          <a:prstGeom prst="rect">
            <a:avLst/>
          </a:prstGeom>
          <a:noFill/>
          <a:ln/>
        </p:spPr>
        <p:txBody>
          <a:bodyPr wrap="square" lIns="0" tIns="0" rIns="0" bIns="0" rtlCol="0" anchor="ctr">
            <a:normAutofit/>
          </a:bodyPr>
          <a:lstStyle/>
          <a:p>
            <a:pPr algn="l" indent="0" marL="0">
              <a:buNone/>
            </a:pPr>
            <a:r>
              <a:rPr lang="en-US" sz="1800" b="1" dirty="0">
                <a:solidFill>
                  <a:srgbClr val="111E37"/>
                </a:solidFill>
                <a:latin typeface="Aptos" pitchFamily="34" charset="0"/>
                <a:ea typeface="Aptos" pitchFamily="34" charset="-122"/>
                <a:cs typeface="Aptos" pitchFamily="34" charset="-120"/>
              </a:rPr>
              <a:t>Anticipación y explicabilidad</a:t>
            </a:r>
            <a:endParaRPr lang="en-US" sz="1800" dirty="0"/>
          </a:p>
        </p:txBody>
      </p:sp>
      <p:sp>
        <p:nvSpPr>
          <p:cNvPr id="28" name="Text 26"/>
          <p:cNvSpPr/>
          <p:nvPr/>
        </p:nvSpPr>
        <p:spPr>
          <a:xfrm>
            <a:off x="4956048" y="5102352"/>
            <a:ext cx="6172200" cy="384048"/>
          </a:xfrm>
          <a:prstGeom prst="rect">
            <a:avLst/>
          </a:prstGeom>
          <a:noFill/>
          <a:ln/>
        </p:spPr>
        <p:txBody>
          <a:bodyPr wrap="square" lIns="0" tIns="0" rIns="0" bIns="0" rtlCol="0" anchor="ctr">
            <a:normAutofit/>
          </a:bodyPr>
          <a:lstStyle/>
          <a:p>
            <a:pPr algn="l" indent="0" marL="0">
              <a:buNone/>
            </a:pPr>
            <a:r>
              <a:rPr lang="en-US" sz="1520" dirty="0">
                <a:solidFill>
                  <a:srgbClr val="64748B"/>
                </a:solidFill>
                <a:latin typeface="Aptos" pitchFamily="34" charset="0"/>
                <a:ea typeface="Aptos" pitchFamily="34" charset="-122"/>
                <a:cs typeface="Aptos" pitchFamily="34" charset="-120"/>
              </a:rPr>
              <a:t>Alertas a 15 min · indicadores influyentes</a:t>
            </a:r>
            <a:endParaRPr lang="en-US" sz="15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E37"/>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7B755"/>
          </a:solidFill>
          <a:ln w="12700">
            <a:solidFill>
              <a:srgbClr val="FFFFFF">
                <a:alpha val="0"/>
              </a:srgbClr>
            </a:solidFill>
            <a:prstDash val="solid"/>
          </a:ln>
        </p:spPr>
      </p:sp>
      <p:sp>
        <p:nvSpPr>
          <p:cNvPr id="3" name="Shape 1"/>
          <p:cNvSpPr/>
          <p:nvPr/>
        </p:nvSpPr>
        <p:spPr>
          <a:xfrm>
            <a:off x="7498080" y="0"/>
            <a:ext cx="4206240" cy="6858000"/>
          </a:xfrm>
          <a:prstGeom prst="line">
            <a:avLst/>
          </a:prstGeom>
          <a:noFill/>
          <a:ln w="6350">
            <a:solidFill>
              <a:srgbClr val="293C59"/>
            </a:solidFill>
            <a:prstDash val="solid"/>
          </a:ln>
        </p:spPr>
      </p:sp>
      <p:sp>
        <p:nvSpPr>
          <p:cNvPr id="4" name="Shape 2"/>
          <p:cNvSpPr/>
          <p:nvPr/>
        </p:nvSpPr>
        <p:spPr>
          <a:xfrm>
            <a:off x="7991856" y="0"/>
            <a:ext cx="3913632" cy="6858000"/>
          </a:xfrm>
          <a:prstGeom prst="line">
            <a:avLst/>
          </a:prstGeom>
          <a:noFill/>
          <a:ln w="6350">
            <a:solidFill>
              <a:srgbClr val="293C59"/>
            </a:solidFill>
            <a:prstDash val="solid"/>
          </a:ln>
        </p:spPr>
      </p:sp>
      <p:sp>
        <p:nvSpPr>
          <p:cNvPr id="5" name="Shape 3"/>
          <p:cNvSpPr/>
          <p:nvPr/>
        </p:nvSpPr>
        <p:spPr>
          <a:xfrm>
            <a:off x="8485632" y="0"/>
            <a:ext cx="3621024" cy="6858000"/>
          </a:xfrm>
          <a:prstGeom prst="line">
            <a:avLst/>
          </a:prstGeom>
          <a:noFill/>
          <a:ln w="6350">
            <a:solidFill>
              <a:srgbClr val="293C59"/>
            </a:solidFill>
            <a:prstDash val="solid"/>
          </a:ln>
        </p:spPr>
      </p:sp>
      <p:sp>
        <p:nvSpPr>
          <p:cNvPr id="6" name="Shape 4"/>
          <p:cNvSpPr/>
          <p:nvPr/>
        </p:nvSpPr>
        <p:spPr>
          <a:xfrm>
            <a:off x="8979408" y="0"/>
            <a:ext cx="3328416" cy="6858000"/>
          </a:xfrm>
          <a:prstGeom prst="line">
            <a:avLst/>
          </a:prstGeom>
          <a:noFill/>
          <a:ln w="6350">
            <a:solidFill>
              <a:srgbClr val="293C59"/>
            </a:solidFill>
            <a:prstDash val="solid"/>
          </a:ln>
        </p:spPr>
      </p:sp>
      <p:sp>
        <p:nvSpPr>
          <p:cNvPr id="7" name="Shape 5"/>
          <p:cNvSpPr/>
          <p:nvPr/>
        </p:nvSpPr>
        <p:spPr>
          <a:xfrm>
            <a:off x="9473184" y="0"/>
            <a:ext cx="3035808" cy="6858000"/>
          </a:xfrm>
          <a:prstGeom prst="line">
            <a:avLst/>
          </a:prstGeom>
          <a:noFill/>
          <a:ln w="6350">
            <a:solidFill>
              <a:srgbClr val="293C59"/>
            </a:solidFill>
            <a:prstDash val="solid"/>
          </a:ln>
        </p:spPr>
      </p:sp>
      <p:sp>
        <p:nvSpPr>
          <p:cNvPr id="8" name="Shape 6"/>
          <p:cNvSpPr/>
          <p:nvPr/>
        </p:nvSpPr>
        <p:spPr>
          <a:xfrm>
            <a:off x="9966960" y="0"/>
            <a:ext cx="2743200" cy="6858000"/>
          </a:xfrm>
          <a:prstGeom prst="line">
            <a:avLst/>
          </a:prstGeom>
          <a:noFill/>
          <a:ln w="6350">
            <a:solidFill>
              <a:srgbClr val="293C59"/>
            </a:solidFill>
            <a:prstDash val="solid"/>
          </a:ln>
        </p:spPr>
      </p:sp>
      <p:sp>
        <p:nvSpPr>
          <p:cNvPr id="9" name="Shape 7"/>
          <p:cNvSpPr/>
          <p:nvPr/>
        </p:nvSpPr>
        <p:spPr>
          <a:xfrm>
            <a:off x="10460736" y="0"/>
            <a:ext cx="2450592" cy="6858000"/>
          </a:xfrm>
          <a:prstGeom prst="line">
            <a:avLst/>
          </a:prstGeom>
          <a:noFill/>
          <a:ln w="6350">
            <a:solidFill>
              <a:srgbClr val="293C59"/>
            </a:solidFill>
            <a:prstDash val="solid"/>
          </a:ln>
        </p:spPr>
      </p:sp>
      <p:sp>
        <p:nvSpPr>
          <p:cNvPr id="10" name="Shape 8"/>
          <p:cNvSpPr/>
          <p:nvPr/>
        </p:nvSpPr>
        <p:spPr>
          <a:xfrm>
            <a:off x="603504" y="649224"/>
            <a:ext cx="1984248"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685800" y="649224"/>
            <a:ext cx="181965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EJE CENTRAL 01</a:t>
            </a:r>
            <a:endParaRPr lang="en-US" sz="940" dirty="0"/>
          </a:p>
        </p:txBody>
      </p:sp>
      <p:sp>
        <p:nvSpPr>
          <p:cNvPr id="12" name="Text 10"/>
          <p:cNvSpPr/>
          <p:nvPr/>
        </p:nvSpPr>
        <p:spPr>
          <a:xfrm>
            <a:off x="594360" y="1371600"/>
            <a:ext cx="10744200" cy="1325880"/>
          </a:xfrm>
          <a:prstGeom prst="rect">
            <a:avLst/>
          </a:prstGeom>
          <a:noFill/>
          <a:ln/>
        </p:spPr>
        <p:txBody>
          <a:bodyPr wrap="square" lIns="0" tIns="0" rIns="0" bIns="0" rtlCol="0" anchor="ctr">
            <a:normAutofit/>
          </a:bodyPr>
          <a:lstStyle/>
          <a:p>
            <a:pPr algn="l" indent="0" marL="0">
              <a:buNone/>
            </a:pPr>
            <a:r>
              <a:rPr lang="en-US" sz="3900" b="1" dirty="0">
                <a:solidFill>
                  <a:srgbClr val="FFFFFF"/>
                </a:solidFill>
                <a:latin typeface="Aptos Display" pitchFamily="34" charset="0"/>
                <a:ea typeface="Aptos Display" pitchFamily="34" charset="-122"/>
                <a:cs typeface="Aptos Display" pitchFamily="34" charset="-120"/>
              </a:rPr>
              <a:t>Metodología con trazabilidad</a:t>
            </a:r>
            <a:endParaRPr lang="en-US" sz="3900" dirty="0"/>
          </a:p>
        </p:txBody>
      </p:sp>
      <p:sp>
        <p:nvSpPr>
          <p:cNvPr id="13" name="Text 11"/>
          <p:cNvSpPr/>
          <p:nvPr/>
        </p:nvSpPr>
        <p:spPr>
          <a:xfrm>
            <a:off x="630936" y="2971800"/>
            <a:ext cx="9235440" cy="914400"/>
          </a:xfrm>
          <a:prstGeom prst="rect">
            <a:avLst/>
          </a:prstGeom>
          <a:noFill/>
          <a:ln/>
        </p:spPr>
        <p:txBody>
          <a:bodyPr wrap="square" lIns="0" tIns="0" rIns="0" bIns="0" rtlCol="0" anchor="ctr">
            <a:normAutofit/>
          </a:bodyPr>
          <a:lstStyle/>
          <a:p>
            <a:pPr algn="l" indent="0" marL="0">
              <a:buNone/>
            </a:pPr>
            <a:r>
              <a:rPr lang="en-US" sz="1900" dirty="0">
                <a:solidFill>
                  <a:srgbClr val="BDCDDF"/>
                </a:solidFill>
                <a:latin typeface="Aptos" pitchFamily="34" charset="0"/>
                <a:ea typeface="Aptos" pitchFamily="34" charset="-122"/>
                <a:cs typeface="Aptos" pitchFamily="34" charset="-120"/>
              </a:rPr>
              <a:t>No basta entrenar modelos: hay que demostrar cómo se obtuvieron, depuraron y evaluaron los datos.</a:t>
            </a:r>
            <a:endParaRPr lang="en-US" sz="1900" dirty="0"/>
          </a:p>
        </p:txBody>
      </p:sp>
      <p:sp>
        <p:nvSpPr>
          <p:cNvPr id="14" name="Shape 12"/>
          <p:cNvSpPr/>
          <p:nvPr/>
        </p:nvSpPr>
        <p:spPr>
          <a:xfrm>
            <a:off x="621792" y="6153912"/>
            <a:ext cx="10899648" cy="0"/>
          </a:xfrm>
          <a:prstGeom prst="line">
            <a:avLst/>
          </a:prstGeom>
          <a:noFill/>
          <a:ln w="8890">
            <a:solidFill>
              <a:srgbClr val="62708C"/>
            </a:solidFill>
            <a:prstDash val="solid"/>
          </a:ln>
        </p:spPr>
      </p:sp>
      <p:sp>
        <p:nvSpPr>
          <p:cNvPr id="15" name="Text 13"/>
          <p:cNvSpPr/>
          <p:nvPr/>
        </p:nvSpPr>
        <p:spPr>
          <a:xfrm>
            <a:off x="621792" y="6281928"/>
            <a:ext cx="10058400" cy="228600"/>
          </a:xfrm>
          <a:prstGeom prst="rect">
            <a:avLst/>
          </a:prstGeom>
          <a:noFill/>
          <a:ln/>
        </p:spPr>
        <p:txBody>
          <a:bodyPr wrap="square" lIns="0" tIns="0" rIns="0" bIns="0" rtlCol="0" anchor="ctr">
            <a:normAutofit/>
          </a:bodyPr>
          <a:lstStyle/>
          <a:p>
            <a:pPr algn="l" indent="0" marL="0">
              <a:buNone/>
            </a:pPr>
            <a:r>
              <a:rPr lang="en-US" sz="1010" b="1" spc="100" kern="0" dirty="0">
                <a:solidFill>
                  <a:srgbClr val="BDCDDF"/>
                </a:solidFill>
                <a:latin typeface="Aptos" pitchFamily="34" charset="0"/>
                <a:ea typeface="Aptos" pitchFamily="34" charset="-122"/>
                <a:cs typeface="Aptos" pitchFamily="34" charset="-120"/>
              </a:rPr>
              <a:t>UNIVERSIDAD NACIONAL DE CAJAMARCA · INGENIERÍA DE SISTEMAS</a:t>
            </a:r>
            <a:endParaRPr lang="en-US" sz="1010" dirty="0"/>
          </a:p>
        </p:txBody>
      </p:sp>
      <p:sp>
        <p:nvSpPr>
          <p:cNvPr id="16" name="Text 14"/>
          <p:cNvSpPr/>
          <p:nvPr/>
        </p:nvSpPr>
        <p:spPr>
          <a:xfrm>
            <a:off x="11201400" y="6254496"/>
            <a:ext cx="292608" cy="228600"/>
          </a:xfrm>
          <a:prstGeom prst="rect">
            <a:avLst/>
          </a:prstGeom>
          <a:noFill/>
          <a:ln/>
        </p:spPr>
        <p:txBody>
          <a:bodyPr wrap="square" lIns="0" tIns="0" rIns="0" bIns="0" rtlCol="0" anchor="ctr">
            <a:normAutofit/>
          </a:bodyPr>
          <a:lstStyle/>
          <a:p>
            <a:pPr algn="r" indent="0" marL="0">
              <a:buNone/>
            </a:pPr>
            <a:r>
              <a:rPr lang="en-US" sz="1000" b="1" dirty="0">
                <a:solidFill>
                  <a:srgbClr val="F4CE84"/>
                </a:solidFill>
                <a:latin typeface="Aptos" pitchFamily="34" charset="0"/>
                <a:ea typeface="Aptos" pitchFamily="34" charset="-122"/>
                <a:cs typeface="Apto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Clasificación metodológica de la investigación</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Diseño del estudio y procedimiento de evaluación computacional son conceptos distintos.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07</a:t>
            </a:r>
            <a:endParaRPr lang="en-US" sz="1040" dirty="0"/>
          </a:p>
        </p:txBody>
      </p:sp>
      <p:sp>
        <p:nvSpPr>
          <p:cNvPr id="9" name="Shape 7"/>
          <p:cNvSpPr/>
          <p:nvPr/>
        </p:nvSpPr>
        <p:spPr>
          <a:xfrm>
            <a:off x="722376" y="1645920"/>
            <a:ext cx="3566160" cy="1380744"/>
          </a:xfrm>
          <a:prstGeom prst="roundRect">
            <a:avLst/>
          </a:prstGeom>
          <a:solidFill>
            <a:srgbClr val="FFFFFF"/>
          </a:solidFill>
          <a:ln w="10160">
            <a:solidFill>
              <a:srgbClr val="DBE3ED"/>
            </a:solidFill>
            <a:prstDash val="solid"/>
          </a:ln>
        </p:spPr>
      </p:sp>
      <p:sp>
        <p:nvSpPr>
          <p:cNvPr id="10" name="Text 8"/>
          <p:cNvSpPr/>
          <p:nvPr/>
        </p:nvSpPr>
        <p:spPr>
          <a:xfrm>
            <a:off x="932688" y="18470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ENFOQUE</a:t>
            </a:r>
            <a:endParaRPr lang="en-US" sz="1100" dirty="0"/>
          </a:p>
        </p:txBody>
      </p:sp>
      <p:sp>
        <p:nvSpPr>
          <p:cNvPr id="11" name="Text 9"/>
          <p:cNvSpPr/>
          <p:nvPr/>
        </p:nvSpPr>
        <p:spPr>
          <a:xfrm>
            <a:off x="932688" y="21854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Cuantitativo</a:t>
            </a:r>
            <a:endParaRPr lang="en-US" sz="1900" dirty="0"/>
          </a:p>
        </p:txBody>
      </p:sp>
      <p:sp>
        <p:nvSpPr>
          <p:cNvPr id="12" name="Shape 10"/>
          <p:cNvSpPr/>
          <p:nvPr/>
        </p:nvSpPr>
        <p:spPr>
          <a:xfrm>
            <a:off x="4517136" y="1645920"/>
            <a:ext cx="3566160" cy="1380744"/>
          </a:xfrm>
          <a:prstGeom prst="roundRect">
            <a:avLst/>
          </a:prstGeom>
          <a:solidFill>
            <a:srgbClr val="FFFFFF"/>
          </a:solidFill>
          <a:ln w="10160">
            <a:solidFill>
              <a:srgbClr val="DBE3ED"/>
            </a:solidFill>
            <a:prstDash val="solid"/>
          </a:ln>
        </p:spPr>
      </p:sp>
      <p:sp>
        <p:nvSpPr>
          <p:cNvPr id="13" name="Text 11"/>
          <p:cNvSpPr/>
          <p:nvPr/>
        </p:nvSpPr>
        <p:spPr>
          <a:xfrm>
            <a:off x="4727448" y="18470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FINALIDAD</a:t>
            </a:r>
            <a:endParaRPr lang="en-US" sz="1100" dirty="0"/>
          </a:p>
        </p:txBody>
      </p:sp>
      <p:sp>
        <p:nvSpPr>
          <p:cNvPr id="14" name="Text 12"/>
          <p:cNvSpPr/>
          <p:nvPr/>
        </p:nvSpPr>
        <p:spPr>
          <a:xfrm>
            <a:off x="4727448" y="21854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Aplicada</a:t>
            </a:r>
            <a:endParaRPr lang="en-US" sz="1900" dirty="0"/>
          </a:p>
        </p:txBody>
      </p:sp>
      <p:sp>
        <p:nvSpPr>
          <p:cNvPr id="15" name="Shape 13"/>
          <p:cNvSpPr/>
          <p:nvPr/>
        </p:nvSpPr>
        <p:spPr>
          <a:xfrm>
            <a:off x="8311896" y="1645920"/>
            <a:ext cx="3566160" cy="1380744"/>
          </a:xfrm>
          <a:prstGeom prst="roundRect">
            <a:avLst/>
          </a:prstGeom>
          <a:solidFill>
            <a:srgbClr val="FFFFFF"/>
          </a:solidFill>
          <a:ln w="10160">
            <a:solidFill>
              <a:srgbClr val="DBE3ED"/>
            </a:solidFill>
            <a:prstDash val="solid"/>
          </a:ln>
        </p:spPr>
      </p:sp>
      <p:sp>
        <p:nvSpPr>
          <p:cNvPr id="16" name="Text 14"/>
          <p:cNvSpPr/>
          <p:nvPr/>
        </p:nvSpPr>
        <p:spPr>
          <a:xfrm>
            <a:off x="8522208" y="18470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NIVEL</a:t>
            </a:r>
            <a:endParaRPr lang="en-US" sz="1100" dirty="0"/>
          </a:p>
        </p:txBody>
      </p:sp>
      <p:sp>
        <p:nvSpPr>
          <p:cNvPr id="17" name="Text 15"/>
          <p:cNvSpPr/>
          <p:nvPr/>
        </p:nvSpPr>
        <p:spPr>
          <a:xfrm>
            <a:off x="8522208" y="21854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Predictivo</a:t>
            </a:r>
            <a:endParaRPr lang="en-US" sz="1900" dirty="0"/>
          </a:p>
        </p:txBody>
      </p:sp>
      <p:sp>
        <p:nvSpPr>
          <p:cNvPr id="18" name="Shape 16"/>
          <p:cNvSpPr/>
          <p:nvPr/>
        </p:nvSpPr>
        <p:spPr>
          <a:xfrm>
            <a:off x="722376" y="3246120"/>
            <a:ext cx="3566160" cy="1380744"/>
          </a:xfrm>
          <a:prstGeom prst="roundRect">
            <a:avLst/>
          </a:prstGeom>
          <a:solidFill>
            <a:srgbClr val="FFFFFF"/>
          </a:solidFill>
          <a:ln w="10160">
            <a:solidFill>
              <a:srgbClr val="DBE3ED"/>
            </a:solidFill>
            <a:prstDash val="solid"/>
          </a:ln>
        </p:spPr>
      </p:sp>
      <p:sp>
        <p:nvSpPr>
          <p:cNvPr id="19" name="Text 17"/>
          <p:cNvSpPr/>
          <p:nvPr/>
        </p:nvSpPr>
        <p:spPr>
          <a:xfrm>
            <a:off x="932688" y="34472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DISEÑO</a:t>
            </a:r>
            <a:endParaRPr lang="en-US" sz="1100" dirty="0"/>
          </a:p>
        </p:txBody>
      </p:sp>
      <p:sp>
        <p:nvSpPr>
          <p:cNvPr id="20" name="Text 18"/>
          <p:cNvSpPr/>
          <p:nvPr/>
        </p:nvSpPr>
        <p:spPr>
          <a:xfrm>
            <a:off x="932688" y="37856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No experimental, longitudinal</a:t>
            </a:r>
            <a:endParaRPr lang="en-US" sz="1900" dirty="0"/>
          </a:p>
        </p:txBody>
      </p:sp>
      <p:sp>
        <p:nvSpPr>
          <p:cNvPr id="21" name="Shape 19"/>
          <p:cNvSpPr/>
          <p:nvPr/>
        </p:nvSpPr>
        <p:spPr>
          <a:xfrm>
            <a:off x="4517136" y="3246120"/>
            <a:ext cx="3566160" cy="1380744"/>
          </a:xfrm>
          <a:prstGeom prst="roundRect">
            <a:avLst/>
          </a:prstGeom>
          <a:solidFill>
            <a:srgbClr val="FFFFFF"/>
          </a:solidFill>
          <a:ln w="10160">
            <a:solidFill>
              <a:srgbClr val="DBE3ED"/>
            </a:solidFill>
            <a:prstDash val="solid"/>
          </a:ln>
        </p:spPr>
      </p:sp>
      <p:sp>
        <p:nvSpPr>
          <p:cNvPr id="22" name="Text 20"/>
          <p:cNvSpPr/>
          <p:nvPr/>
        </p:nvSpPr>
        <p:spPr>
          <a:xfrm>
            <a:off x="4727448" y="34472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MÉTODO</a:t>
            </a:r>
            <a:endParaRPr lang="en-US" sz="1100" dirty="0"/>
          </a:p>
        </p:txBody>
      </p:sp>
      <p:sp>
        <p:nvSpPr>
          <p:cNvPr id="23" name="Text 21"/>
          <p:cNvSpPr/>
          <p:nvPr/>
        </p:nvSpPr>
        <p:spPr>
          <a:xfrm>
            <a:off x="4727448" y="37856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Hipotético-deductivo</a:t>
            </a:r>
            <a:endParaRPr lang="en-US" sz="1900" dirty="0"/>
          </a:p>
        </p:txBody>
      </p:sp>
      <p:sp>
        <p:nvSpPr>
          <p:cNvPr id="24" name="Shape 22"/>
          <p:cNvSpPr/>
          <p:nvPr/>
        </p:nvSpPr>
        <p:spPr>
          <a:xfrm>
            <a:off x="8311896" y="3246120"/>
            <a:ext cx="3566160" cy="1380744"/>
          </a:xfrm>
          <a:prstGeom prst="roundRect">
            <a:avLst/>
          </a:prstGeom>
          <a:solidFill>
            <a:srgbClr val="FFFFFF"/>
          </a:solidFill>
          <a:ln w="10160">
            <a:solidFill>
              <a:srgbClr val="DBE3ED"/>
            </a:solidFill>
            <a:prstDash val="solid"/>
          </a:ln>
        </p:spPr>
      </p:sp>
      <p:sp>
        <p:nvSpPr>
          <p:cNvPr id="25" name="Text 23"/>
          <p:cNvSpPr/>
          <p:nvPr/>
        </p:nvSpPr>
        <p:spPr>
          <a:xfrm>
            <a:off x="8522208" y="3447288"/>
            <a:ext cx="3172968"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68B91"/>
                </a:solidFill>
                <a:latin typeface="Aptos" pitchFamily="34" charset="0"/>
                <a:ea typeface="Aptos" pitchFamily="34" charset="-122"/>
                <a:cs typeface="Aptos" pitchFamily="34" charset="-120"/>
              </a:rPr>
              <a:t>CONSTRUCCIÓN</a:t>
            </a:r>
            <a:endParaRPr lang="en-US" sz="1100" dirty="0"/>
          </a:p>
        </p:txBody>
      </p:sp>
      <p:sp>
        <p:nvSpPr>
          <p:cNvPr id="26" name="Text 24"/>
          <p:cNvSpPr/>
          <p:nvPr/>
        </p:nvSpPr>
        <p:spPr>
          <a:xfrm>
            <a:off x="8522208" y="3785616"/>
            <a:ext cx="3163824" cy="594360"/>
          </a:xfrm>
          <a:prstGeom prst="rect">
            <a:avLst/>
          </a:prstGeom>
          <a:noFill/>
          <a:ln/>
        </p:spPr>
        <p:txBody>
          <a:bodyPr wrap="square" lIns="0" tIns="0" rIns="0" bIns="0" rtlCol="0" anchor="ctr">
            <a:normAutofit/>
          </a:bodyPr>
          <a:lstStyle/>
          <a:p>
            <a:pPr algn="l" indent="0" marL="0">
              <a:buNone/>
            </a:pPr>
            <a:r>
              <a:rPr lang="en-US" sz="1900" b="1" dirty="0">
                <a:solidFill>
                  <a:srgbClr val="111E37"/>
                </a:solidFill>
                <a:latin typeface="Aptos" pitchFamily="34" charset="0"/>
                <a:ea typeface="Aptos" pitchFamily="34" charset="-122"/>
                <a:cs typeface="Aptos" pitchFamily="34" charset="-120"/>
              </a:rPr>
              <a:t>Ciencia del diseño (design science)</a:t>
            </a:r>
            <a:endParaRPr lang="en-US" sz="1900" dirty="0"/>
          </a:p>
        </p:txBody>
      </p:sp>
      <p:sp>
        <p:nvSpPr>
          <p:cNvPr id="27" name="Shape 25"/>
          <p:cNvSpPr/>
          <p:nvPr/>
        </p:nvSpPr>
        <p:spPr>
          <a:xfrm>
            <a:off x="731520" y="5010912"/>
            <a:ext cx="10789920" cy="795528"/>
          </a:xfrm>
          <a:prstGeom prst="roundRect">
            <a:avLst/>
          </a:prstGeom>
          <a:solidFill>
            <a:srgbClr val="E8F4F3"/>
          </a:solidFill>
          <a:ln w="12700">
            <a:solidFill>
              <a:srgbClr val="FFFFFF">
                <a:alpha val="0"/>
              </a:srgbClr>
            </a:solidFill>
            <a:prstDash val="solid"/>
          </a:ln>
        </p:spPr>
      </p:sp>
      <p:sp>
        <p:nvSpPr>
          <p:cNvPr id="28" name="Shape 26"/>
          <p:cNvSpPr/>
          <p:nvPr/>
        </p:nvSpPr>
        <p:spPr>
          <a:xfrm>
            <a:off x="731520" y="5010912"/>
            <a:ext cx="73152" cy="795528"/>
          </a:xfrm>
          <a:prstGeom prst="rect">
            <a:avLst/>
          </a:prstGeom>
          <a:solidFill>
            <a:srgbClr val="168B91"/>
          </a:solidFill>
          <a:ln w="12700">
            <a:solidFill>
              <a:srgbClr val="FFFFFF">
                <a:alpha val="0"/>
              </a:srgbClr>
            </a:solidFill>
            <a:prstDash val="solid"/>
          </a:ln>
        </p:spPr>
      </p:sp>
      <p:sp>
        <p:nvSpPr>
          <p:cNvPr id="29" name="Text 27"/>
          <p:cNvSpPr/>
          <p:nvPr/>
        </p:nvSpPr>
        <p:spPr>
          <a:xfrm>
            <a:off x="923544" y="5102352"/>
            <a:ext cx="10424160" cy="630936"/>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Evaluación computacional comparativa: persistencia, Ridge e HistGradientBoosting sobre periodos cronológicos de prueba.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Escenario de estudio: radioenlace en operación</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Cuñacales–San José · Cajamarca · aproximadamente 12 km · 26 de enero a 31 de mayo de 2026.</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08</a:t>
            </a:r>
            <a:endParaRPr lang="en-US" sz="1040" dirty="0"/>
          </a:p>
        </p:txBody>
      </p:sp>
      <p:sp>
        <p:nvSpPr>
          <p:cNvPr id="9" name="Shape 7"/>
          <p:cNvSpPr/>
          <p:nvPr/>
        </p:nvSpPr>
        <p:spPr>
          <a:xfrm>
            <a:off x="694944" y="1536192"/>
            <a:ext cx="6638544" cy="4288536"/>
          </a:xfrm>
          <a:prstGeom prst="roundRect">
            <a:avLst/>
          </a:prstGeom>
          <a:solidFill>
            <a:srgbClr val="111E37"/>
          </a:solidFill>
          <a:ln w="12700">
            <a:solidFill>
              <a:srgbClr val="FFFFFF">
                <a:alpha val="0"/>
              </a:srgbClr>
            </a:solidFill>
            <a:prstDash val="solid"/>
          </a:ln>
        </p:spPr>
      </p:sp>
      <p:sp>
        <p:nvSpPr>
          <p:cNvPr id="10" name="Shape 8"/>
          <p:cNvSpPr/>
          <p:nvPr/>
        </p:nvSpPr>
        <p:spPr>
          <a:xfrm rot="10800000">
            <a:off x="914400" y="3749040"/>
            <a:ext cx="1874520" cy="1545336"/>
          </a:xfrm>
          <a:prstGeom prst="chevron">
            <a:avLst/>
          </a:prstGeom>
          <a:solidFill>
            <a:srgbClr val="334E65"/>
          </a:solidFill>
          <a:ln w="12700">
            <a:solidFill>
              <a:srgbClr val="334E65"/>
            </a:solidFill>
            <a:prstDash val="solid"/>
          </a:ln>
        </p:spPr>
      </p:sp>
      <p:sp>
        <p:nvSpPr>
          <p:cNvPr id="11" name="Shape 9"/>
          <p:cNvSpPr/>
          <p:nvPr/>
        </p:nvSpPr>
        <p:spPr>
          <a:xfrm rot="10800000">
            <a:off x="2862072" y="4288536"/>
            <a:ext cx="2103120" cy="1051560"/>
          </a:xfrm>
          <a:prstGeom prst="chevron">
            <a:avLst/>
          </a:prstGeom>
          <a:solidFill>
            <a:srgbClr val="3B5D70"/>
          </a:solidFill>
          <a:ln w="12700">
            <a:solidFill>
              <a:srgbClr val="3B5D70"/>
            </a:solidFill>
            <a:prstDash val="solid"/>
          </a:ln>
        </p:spPr>
      </p:sp>
      <p:sp>
        <p:nvSpPr>
          <p:cNvPr id="12" name="Shape 10"/>
          <p:cNvSpPr/>
          <p:nvPr/>
        </p:nvSpPr>
        <p:spPr>
          <a:xfrm rot="10800000">
            <a:off x="4828032" y="3520440"/>
            <a:ext cx="2258568" cy="1764792"/>
          </a:xfrm>
          <a:prstGeom prst="chevron">
            <a:avLst/>
          </a:prstGeom>
          <a:solidFill>
            <a:srgbClr val="344D68"/>
          </a:solidFill>
          <a:ln w="12700">
            <a:solidFill>
              <a:srgbClr val="344D68"/>
            </a:solidFill>
            <a:prstDash val="solid"/>
          </a:ln>
        </p:spPr>
      </p:sp>
      <p:sp>
        <p:nvSpPr>
          <p:cNvPr id="13" name="Shape 11"/>
          <p:cNvSpPr/>
          <p:nvPr/>
        </p:nvSpPr>
        <p:spPr>
          <a:xfrm>
            <a:off x="1490472" y="3136392"/>
            <a:ext cx="0" cy="960120"/>
          </a:xfrm>
          <a:prstGeom prst="line">
            <a:avLst/>
          </a:prstGeom>
          <a:noFill/>
          <a:ln w="25400">
            <a:solidFill>
              <a:srgbClr val="F4CE84"/>
            </a:solidFill>
            <a:prstDash val="solid"/>
          </a:ln>
        </p:spPr>
      </p:sp>
      <p:sp>
        <p:nvSpPr>
          <p:cNvPr id="14" name="Shape 12"/>
          <p:cNvSpPr/>
          <p:nvPr/>
        </p:nvSpPr>
        <p:spPr>
          <a:xfrm>
            <a:off x="1325880" y="4096512"/>
            <a:ext cx="329184" cy="0"/>
          </a:xfrm>
          <a:prstGeom prst="line">
            <a:avLst/>
          </a:prstGeom>
          <a:noFill/>
          <a:ln w="25400">
            <a:solidFill>
              <a:srgbClr val="F4CE84"/>
            </a:solidFill>
            <a:prstDash val="solid"/>
          </a:ln>
        </p:spPr>
      </p:sp>
      <p:sp>
        <p:nvSpPr>
          <p:cNvPr id="15" name="Shape 13"/>
          <p:cNvSpPr/>
          <p:nvPr/>
        </p:nvSpPr>
        <p:spPr>
          <a:xfrm>
            <a:off x="1490472" y="3136392"/>
            <a:ext cx="-128016" cy="530352"/>
          </a:xfrm>
          <a:prstGeom prst="line">
            <a:avLst/>
          </a:prstGeom>
          <a:noFill/>
          <a:ln w="13970">
            <a:solidFill>
              <a:srgbClr val="F4CE84"/>
            </a:solidFill>
            <a:prstDash val="solid"/>
          </a:ln>
        </p:spPr>
      </p:sp>
      <p:sp>
        <p:nvSpPr>
          <p:cNvPr id="16" name="Shape 14"/>
          <p:cNvSpPr/>
          <p:nvPr/>
        </p:nvSpPr>
        <p:spPr>
          <a:xfrm>
            <a:off x="1490472" y="3136392"/>
            <a:ext cx="128016" cy="530352"/>
          </a:xfrm>
          <a:prstGeom prst="line">
            <a:avLst/>
          </a:prstGeom>
          <a:noFill/>
          <a:ln w="13970">
            <a:solidFill>
              <a:srgbClr val="F4CE84"/>
            </a:solidFill>
            <a:prstDash val="solid"/>
          </a:ln>
        </p:spPr>
      </p:sp>
      <p:sp>
        <p:nvSpPr>
          <p:cNvPr id="17" name="Shape 15"/>
          <p:cNvSpPr/>
          <p:nvPr/>
        </p:nvSpPr>
        <p:spPr>
          <a:xfrm>
            <a:off x="1426464" y="3072384"/>
            <a:ext cx="128016" cy="128016"/>
          </a:xfrm>
          <a:prstGeom prst="ellipse">
            <a:avLst/>
          </a:prstGeom>
          <a:solidFill>
            <a:srgbClr val="F4CE84"/>
          </a:solidFill>
          <a:ln w="12700">
            <a:solidFill>
              <a:srgbClr val="FFFFFF">
                <a:alpha val="0"/>
              </a:srgbClr>
            </a:solidFill>
            <a:prstDash val="solid"/>
          </a:ln>
        </p:spPr>
      </p:sp>
      <p:sp>
        <p:nvSpPr>
          <p:cNvPr id="18" name="Shape 16"/>
          <p:cNvSpPr/>
          <p:nvPr/>
        </p:nvSpPr>
        <p:spPr>
          <a:xfrm>
            <a:off x="6108192" y="2907792"/>
            <a:ext cx="0" cy="960120"/>
          </a:xfrm>
          <a:prstGeom prst="line">
            <a:avLst/>
          </a:prstGeom>
          <a:noFill/>
          <a:ln w="25400">
            <a:solidFill>
              <a:srgbClr val="F4CE84"/>
            </a:solidFill>
            <a:prstDash val="solid"/>
          </a:ln>
        </p:spPr>
      </p:sp>
      <p:sp>
        <p:nvSpPr>
          <p:cNvPr id="19" name="Shape 17"/>
          <p:cNvSpPr/>
          <p:nvPr/>
        </p:nvSpPr>
        <p:spPr>
          <a:xfrm>
            <a:off x="5943600" y="3867912"/>
            <a:ext cx="329184" cy="0"/>
          </a:xfrm>
          <a:prstGeom prst="line">
            <a:avLst/>
          </a:prstGeom>
          <a:noFill/>
          <a:ln w="25400">
            <a:solidFill>
              <a:srgbClr val="F4CE84"/>
            </a:solidFill>
            <a:prstDash val="solid"/>
          </a:ln>
        </p:spPr>
      </p:sp>
      <p:sp>
        <p:nvSpPr>
          <p:cNvPr id="20" name="Shape 18"/>
          <p:cNvSpPr/>
          <p:nvPr/>
        </p:nvSpPr>
        <p:spPr>
          <a:xfrm>
            <a:off x="6108192" y="2907792"/>
            <a:ext cx="-128016" cy="530352"/>
          </a:xfrm>
          <a:prstGeom prst="line">
            <a:avLst/>
          </a:prstGeom>
          <a:noFill/>
          <a:ln w="13970">
            <a:solidFill>
              <a:srgbClr val="F4CE84"/>
            </a:solidFill>
            <a:prstDash val="solid"/>
          </a:ln>
        </p:spPr>
      </p:sp>
      <p:sp>
        <p:nvSpPr>
          <p:cNvPr id="21" name="Shape 19"/>
          <p:cNvSpPr/>
          <p:nvPr/>
        </p:nvSpPr>
        <p:spPr>
          <a:xfrm>
            <a:off x="6108192" y="2907792"/>
            <a:ext cx="128016" cy="530352"/>
          </a:xfrm>
          <a:prstGeom prst="line">
            <a:avLst/>
          </a:prstGeom>
          <a:noFill/>
          <a:ln w="13970">
            <a:solidFill>
              <a:srgbClr val="F4CE84"/>
            </a:solidFill>
            <a:prstDash val="solid"/>
          </a:ln>
        </p:spPr>
      </p:sp>
      <p:sp>
        <p:nvSpPr>
          <p:cNvPr id="22" name="Shape 20"/>
          <p:cNvSpPr/>
          <p:nvPr/>
        </p:nvSpPr>
        <p:spPr>
          <a:xfrm>
            <a:off x="6044184" y="2843784"/>
            <a:ext cx="128016" cy="128016"/>
          </a:xfrm>
          <a:prstGeom prst="ellipse">
            <a:avLst/>
          </a:prstGeom>
          <a:solidFill>
            <a:srgbClr val="F4CE84"/>
          </a:solidFill>
          <a:ln w="12700">
            <a:solidFill>
              <a:srgbClr val="FFFFFF">
                <a:alpha val="0"/>
              </a:srgbClr>
            </a:solidFill>
            <a:prstDash val="solid"/>
          </a:ln>
        </p:spPr>
      </p:sp>
      <p:sp>
        <p:nvSpPr>
          <p:cNvPr id="23" name="Shape 21"/>
          <p:cNvSpPr/>
          <p:nvPr/>
        </p:nvSpPr>
        <p:spPr>
          <a:xfrm>
            <a:off x="1508760" y="3136392"/>
            <a:ext cx="4617720" cy="-228600"/>
          </a:xfrm>
          <a:prstGeom prst="line">
            <a:avLst/>
          </a:prstGeom>
          <a:noFill/>
          <a:ln w="25400">
            <a:solidFill>
              <a:srgbClr val="D4F1F2"/>
            </a:solidFill>
            <a:prstDash val="dash"/>
          </a:ln>
        </p:spPr>
      </p:sp>
      <p:sp>
        <p:nvSpPr>
          <p:cNvPr id="24" name="Text 22"/>
          <p:cNvSpPr/>
          <p:nvPr/>
        </p:nvSpPr>
        <p:spPr>
          <a:xfrm>
            <a:off x="2395728" y="2221992"/>
            <a:ext cx="3017520" cy="292608"/>
          </a:xfrm>
          <a:prstGeom prst="rect">
            <a:avLst/>
          </a:prstGeom>
          <a:noFill/>
          <a:ln/>
        </p:spPr>
        <p:txBody>
          <a:bodyPr wrap="square" lIns="0" tIns="0" rIns="0" bIns="0" rtlCol="0" anchor="ctr">
            <a:normAutofit/>
          </a:bodyPr>
          <a:lstStyle/>
          <a:p>
            <a:pPr algn="ctr" indent="0" marL="0">
              <a:buNone/>
            </a:pPr>
            <a:r>
              <a:rPr lang="en-US" sz="1270" b="1" dirty="0">
                <a:solidFill>
                  <a:srgbClr val="F4CE84"/>
                </a:solidFill>
                <a:latin typeface="Aptos" pitchFamily="34" charset="0"/>
                <a:ea typeface="Aptos" pitchFamily="34" charset="-122"/>
                <a:cs typeface="Aptos" pitchFamily="34" charset="-120"/>
              </a:rPr>
              <a:t>ENLACE PUNTO A PUNTO</a:t>
            </a:r>
            <a:endParaRPr lang="en-US" sz="1270" dirty="0"/>
          </a:p>
        </p:txBody>
      </p:sp>
      <p:sp>
        <p:nvSpPr>
          <p:cNvPr id="25" name="Text 23"/>
          <p:cNvSpPr/>
          <p:nvPr/>
        </p:nvSpPr>
        <p:spPr>
          <a:xfrm>
            <a:off x="1097280" y="5285232"/>
            <a:ext cx="5650992" cy="182880"/>
          </a:xfrm>
          <a:prstGeom prst="rect">
            <a:avLst/>
          </a:prstGeom>
          <a:noFill/>
          <a:ln/>
        </p:spPr>
        <p:txBody>
          <a:bodyPr wrap="square" lIns="0" tIns="0" rIns="0" bIns="0" rtlCol="0" anchor="ctr">
            <a:normAutofit/>
          </a:bodyPr>
          <a:lstStyle/>
          <a:p>
            <a:pPr algn="l" indent="0" marL="0">
              <a:buNone/>
            </a:pPr>
            <a:r>
              <a:rPr lang="en-US" sz="960" b="1" dirty="0">
                <a:solidFill>
                  <a:srgbClr val="B7C8D7"/>
                </a:solidFill>
                <a:latin typeface="Aptos" pitchFamily="34" charset="0"/>
                <a:ea typeface="Aptos" pitchFamily="34" charset="-122"/>
                <a:cs typeface="Aptos" pitchFamily="34" charset="-120"/>
              </a:rPr>
              <a:t>Esquema conceptual, no perfil topográfico medido</a:t>
            </a:r>
            <a:endParaRPr lang="en-US" sz="960" dirty="0"/>
          </a:p>
        </p:txBody>
      </p:sp>
      <p:sp>
        <p:nvSpPr>
          <p:cNvPr id="26" name="Shape 24"/>
          <p:cNvSpPr/>
          <p:nvPr/>
        </p:nvSpPr>
        <p:spPr>
          <a:xfrm>
            <a:off x="7571232" y="1572768"/>
            <a:ext cx="3877056" cy="1115568"/>
          </a:xfrm>
          <a:prstGeom prst="roundRect">
            <a:avLst/>
          </a:prstGeom>
          <a:solidFill>
            <a:srgbClr val="FFFFFF"/>
          </a:solidFill>
          <a:ln w="10160">
            <a:solidFill>
              <a:srgbClr val="DBE3ED"/>
            </a:solidFill>
            <a:prstDash val="solid"/>
          </a:ln>
        </p:spPr>
      </p:sp>
      <p:sp>
        <p:nvSpPr>
          <p:cNvPr id="27" name="Shape 25"/>
          <p:cNvSpPr/>
          <p:nvPr/>
        </p:nvSpPr>
        <p:spPr>
          <a:xfrm>
            <a:off x="7571232" y="1572768"/>
            <a:ext cx="64008" cy="1115568"/>
          </a:xfrm>
          <a:prstGeom prst="rect">
            <a:avLst/>
          </a:prstGeom>
          <a:solidFill>
            <a:srgbClr val="168B91"/>
          </a:solidFill>
          <a:ln w="12700">
            <a:solidFill>
              <a:srgbClr val="FFFFFF">
                <a:alpha val="0"/>
              </a:srgbClr>
            </a:solidFill>
            <a:prstDash val="solid"/>
          </a:ln>
        </p:spPr>
      </p:sp>
      <p:sp>
        <p:nvSpPr>
          <p:cNvPr id="28" name="Text 26"/>
          <p:cNvSpPr/>
          <p:nvPr/>
        </p:nvSpPr>
        <p:spPr>
          <a:xfrm>
            <a:off x="7781544" y="1709928"/>
            <a:ext cx="3465576" cy="41148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UNIDAD DE OBSERVACIÓN</a:t>
            </a:r>
            <a:endParaRPr lang="en-US" sz="1300" dirty="0"/>
          </a:p>
        </p:txBody>
      </p:sp>
      <p:sp>
        <p:nvSpPr>
          <p:cNvPr id="29" name="Text 27"/>
          <p:cNvSpPr/>
          <p:nvPr/>
        </p:nvSpPr>
        <p:spPr>
          <a:xfrm>
            <a:off x="7781544" y="2231136"/>
            <a:ext cx="3456432" cy="320040"/>
          </a:xfrm>
          <a:prstGeom prst="rect">
            <a:avLst/>
          </a:prstGeom>
          <a:noFill/>
          <a:ln/>
        </p:spPr>
        <p:txBody>
          <a:bodyPr wrap="square" lIns="0" tIns="0" rIns="0" bIns="0" rtlCol="0" anchor="t">
            <a:normAutofit/>
          </a:bodyPr>
          <a:lstStyle/>
          <a:p>
            <a:pPr algn="l" indent="0" marL="0">
              <a:buNone/>
            </a:pPr>
            <a:r>
              <a:rPr lang="en-US" sz="1510" dirty="0">
                <a:solidFill>
                  <a:srgbClr val="64748B"/>
                </a:solidFill>
                <a:latin typeface="Aptos" pitchFamily="34" charset="0"/>
                <a:ea typeface="Aptos" pitchFamily="34" charset="-122"/>
                <a:cs typeface="Aptos" pitchFamily="34" charset="-120"/>
              </a:rPr>
              <a:t>Radioenlace Cuñacales–San José</a:t>
            </a:r>
            <a:endParaRPr lang="en-US" sz="1510" dirty="0"/>
          </a:p>
        </p:txBody>
      </p:sp>
      <p:sp>
        <p:nvSpPr>
          <p:cNvPr id="30" name="Shape 28"/>
          <p:cNvSpPr/>
          <p:nvPr/>
        </p:nvSpPr>
        <p:spPr>
          <a:xfrm>
            <a:off x="7571232" y="2816352"/>
            <a:ext cx="3877056" cy="1133856"/>
          </a:xfrm>
          <a:prstGeom prst="roundRect">
            <a:avLst/>
          </a:prstGeom>
          <a:solidFill>
            <a:srgbClr val="FFFFFF"/>
          </a:solidFill>
          <a:ln w="10160">
            <a:solidFill>
              <a:srgbClr val="DBE3ED"/>
            </a:solidFill>
            <a:prstDash val="solid"/>
          </a:ln>
        </p:spPr>
      </p:sp>
      <p:sp>
        <p:nvSpPr>
          <p:cNvPr id="31" name="Shape 29"/>
          <p:cNvSpPr/>
          <p:nvPr/>
        </p:nvSpPr>
        <p:spPr>
          <a:xfrm>
            <a:off x="7571232" y="2816352"/>
            <a:ext cx="64008" cy="1133856"/>
          </a:xfrm>
          <a:prstGeom prst="rect">
            <a:avLst/>
          </a:prstGeom>
          <a:solidFill>
            <a:srgbClr val="168B91"/>
          </a:solidFill>
          <a:ln w="12700">
            <a:solidFill>
              <a:srgbClr val="FFFFFF">
                <a:alpha val="0"/>
              </a:srgbClr>
            </a:solidFill>
            <a:prstDash val="solid"/>
          </a:ln>
        </p:spPr>
      </p:sp>
      <p:sp>
        <p:nvSpPr>
          <p:cNvPr id="32" name="Text 30"/>
          <p:cNvSpPr/>
          <p:nvPr/>
        </p:nvSpPr>
        <p:spPr>
          <a:xfrm>
            <a:off x="7781544" y="2953512"/>
            <a:ext cx="3465576" cy="41148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UNIDAD DE ANÁLISIS</a:t>
            </a:r>
            <a:endParaRPr lang="en-US" sz="1300" dirty="0"/>
          </a:p>
        </p:txBody>
      </p:sp>
      <p:sp>
        <p:nvSpPr>
          <p:cNvPr id="33" name="Text 31"/>
          <p:cNvSpPr/>
          <p:nvPr/>
        </p:nvSpPr>
        <p:spPr>
          <a:xfrm>
            <a:off x="7781544" y="3474720"/>
            <a:ext cx="3456432" cy="338328"/>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Registro temporal consolidado por minuto</a:t>
            </a:r>
            <a:endParaRPr lang="en-US" sz="1500" dirty="0"/>
          </a:p>
        </p:txBody>
      </p:sp>
      <p:sp>
        <p:nvSpPr>
          <p:cNvPr id="34" name="Shape 32"/>
          <p:cNvSpPr/>
          <p:nvPr/>
        </p:nvSpPr>
        <p:spPr>
          <a:xfrm>
            <a:off x="7571232" y="4078224"/>
            <a:ext cx="3877056" cy="1316736"/>
          </a:xfrm>
          <a:prstGeom prst="roundRect">
            <a:avLst/>
          </a:prstGeom>
          <a:solidFill>
            <a:srgbClr val="FFFFFF"/>
          </a:solidFill>
          <a:ln w="10160">
            <a:solidFill>
              <a:srgbClr val="DBE3ED"/>
            </a:solidFill>
            <a:prstDash val="solid"/>
          </a:ln>
        </p:spPr>
      </p:sp>
      <p:sp>
        <p:nvSpPr>
          <p:cNvPr id="35" name="Shape 33"/>
          <p:cNvSpPr/>
          <p:nvPr/>
        </p:nvSpPr>
        <p:spPr>
          <a:xfrm>
            <a:off x="7571232" y="4078224"/>
            <a:ext cx="64008" cy="1316736"/>
          </a:xfrm>
          <a:prstGeom prst="rect">
            <a:avLst/>
          </a:prstGeom>
          <a:solidFill>
            <a:srgbClr val="168B91"/>
          </a:solidFill>
          <a:ln w="12700">
            <a:solidFill>
              <a:srgbClr val="FFFFFF">
                <a:alpha val="0"/>
              </a:srgbClr>
            </a:solidFill>
            <a:prstDash val="solid"/>
          </a:ln>
        </p:spPr>
      </p:sp>
      <p:sp>
        <p:nvSpPr>
          <p:cNvPr id="36" name="Text 34"/>
          <p:cNvSpPr/>
          <p:nvPr/>
        </p:nvSpPr>
        <p:spPr>
          <a:xfrm>
            <a:off x="7781544" y="4215384"/>
            <a:ext cx="3465576" cy="41148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LÍMITE DE LA INFERENCIA</a:t>
            </a:r>
            <a:endParaRPr lang="en-US" sz="1300" dirty="0"/>
          </a:p>
        </p:txBody>
      </p:sp>
      <p:sp>
        <p:nvSpPr>
          <p:cNvPr id="37" name="Text 35"/>
          <p:cNvSpPr/>
          <p:nvPr/>
        </p:nvSpPr>
        <p:spPr>
          <a:xfrm>
            <a:off x="7781544" y="4736592"/>
            <a:ext cx="3456432" cy="521208"/>
          </a:xfrm>
          <a:prstGeom prst="rect">
            <a:avLst/>
          </a:prstGeom>
          <a:noFill/>
          <a:ln/>
        </p:spPr>
        <p:txBody>
          <a:bodyPr wrap="square" lIns="0" tIns="0" rIns="0" bIns="0" rtlCol="0" anchor="t">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Resultados del enlace y periodo observado; no extrapolación automática a otros enlaces.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Población accesible, muestra analítica y cobertura</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Separación entre archivos, lecturas AP, minutos observados y registros completos.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09</a:t>
            </a:r>
            <a:endParaRPr lang="en-US" sz="1040" dirty="0"/>
          </a:p>
        </p:txBody>
      </p:sp>
      <p:sp>
        <p:nvSpPr>
          <p:cNvPr id="9" name="Shape 7"/>
          <p:cNvSpPr/>
          <p:nvPr/>
        </p:nvSpPr>
        <p:spPr>
          <a:xfrm>
            <a:off x="676656" y="1801368"/>
            <a:ext cx="2011680" cy="1490472"/>
          </a:xfrm>
          <a:prstGeom prst="roundRect">
            <a:avLst/>
          </a:prstGeom>
          <a:solidFill>
            <a:srgbClr val="FFFFFF"/>
          </a:solidFill>
          <a:ln w="10160">
            <a:solidFill>
              <a:srgbClr val="DBE3ED"/>
            </a:solidFill>
            <a:prstDash val="solid"/>
          </a:ln>
        </p:spPr>
      </p:sp>
      <p:sp>
        <p:nvSpPr>
          <p:cNvPr id="10" name="Text 8"/>
          <p:cNvSpPr/>
          <p:nvPr/>
        </p:nvSpPr>
        <p:spPr>
          <a:xfrm>
            <a:off x="795528" y="2029968"/>
            <a:ext cx="1783080" cy="411480"/>
          </a:xfrm>
          <a:prstGeom prst="rect">
            <a:avLst/>
          </a:prstGeom>
          <a:noFill/>
          <a:ln/>
        </p:spPr>
        <p:txBody>
          <a:bodyPr wrap="square" lIns="0" tIns="0" rIns="0" bIns="0" rtlCol="0" anchor="ctr">
            <a:normAutofit/>
          </a:bodyPr>
          <a:lstStyle/>
          <a:p>
            <a:pPr algn="ctr" indent="0" marL="0">
              <a:buNone/>
            </a:pPr>
            <a:r>
              <a:rPr lang="en-US" sz="2300" b="1" dirty="0">
                <a:solidFill>
                  <a:srgbClr val="111E37"/>
                </a:solidFill>
                <a:latin typeface="Aptos" pitchFamily="34" charset="0"/>
                <a:ea typeface="Aptos" pitchFamily="34" charset="-122"/>
                <a:cs typeface="Aptos" pitchFamily="34" charset="-120"/>
              </a:rPr>
              <a:t>90</a:t>
            </a:r>
            <a:endParaRPr lang="en-US" sz="2300" dirty="0"/>
          </a:p>
        </p:txBody>
      </p:sp>
      <p:sp>
        <p:nvSpPr>
          <p:cNvPr id="11" name="Text 9"/>
          <p:cNvSpPr/>
          <p:nvPr/>
        </p:nvSpPr>
        <p:spPr>
          <a:xfrm>
            <a:off x="795528" y="2578608"/>
            <a:ext cx="1773936" cy="512064"/>
          </a:xfrm>
          <a:prstGeom prst="rect">
            <a:avLst/>
          </a:prstGeom>
          <a:noFill/>
          <a:ln/>
        </p:spPr>
        <p:txBody>
          <a:bodyPr wrap="square" lIns="0" tIns="0" rIns="0" bIns="0"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archivos diarios</a:t>
            </a:r>
            <a:endParaRPr lang="en-US" sz="1250" dirty="0"/>
          </a:p>
        </p:txBody>
      </p:sp>
      <p:sp>
        <p:nvSpPr>
          <p:cNvPr id="12" name="Shape 10"/>
          <p:cNvSpPr/>
          <p:nvPr/>
        </p:nvSpPr>
        <p:spPr>
          <a:xfrm>
            <a:off x="2724912" y="2523744"/>
            <a:ext cx="219456" cy="0"/>
          </a:xfrm>
          <a:prstGeom prst="line">
            <a:avLst/>
          </a:prstGeom>
          <a:noFill/>
          <a:ln w="22860">
            <a:solidFill>
              <a:srgbClr val="E7B755"/>
            </a:solidFill>
            <a:prstDash val="solid"/>
            <a:headEnd type="none"/>
            <a:tailEnd type="triangle"/>
          </a:ln>
        </p:spPr>
      </p:sp>
      <p:sp>
        <p:nvSpPr>
          <p:cNvPr id="13" name="Shape 11"/>
          <p:cNvSpPr/>
          <p:nvPr/>
        </p:nvSpPr>
        <p:spPr>
          <a:xfrm>
            <a:off x="2962656" y="1801368"/>
            <a:ext cx="2011680" cy="1490472"/>
          </a:xfrm>
          <a:prstGeom prst="roundRect">
            <a:avLst/>
          </a:prstGeom>
          <a:solidFill>
            <a:srgbClr val="FFFFFF"/>
          </a:solidFill>
          <a:ln w="10160">
            <a:solidFill>
              <a:srgbClr val="DBE3ED"/>
            </a:solidFill>
            <a:prstDash val="solid"/>
          </a:ln>
        </p:spPr>
      </p:sp>
      <p:sp>
        <p:nvSpPr>
          <p:cNvPr id="14" name="Text 12"/>
          <p:cNvSpPr/>
          <p:nvPr/>
        </p:nvSpPr>
        <p:spPr>
          <a:xfrm>
            <a:off x="3081528" y="2029968"/>
            <a:ext cx="1783080" cy="411480"/>
          </a:xfrm>
          <a:prstGeom prst="rect">
            <a:avLst/>
          </a:prstGeom>
          <a:noFill/>
          <a:ln/>
        </p:spPr>
        <p:txBody>
          <a:bodyPr wrap="square" lIns="0" tIns="0" rIns="0" bIns="0" rtlCol="0" anchor="ctr">
            <a:normAutofit/>
          </a:bodyPr>
          <a:lstStyle/>
          <a:p>
            <a:pPr algn="ctr" indent="0" marL="0">
              <a:buNone/>
            </a:pPr>
            <a:r>
              <a:rPr lang="en-US" sz="2300" b="1" dirty="0">
                <a:solidFill>
                  <a:srgbClr val="111E37"/>
                </a:solidFill>
                <a:latin typeface="Aptos" pitchFamily="34" charset="0"/>
                <a:ea typeface="Aptos" pitchFamily="34" charset="-122"/>
                <a:cs typeface="Aptos" pitchFamily="34" charset="-120"/>
              </a:rPr>
              <a:t>173 513</a:t>
            </a:r>
            <a:endParaRPr lang="en-US" sz="2300" dirty="0"/>
          </a:p>
        </p:txBody>
      </p:sp>
      <p:sp>
        <p:nvSpPr>
          <p:cNvPr id="15" name="Text 13"/>
          <p:cNvSpPr/>
          <p:nvPr/>
        </p:nvSpPr>
        <p:spPr>
          <a:xfrm>
            <a:off x="3081528" y="2578608"/>
            <a:ext cx="1773936" cy="512064"/>
          </a:xfrm>
          <a:prstGeom prst="rect">
            <a:avLst/>
          </a:prstGeom>
          <a:noFill/>
          <a:ln/>
        </p:spPr>
        <p:txBody>
          <a:bodyPr wrap="square" lIns="0" tIns="0" rIns="0" bIns="0"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registros AP</a:t>
            </a:r>
            <a:endParaRPr lang="en-US" sz="1250" dirty="0"/>
          </a:p>
          <a:p>
            <a:pPr algn="ctr" indent="0" marL="0">
              <a:buNone/>
            </a:pPr>
            <a:r>
              <a:rPr lang="en-US" sz="1250" dirty="0">
                <a:solidFill>
                  <a:srgbClr val="64748B"/>
                </a:solidFill>
                <a:latin typeface="Aptos" pitchFamily="34" charset="0"/>
                <a:ea typeface="Aptos" pitchFamily="34" charset="-122"/>
                <a:cs typeface="Aptos" pitchFamily="34" charset="-120"/>
              </a:rPr>
              <a:t>únicos</a:t>
            </a:r>
            <a:endParaRPr lang="en-US" sz="1250" dirty="0"/>
          </a:p>
        </p:txBody>
      </p:sp>
      <p:sp>
        <p:nvSpPr>
          <p:cNvPr id="16" name="Shape 14"/>
          <p:cNvSpPr/>
          <p:nvPr/>
        </p:nvSpPr>
        <p:spPr>
          <a:xfrm>
            <a:off x="5010912" y="2523744"/>
            <a:ext cx="219456" cy="0"/>
          </a:xfrm>
          <a:prstGeom prst="line">
            <a:avLst/>
          </a:prstGeom>
          <a:noFill/>
          <a:ln w="22860">
            <a:solidFill>
              <a:srgbClr val="E7B755"/>
            </a:solidFill>
            <a:prstDash val="solid"/>
            <a:headEnd type="none"/>
            <a:tailEnd type="triangle"/>
          </a:ln>
        </p:spPr>
      </p:sp>
      <p:sp>
        <p:nvSpPr>
          <p:cNvPr id="17" name="Shape 15"/>
          <p:cNvSpPr/>
          <p:nvPr/>
        </p:nvSpPr>
        <p:spPr>
          <a:xfrm>
            <a:off x="5248656" y="1801368"/>
            <a:ext cx="2011680" cy="1490472"/>
          </a:xfrm>
          <a:prstGeom prst="roundRect">
            <a:avLst/>
          </a:prstGeom>
          <a:solidFill>
            <a:srgbClr val="FFFFFF"/>
          </a:solidFill>
          <a:ln w="10160">
            <a:solidFill>
              <a:srgbClr val="DBE3ED"/>
            </a:solidFill>
            <a:prstDash val="solid"/>
          </a:ln>
        </p:spPr>
      </p:sp>
      <p:sp>
        <p:nvSpPr>
          <p:cNvPr id="18" name="Text 16"/>
          <p:cNvSpPr/>
          <p:nvPr/>
        </p:nvSpPr>
        <p:spPr>
          <a:xfrm>
            <a:off x="5367528" y="2029968"/>
            <a:ext cx="1783080" cy="411480"/>
          </a:xfrm>
          <a:prstGeom prst="rect">
            <a:avLst/>
          </a:prstGeom>
          <a:noFill/>
          <a:ln/>
        </p:spPr>
        <p:txBody>
          <a:bodyPr wrap="square" lIns="0" tIns="0" rIns="0" bIns="0" rtlCol="0" anchor="ctr">
            <a:normAutofit/>
          </a:bodyPr>
          <a:lstStyle/>
          <a:p>
            <a:pPr algn="ctr" indent="0" marL="0">
              <a:buNone/>
            </a:pPr>
            <a:r>
              <a:rPr lang="en-US" sz="2300" b="1" dirty="0">
                <a:solidFill>
                  <a:srgbClr val="111E37"/>
                </a:solidFill>
                <a:latin typeface="Aptos" pitchFamily="34" charset="0"/>
                <a:ea typeface="Aptos" pitchFamily="34" charset="-122"/>
                <a:cs typeface="Aptos" pitchFamily="34" charset="-120"/>
              </a:rPr>
              <a:t>180 025</a:t>
            </a:r>
            <a:endParaRPr lang="en-US" sz="2300" dirty="0"/>
          </a:p>
        </p:txBody>
      </p:sp>
      <p:sp>
        <p:nvSpPr>
          <p:cNvPr id="19" name="Text 17"/>
          <p:cNvSpPr/>
          <p:nvPr/>
        </p:nvSpPr>
        <p:spPr>
          <a:xfrm>
            <a:off x="5367528" y="2578608"/>
            <a:ext cx="1773936" cy="512064"/>
          </a:xfrm>
          <a:prstGeom prst="rect">
            <a:avLst/>
          </a:prstGeom>
          <a:noFill/>
          <a:ln/>
        </p:spPr>
        <p:txBody>
          <a:bodyPr wrap="square" lIns="0" tIns="0" rIns="0" bIns="0"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minutos de malla</a:t>
            </a:r>
            <a:endParaRPr lang="en-US" sz="1250" dirty="0"/>
          </a:p>
        </p:txBody>
      </p:sp>
      <p:sp>
        <p:nvSpPr>
          <p:cNvPr id="20" name="Shape 18"/>
          <p:cNvSpPr/>
          <p:nvPr/>
        </p:nvSpPr>
        <p:spPr>
          <a:xfrm>
            <a:off x="7296912" y="2523744"/>
            <a:ext cx="219456" cy="0"/>
          </a:xfrm>
          <a:prstGeom prst="line">
            <a:avLst/>
          </a:prstGeom>
          <a:noFill/>
          <a:ln w="22860">
            <a:solidFill>
              <a:srgbClr val="E7B755"/>
            </a:solidFill>
            <a:prstDash val="solid"/>
            <a:headEnd type="none"/>
            <a:tailEnd type="triangle"/>
          </a:ln>
        </p:spPr>
      </p:sp>
      <p:sp>
        <p:nvSpPr>
          <p:cNvPr id="21" name="Shape 19"/>
          <p:cNvSpPr/>
          <p:nvPr/>
        </p:nvSpPr>
        <p:spPr>
          <a:xfrm>
            <a:off x="7534656" y="1801368"/>
            <a:ext cx="2011680" cy="1490472"/>
          </a:xfrm>
          <a:prstGeom prst="roundRect">
            <a:avLst/>
          </a:prstGeom>
          <a:solidFill>
            <a:srgbClr val="FFFFFF"/>
          </a:solidFill>
          <a:ln w="10160">
            <a:solidFill>
              <a:srgbClr val="DBE3ED"/>
            </a:solidFill>
            <a:prstDash val="solid"/>
          </a:ln>
        </p:spPr>
      </p:sp>
      <p:sp>
        <p:nvSpPr>
          <p:cNvPr id="22" name="Text 20"/>
          <p:cNvSpPr/>
          <p:nvPr/>
        </p:nvSpPr>
        <p:spPr>
          <a:xfrm>
            <a:off x="7653528" y="2029968"/>
            <a:ext cx="1783080" cy="411480"/>
          </a:xfrm>
          <a:prstGeom prst="rect">
            <a:avLst/>
          </a:prstGeom>
          <a:noFill/>
          <a:ln/>
        </p:spPr>
        <p:txBody>
          <a:bodyPr wrap="square" lIns="0" tIns="0" rIns="0" bIns="0" rtlCol="0" anchor="ctr">
            <a:normAutofit/>
          </a:bodyPr>
          <a:lstStyle/>
          <a:p>
            <a:pPr algn="ctr" indent="0" marL="0">
              <a:buNone/>
            </a:pPr>
            <a:r>
              <a:rPr lang="en-US" sz="2300" b="1" dirty="0">
                <a:solidFill>
                  <a:srgbClr val="111E37"/>
                </a:solidFill>
                <a:latin typeface="Aptos" pitchFamily="34" charset="0"/>
                <a:ea typeface="Aptos" pitchFamily="34" charset="-122"/>
                <a:cs typeface="Aptos" pitchFamily="34" charset="-120"/>
              </a:rPr>
              <a:t>118 458</a:t>
            </a:r>
            <a:endParaRPr lang="en-US" sz="2300" dirty="0"/>
          </a:p>
        </p:txBody>
      </p:sp>
      <p:sp>
        <p:nvSpPr>
          <p:cNvPr id="23" name="Text 21"/>
          <p:cNvSpPr/>
          <p:nvPr/>
        </p:nvSpPr>
        <p:spPr>
          <a:xfrm>
            <a:off x="7653528" y="2578608"/>
            <a:ext cx="1773936" cy="512064"/>
          </a:xfrm>
          <a:prstGeom prst="rect">
            <a:avLst/>
          </a:prstGeom>
          <a:noFill/>
          <a:ln/>
        </p:spPr>
        <p:txBody>
          <a:bodyPr wrap="square" lIns="0" tIns="0" rIns="0" bIns="0"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minutos</a:t>
            </a:r>
            <a:endParaRPr lang="en-US" sz="1250" dirty="0"/>
          </a:p>
          <a:p>
            <a:pPr algn="ctr" indent="0" marL="0">
              <a:buNone/>
            </a:pPr>
            <a:r>
              <a:rPr lang="en-US" sz="1250" dirty="0">
                <a:solidFill>
                  <a:srgbClr val="64748B"/>
                </a:solidFill>
                <a:latin typeface="Aptos" pitchFamily="34" charset="0"/>
                <a:ea typeface="Aptos" pitchFamily="34" charset="-122"/>
                <a:cs typeface="Aptos" pitchFamily="34" charset="-120"/>
              </a:rPr>
              <a:t>observados</a:t>
            </a:r>
            <a:endParaRPr lang="en-US" sz="1250" dirty="0"/>
          </a:p>
        </p:txBody>
      </p:sp>
      <p:sp>
        <p:nvSpPr>
          <p:cNvPr id="24" name="Shape 22"/>
          <p:cNvSpPr/>
          <p:nvPr/>
        </p:nvSpPr>
        <p:spPr>
          <a:xfrm>
            <a:off x="9582912" y="2523744"/>
            <a:ext cx="219456" cy="0"/>
          </a:xfrm>
          <a:prstGeom prst="line">
            <a:avLst/>
          </a:prstGeom>
          <a:noFill/>
          <a:ln w="22860">
            <a:solidFill>
              <a:srgbClr val="E7B755"/>
            </a:solidFill>
            <a:prstDash val="solid"/>
            <a:headEnd type="none"/>
            <a:tailEnd type="triangle"/>
          </a:ln>
        </p:spPr>
      </p:sp>
      <p:sp>
        <p:nvSpPr>
          <p:cNvPr id="25" name="Shape 23"/>
          <p:cNvSpPr/>
          <p:nvPr/>
        </p:nvSpPr>
        <p:spPr>
          <a:xfrm>
            <a:off x="9820656" y="1801368"/>
            <a:ext cx="2011680" cy="1490472"/>
          </a:xfrm>
          <a:prstGeom prst="roundRect">
            <a:avLst/>
          </a:prstGeom>
          <a:solidFill>
            <a:srgbClr val="E8F4F3"/>
          </a:solidFill>
          <a:ln w="10160">
            <a:solidFill>
              <a:srgbClr val="DBE3ED"/>
            </a:solidFill>
            <a:prstDash val="solid"/>
          </a:ln>
        </p:spPr>
      </p:sp>
      <p:sp>
        <p:nvSpPr>
          <p:cNvPr id="26" name="Text 24"/>
          <p:cNvSpPr/>
          <p:nvPr/>
        </p:nvSpPr>
        <p:spPr>
          <a:xfrm>
            <a:off x="9939528" y="2029968"/>
            <a:ext cx="1783080" cy="411480"/>
          </a:xfrm>
          <a:prstGeom prst="rect">
            <a:avLst/>
          </a:prstGeom>
          <a:noFill/>
          <a:ln/>
        </p:spPr>
        <p:txBody>
          <a:bodyPr wrap="square" lIns="0" tIns="0" rIns="0" bIns="0" rtlCol="0" anchor="ctr">
            <a:normAutofit/>
          </a:bodyPr>
          <a:lstStyle/>
          <a:p>
            <a:pPr algn="ctr" indent="0" marL="0">
              <a:buNone/>
            </a:pPr>
            <a:r>
              <a:rPr lang="en-US" sz="2300" b="1" dirty="0">
                <a:solidFill>
                  <a:srgbClr val="168B91"/>
                </a:solidFill>
                <a:latin typeface="Aptos" pitchFamily="34" charset="0"/>
                <a:ea typeface="Aptos" pitchFamily="34" charset="-122"/>
                <a:cs typeface="Aptos" pitchFamily="34" charset="-120"/>
              </a:rPr>
              <a:t>117 911</a:t>
            </a:r>
            <a:endParaRPr lang="en-US" sz="2300" dirty="0"/>
          </a:p>
        </p:txBody>
      </p:sp>
      <p:sp>
        <p:nvSpPr>
          <p:cNvPr id="27" name="Text 25"/>
          <p:cNvSpPr/>
          <p:nvPr/>
        </p:nvSpPr>
        <p:spPr>
          <a:xfrm>
            <a:off x="9939528" y="2578608"/>
            <a:ext cx="1773936" cy="512064"/>
          </a:xfrm>
          <a:prstGeom prst="rect">
            <a:avLst/>
          </a:prstGeom>
          <a:noFill/>
          <a:ln/>
        </p:spPr>
        <p:txBody>
          <a:bodyPr wrap="square" lIns="0" tIns="0" rIns="0" bIns="0" rtlCol="0" anchor="ctr">
            <a:normAutofit/>
          </a:bodyPr>
          <a:lstStyle/>
          <a:p>
            <a:pPr algn="ctr" indent="0" marL="0">
              <a:buNone/>
            </a:pPr>
            <a:r>
              <a:rPr lang="en-US" sz="1250" dirty="0">
                <a:solidFill>
                  <a:srgbClr val="64748B"/>
                </a:solidFill>
                <a:latin typeface="Aptos" pitchFamily="34" charset="0"/>
                <a:ea typeface="Aptos" pitchFamily="34" charset="-122"/>
                <a:cs typeface="Aptos" pitchFamily="34" charset="-120"/>
              </a:rPr>
              <a:t>minutos completos</a:t>
            </a:r>
            <a:endParaRPr lang="en-US" sz="1250" dirty="0"/>
          </a:p>
        </p:txBody>
      </p:sp>
      <p:sp>
        <p:nvSpPr>
          <p:cNvPr id="28" name="Shape 26"/>
          <p:cNvSpPr/>
          <p:nvPr/>
        </p:nvSpPr>
        <p:spPr>
          <a:xfrm>
            <a:off x="704088" y="3840480"/>
            <a:ext cx="5239512" cy="1261872"/>
          </a:xfrm>
          <a:prstGeom prst="roundRect">
            <a:avLst/>
          </a:prstGeom>
          <a:solidFill>
            <a:srgbClr val="FFFFFF"/>
          </a:solidFill>
          <a:ln w="10160">
            <a:solidFill>
              <a:srgbClr val="DBE3ED"/>
            </a:solidFill>
            <a:prstDash val="solid"/>
          </a:ln>
        </p:spPr>
      </p:sp>
      <p:sp>
        <p:nvSpPr>
          <p:cNvPr id="29" name="Shape 27"/>
          <p:cNvSpPr/>
          <p:nvPr/>
        </p:nvSpPr>
        <p:spPr>
          <a:xfrm>
            <a:off x="704088" y="3840480"/>
            <a:ext cx="59436" cy="1261872"/>
          </a:xfrm>
          <a:prstGeom prst="rect">
            <a:avLst/>
          </a:prstGeom>
          <a:solidFill>
            <a:srgbClr val="2861A1"/>
          </a:solidFill>
          <a:ln w="12700">
            <a:solidFill>
              <a:srgbClr val="FFFFFF">
                <a:alpha val="0"/>
              </a:srgbClr>
            </a:solidFill>
            <a:prstDash val="solid"/>
          </a:ln>
        </p:spPr>
      </p:sp>
      <p:sp>
        <p:nvSpPr>
          <p:cNvPr id="30" name="Text 28"/>
          <p:cNvSpPr/>
          <p:nvPr/>
        </p:nvSpPr>
        <p:spPr>
          <a:xfrm>
            <a:off x="868680" y="3995928"/>
            <a:ext cx="4974336" cy="438912"/>
          </a:xfrm>
          <a:prstGeom prst="rect">
            <a:avLst/>
          </a:prstGeom>
          <a:noFill/>
          <a:ln/>
        </p:spPr>
        <p:txBody>
          <a:bodyPr wrap="square" lIns="0" tIns="0" rIns="0" bIns="0" rtlCol="0" anchor="ctr">
            <a:normAutofit/>
          </a:bodyPr>
          <a:lstStyle/>
          <a:p>
            <a:pPr algn="l" indent="0" marL="0">
              <a:buNone/>
            </a:pPr>
            <a:r>
              <a:rPr lang="en-US" sz="2800" b="1" dirty="0">
                <a:solidFill>
                  <a:srgbClr val="2861A1"/>
                </a:solidFill>
                <a:latin typeface="Aptos" pitchFamily="34" charset="0"/>
                <a:ea typeface="Aptos" pitchFamily="34" charset="-122"/>
                <a:cs typeface="Aptos" pitchFamily="34" charset="-120"/>
              </a:rPr>
              <a:t>65,80 %</a:t>
            </a:r>
            <a:endParaRPr lang="en-US" sz="2800" dirty="0"/>
          </a:p>
        </p:txBody>
      </p:sp>
      <p:sp>
        <p:nvSpPr>
          <p:cNvPr id="31" name="Text 29"/>
          <p:cNvSpPr/>
          <p:nvPr/>
        </p:nvSpPr>
        <p:spPr>
          <a:xfrm>
            <a:off x="868680" y="4544568"/>
            <a:ext cx="4965192"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Cobertura temporal de la malla</a:t>
            </a:r>
            <a:endParaRPr lang="en-US" sz="1280" dirty="0"/>
          </a:p>
        </p:txBody>
      </p:sp>
      <p:sp>
        <p:nvSpPr>
          <p:cNvPr id="32" name="Text 30"/>
          <p:cNvSpPr/>
          <p:nvPr/>
        </p:nvSpPr>
        <p:spPr>
          <a:xfrm>
            <a:off x="868680" y="4864608"/>
            <a:ext cx="4965192"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118 458 / 180 025</a:t>
            </a:r>
            <a:endParaRPr lang="en-US" sz="930" dirty="0"/>
          </a:p>
        </p:txBody>
      </p:sp>
      <p:sp>
        <p:nvSpPr>
          <p:cNvPr id="33" name="Shape 31"/>
          <p:cNvSpPr/>
          <p:nvPr/>
        </p:nvSpPr>
        <p:spPr>
          <a:xfrm>
            <a:off x="6071616" y="3840480"/>
            <a:ext cx="5239512" cy="1261872"/>
          </a:xfrm>
          <a:prstGeom prst="roundRect">
            <a:avLst/>
          </a:prstGeom>
          <a:solidFill>
            <a:srgbClr val="FFFFFF"/>
          </a:solidFill>
          <a:ln w="10160">
            <a:solidFill>
              <a:srgbClr val="DBE3ED"/>
            </a:solidFill>
            <a:prstDash val="solid"/>
          </a:ln>
        </p:spPr>
      </p:sp>
      <p:sp>
        <p:nvSpPr>
          <p:cNvPr id="34" name="Shape 32"/>
          <p:cNvSpPr/>
          <p:nvPr/>
        </p:nvSpPr>
        <p:spPr>
          <a:xfrm>
            <a:off x="6071616" y="3840480"/>
            <a:ext cx="59436" cy="1261872"/>
          </a:xfrm>
          <a:prstGeom prst="rect">
            <a:avLst/>
          </a:prstGeom>
          <a:solidFill>
            <a:srgbClr val="168B91"/>
          </a:solidFill>
          <a:ln w="12700">
            <a:solidFill>
              <a:srgbClr val="FFFFFF">
                <a:alpha val="0"/>
              </a:srgbClr>
            </a:solidFill>
            <a:prstDash val="solid"/>
          </a:ln>
        </p:spPr>
      </p:sp>
      <p:sp>
        <p:nvSpPr>
          <p:cNvPr id="35" name="Text 33"/>
          <p:cNvSpPr/>
          <p:nvPr/>
        </p:nvSpPr>
        <p:spPr>
          <a:xfrm>
            <a:off x="6236208" y="3995928"/>
            <a:ext cx="4974336" cy="438912"/>
          </a:xfrm>
          <a:prstGeom prst="rect">
            <a:avLst/>
          </a:prstGeom>
          <a:noFill/>
          <a:ln/>
        </p:spPr>
        <p:txBody>
          <a:bodyPr wrap="square" lIns="0" tIns="0" rIns="0" bIns="0" rtlCol="0" anchor="ctr">
            <a:normAutofit/>
          </a:bodyPr>
          <a:lstStyle/>
          <a:p>
            <a:pPr algn="l" indent="0" marL="0">
              <a:buNone/>
            </a:pPr>
            <a:r>
              <a:rPr lang="en-US" sz="2800" b="1" dirty="0">
                <a:solidFill>
                  <a:srgbClr val="168B91"/>
                </a:solidFill>
                <a:latin typeface="Aptos" pitchFamily="34" charset="0"/>
                <a:ea typeface="Aptos" pitchFamily="34" charset="-122"/>
                <a:cs typeface="Aptos" pitchFamily="34" charset="-120"/>
              </a:rPr>
              <a:t>99,54 %</a:t>
            </a:r>
            <a:endParaRPr lang="en-US" sz="2800" dirty="0"/>
          </a:p>
        </p:txBody>
      </p:sp>
      <p:sp>
        <p:nvSpPr>
          <p:cNvPr id="36" name="Text 34"/>
          <p:cNvSpPr/>
          <p:nvPr/>
        </p:nvSpPr>
        <p:spPr>
          <a:xfrm>
            <a:off x="6236208" y="4544568"/>
            <a:ext cx="4965192"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Completitud multivariable entre minutos observados</a:t>
            </a:r>
            <a:endParaRPr lang="en-US" sz="1280" dirty="0"/>
          </a:p>
        </p:txBody>
      </p:sp>
      <p:sp>
        <p:nvSpPr>
          <p:cNvPr id="37" name="Text 35"/>
          <p:cNvSpPr/>
          <p:nvPr/>
        </p:nvSpPr>
        <p:spPr>
          <a:xfrm>
            <a:off x="6236208" y="4864608"/>
            <a:ext cx="4965192"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117 911 / 118 458</a:t>
            </a:r>
            <a:endParaRPr lang="en-US" sz="930" dirty="0"/>
          </a:p>
        </p:txBody>
      </p:sp>
      <p:sp>
        <p:nvSpPr>
          <p:cNvPr id="38" name="Shape 36"/>
          <p:cNvSpPr/>
          <p:nvPr/>
        </p:nvSpPr>
        <p:spPr>
          <a:xfrm>
            <a:off x="722376" y="5532120"/>
            <a:ext cx="10671048" cy="594360"/>
          </a:xfrm>
          <a:prstGeom prst="roundRect">
            <a:avLst/>
          </a:prstGeom>
          <a:solidFill>
            <a:srgbClr val="FFF2EC"/>
          </a:solidFill>
          <a:ln w="12700">
            <a:solidFill>
              <a:srgbClr val="FFFFFF">
                <a:alpha val="0"/>
              </a:srgbClr>
            </a:solidFill>
            <a:prstDash val="solid"/>
          </a:ln>
        </p:spPr>
      </p:sp>
      <p:sp>
        <p:nvSpPr>
          <p:cNvPr id="39" name="Shape 37"/>
          <p:cNvSpPr/>
          <p:nvPr/>
        </p:nvSpPr>
        <p:spPr>
          <a:xfrm>
            <a:off x="722376" y="5532120"/>
            <a:ext cx="73152" cy="594360"/>
          </a:xfrm>
          <a:prstGeom prst="rect">
            <a:avLst/>
          </a:prstGeom>
          <a:solidFill>
            <a:srgbClr val="CB6D60"/>
          </a:solidFill>
          <a:ln w="12700">
            <a:solidFill>
              <a:srgbClr val="FFFFFF">
                <a:alpha val="0"/>
              </a:srgbClr>
            </a:solidFill>
            <a:prstDash val="solid"/>
          </a:ln>
        </p:spPr>
      </p:sp>
      <p:sp>
        <p:nvSpPr>
          <p:cNvPr id="40" name="Text 38"/>
          <p:cNvSpPr/>
          <p:nvPr/>
        </p:nvSpPr>
        <p:spPr>
          <a:xfrm>
            <a:off x="914400" y="5623560"/>
            <a:ext cx="10305288" cy="429768"/>
          </a:xfrm>
          <a:prstGeom prst="rect">
            <a:avLst/>
          </a:prstGeom>
          <a:noFill/>
          <a:ln/>
        </p:spPr>
        <p:txBody>
          <a:bodyPr wrap="square" lIns="0" tIns="0" rIns="0" bIns="0" rtlCol="0" anchor="ctr">
            <a:normAutofit/>
          </a:bodyPr>
          <a:lstStyle/>
          <a:p>
            <a:pPr algn="l" indent="0" marL="0">
              <a:buNone/>
            </a:pPr>
            <a:r>
              <a:rPr lang="en-US" sz="1340" b="1" dirty="0">
                <a:solidFill>
                  <a:srgbClr val="111E37"/>
                </a:solidFill>
                <a:latin typeface="Aptos" pitchFamily="34" charset="0"/>
                <a:ea typeface="Aptos" pitchFamily="34" charset="-122"/>
                <a:cs typeface="Aptos" pitchFamily="34" charset="-120"/>
              </a:rPr>
              <a:t>La completitud de 99,54 % NO significa que se haya capturado el 99,54 % del calendario.</a:t>
            </a:r>
            <a:endParaRPr lang="en-US" sz="13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Flujo reproducible del sistema inteligente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Preparación rigurosa → representación temporal → modelos → contraste → interpretación.</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10</a:t>
            </a:r>
            <a:endParaRPr lang="en-US" sz="1040" dirty="0"/>
          </a:p>
        </p:txBody>
      </p:sp>
      <p:sp>
        <p:nvSpPr>
          <p:cNvPr id="9" name="Shape 7"/>
          <p:cNvSpPr/>
          <p:nvPr/>
        </p:nvSpPr>
        <p:spPr>
          <a:xfrm>
            <a:off x="704088" y="1636776"/>
            <a:ext cx="3456432" cy="1517904"/>
          </a:xfrm>
          <a:prstGeom prst="roundRect">
            <a:avLst/>
          </a:prstGeom>
          <a:solidFill>
            <a:srgbClr val="FFFFFF"/>
          </a:solidFill>
          <a:ln w="10160">
            <a:solidFill>
              <a:srgbClr val="DBE3ED"/>
            </a:solidFill>
            <a:prstDash val="solid"/>
          </a:ln>
        </p:spPr>
      </p:sp>
      <p:sp>
        <p:nvSpPr>
          <p:cNvPr id="10" name="Shape 8"/>
          <p:cNvSpPr/>
          <p:nvPr/>
        </p:nvSpPr>
        <p:spPr>
          <a:xfrm>
            <a:off x="886968" y="1819656"/>
            <a:ext cx="438912"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969264" y="1819656"/>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01</a:t>
            </a:r>
            <a:endParaRPr lang="en-US" sz="940" dirty="0"/>
          </a:p>
        </p:txBody>
      </p:sp>
      <p:sp>
        <p:nvSpPr>
          <p:cNvPr id="12" name="Text 10"/>
          <p:cNvSpPr/>
          <p:nvPr/>
        </p:nvSpPr>
        <p:spPr>
          <a:xfrm>
            <a:off x="1453896" y="1828800"/>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Integración</a:t>
            </a:r>
            <a:endParaRPr lang="en-US" sz="1720" dirty="0"/>
          </a:p>
        </p:txBody>
      </p:sp>
      <p:sp>
        <p:nvSpPr>
          <p:cNvPr id="13" name="Text 11"/>
          <p:cNvSpPr/>
          <p:nvPr/>
        </p:nvSpPr>
        <p:spPr>
          <a:xfrm>
            <a:off x="905256" y="2395728"/>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Archivos, marcas temporales</a:t>
            </a:r>
            <a:endParaRPr lang="en-US" sz="1400" dirty="0"/>
          </a:p>
        </p:txBody>
      </p:sp>
      <p:sp>
        <p:nvSpPr>
          <p:cNvPr id="14" name="Shape 12"/>
          <p:cNvSpPr/>
          <p:nvPr/>
        </p:nvSpPr>
        <p:spPr>
          <a:xfrm>
            <a:off x="4197096" y="2450592"/>
            <a:ext cx="256032" cy="0"/>
          </a:xfrm>
          <a:prstGeom prst="line">
            <a:avLst/>
          </a:prstGeom>
          <a:noFill/>
          <a:ln w="19050">
            <a:solidFill>
              <a:srgbClr val="E7B755"/>
            </a:solidFill>
            <a:prstDash val="solid"/>
            <a:headEnd type="none"/>
            <a:tailEnd type="triangle"/>
          </a:ln>
        </p:spPr>
      </p:sp>
      <p:sp>
        <p:nvSpPr>
          <p:cNvPr id="15" name="Shape 13"/>
          <p:cNvSpPr/>
          <p:nvPr/>
        </p:nvSpPr>
        <p:spPr>
          <a:xfrm>
            <a:off x="4517136" y="1636776"/>
            <a:ext cx="3456432" cy="1517904"/>
          </a:xfrm>
          <a:prstGeom prst="roundRect">
            <a:avLst/>
          </a:prstGeom>
          <a:solidFill>
            <a:srgbClr val="FFFFFF"/>
          </a:solidFill>
          <a:ln w="10160">
            <a:solidFill>
              <a:srgbClr val="DBE3ED"/>
            </a:solidFill>
            <a:prstDash val="solid"/>
          </a:ln>
        </p:spPr>
      </p:sp>
      <p:sp>
        <p:nvSpPr>
          <p:cNvPr id="16" name="Shape 14"/>
          <p:cNvSpPr/>
          <p:nvPr/>
        </p:nvSpPr>
        <p:spPr>
          <a:xfrm>
            <a:off x="4700016" y="1819656"/>
            <a:ext cx="438912" cy="265176"/>
          </a:xfrm>
          <a:prstGeom prst="roundRect">
            <a:avLst/>
          </a:prstGeom>
          <a:solidFill>
            <a:srgbClr val="1B3154"/>
          </a:solidFill>
          <a:ln w="12700">
            <a:solidFill>
              <a:srgbClr val="FFFFFF">
                <a:alpha val="0"/>
              </a:srgbClr>
            </a:solidFill>
            <a:prstDash val="solid"/>
          </a:ln>
        </p:spPr>
      </p:sp>
      <p:sp>
        <p:nvSpPr>
          <p:cNvPr id="17" name="Text 15"/>
          <p:cNvSpPr/>
          <p:nvPr/>
        </p:nvSpPr>
        <p:spPr>
          <a:xfrm>
            <a:off x="4782312" y="1819656"/>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02</a:t>
            </a:r>
            <a:endParaRPr lang="en-US" sz="940" dirty="0"/>
          </a:p>
        </p:txBody>
      </p:sp>
      <p:sp>
        <p:nvSpPr>
          <p:cNvPr id="18" name="Text 16"/>
          <p:cNvSpPr/>
          <p:nvPr/>
        </p:nvSpPr>
        <p:spPr>
          <a:xfrm>
            <a:off x="5266944" y="1828800"/>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Depuración</a:t>
            </a:r>
            <a:endParaRPr lang="en-US" sz="1720" dirty="0"/>
          </a:p>
        </p:txBody>
      </p:sp>
      <p:sp>
        <p:nvSpPr>
          <p:cNvPr id="19" name="Text 17"/>
          <p:cNvSpPr/>
          <p:nvPr/>
        </p:nvSpPr>
        <p:spPr>
          <a:xfrm>
            <a:off x="4718304" y="2395728"/>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Duplicados y centinelas</a:t>
            </a:r>
            <a:endParaRPr lang="en-US" sz="1400" dirty="0"/>
          </a:p>
        </p:txBody>
      </p:sp>
      <p:sp>
        <p:nvSpPr>
          <p:cNvPr id="20" name="Shape 18"/>
          <p:cNvSpPr/>
          <p:nvPr/>
        </p:nvSpPr>
        <p:spPr>
          <a:xfrm>
            <a:off x="8010144" y="2450592"/>
            <a:ext cx="256032" cy="0"/>
          </a:xfrm>
          <a:prstGeom prst="line">
            <a:avLst/>
          </a:prstGeom>
          <a:noFill/>
          <a:ln w="19050">
            <a:solidFill>
              <a:srgbClr val="E7B755"/>
            </a:solidFill>
            <a:prstDash val="solid"/>
            <a:headEnd type="none"/>
            <a:tailEnd type="triangle"/>
          </a:ln>
        </p:spPr>
      </p:sp>
      <p:sp>
        <p:nvSpPr>
          <p:cNvPr id="21" name="Shape 19"/>
          <p:cNvSpPr/>
          <p:nvPr/>
        </p:nvSpPr>
        <p:spPr>
          <a:xfrm>
            <a:off x="8330184" y="1636776"/>
            <a:ext cx="3456432" cy="1517904"/>
          </a:xfrm>
          <a:prstGeom prst="roundRect">
            <a:avLst/>
          </a:prstGeom>
          <a:solidFill>
            <a:srgbClr val="FFFFFF"/>
          </a:solidFill>
          <a:ln w="10160">
            <a:solidFill>
              <a:srgbClr val="DBE3ED"/>
            </a:solidFill>
            <a:prstDash val="solid"/>
          </a:ln>
        </p:spPr>
      </p:sp>
      <p:sp>
        <p:nvSpPr>
          <p:cNvPr id="22" name="Shape 20"/>
          <p:cNvSpPr/>
          <p:nvPr/>
        </p:nvSpPr>
        <p:spPr>
          <a:xfrm>
            <a:off x="8513064" y="1819656"/>
            <a:ext cx="438912" cy="265176"/>
          </a:xfrm>
          <a:prstGeom prst="roundRect">
            <a:avLst/>
          </a:prstGeom>
          <a:solidFill>
            <a:srgbClr val="1B3154"/>
          </a:solidFill>
          <a:ln w="12700">
            <a:solidFill>
              <a:srgbClr val="FFFFFF">
                <a:alpha val="0"/>
              </a:srgbClr>
            </a:solidFill>
            <a:prstDash val="solid"/>
          </a:ln>
        </p:spPr>
      </p:sp>
      <p:sp>
        <p:nvSpPr>
          <p:cNvPr id="23" name="Text 21"/>
          <p:cNvSpPr/>
          <p:nvPr/>
        </p:nvSpPr>
        <p:spPr>
          <a:xfrm>
            <a:off x="8595360" y="1819656"/>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03</a:t>
            </a:r>
            <a:endParaRPr lang="en-US" sz="940" dirty="0"/>
          </a:p>
        </p:txBody>
      </p:sp>
      <p:sp>
        <p:nvSpPr>
          <p:cNvPr id="24" name="Text 22"/>
          <p:cNvSpPr/>
          <p:nvPr/>
        </p:nvSpPr>
        <p:spPr>
          <a:xfrm>
            <a:off x="9079992" y="1828800"/>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Características</a:t>
            </a:r>
            <a:endParaRPr lang="en-US" sz="1720" dirty="0"/>
          </a:p>
        </p:txBody>
      </p:sp>
      <p:sp>
        <p:nvSpPr>
          <p:cNvPr id="25" name="Text 23"/>
          <p:cNvSpPr/>
          <p:nvPr/>
        </p:nvSpPr>
        <p:spPr>
          <a:xfrm>
            <a:off x="8531352" y="2395728"/>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Rezagos y ventanas causales</a:t>
            </a:r>
            <a:endParaRPr lang="en-US" sz="1400" dirty="0"/>
          </a:p>
        </p:txBody>
      </p:sp>
      <p:sp>
        <p:nvSpPr>
          <p:cNvPr id="26" name="Shape 24"/>
          <p:cNvSpPr/>
          <p:nvPr/>
        </p:nvSpPr>
        <p:spPr>
          <a:xfrm>
            <a:off x="704088" y="3474720"/>
            <a:ext cx="3456432" cy="1517904"/>
          </a:xfrm>
          <a:prstGeom prst="roundRect">
            <a:avLst/>
          </a:prstGeom>
          <a:solidFill>
            <a:srgbClr val="FFFFFF"/>
          </a:solidFill>
          <a:ln w="10160">
            <a:solidFill>
              <a:srgbClr val="DBE3ED"/>
            </a:solidFill>
            <a:prstDash val="solid"/>
          </a:ln>
        </p:spPr>
      </p:sp>
      <p:sp>
        <p:nvSpPr>
          <p:cNvPr id="27" name="Shape 25"/>
          <p:cNvSpPr/>
          <p:nvPr/>
        </p:nvSpPr>
        <p:spPr>
          <a:xfrm>
            <a:off x="886968" y="3657600"/>
            <a:ext cx="438912" cy="265176"/>
          </a:xfrm>
          <a:prstGeom prst="roundRect">
            <a:avLst/>
          </a:prstGeom>
          <a:solidFill>
            <a:srgbClr val="1B3154"/>
          </a:solidFill>
          <a:ln w="12700">
            <a:solidFill>
              <a:srgbClr val="FFFFFF">
                <a:alpha val="0"/>
              </a:srgbClr>
            </a:solidFill>
            <a:prstDash val="solid"/>
          </a:ln>
        </p:spPr>
      </p:sp>
      <p:sp>
        <p:nvSpPr>
          <p:cNvPr id="28" name="Text 26"/>
          <p:cNvSpPr/>
          <p:nvPr/>
        </p:nvSpPr>
        <p:spPr>
          <a:xfrm>
            <a:off x="969264" y="3657600"/>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04</a:t>
            </a:r>
            <a:endParaRPr lang="en-US" sz="940" dirty="0"/>
          </a:p>
        </p:txBody>
      </p:sp>
      <p:sp>
        <p:nvSpPr>
          <p:cNvPr id="29" name="Text 27"/>
          <p:cNvSpPr/>
          <p:nvPr/>
        </p:nvSpPr>
        <p:spPr>
          <a:xfrm>
            <a:off x="1453896" y="3666744"/>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Modelos</a:t>
            </a:r>
            <a:endParaRPr lang="en-US" sz="1720" dirty="0"/>
          </a:p>
        </p:txBody>
      </p:sp>
      <p:sp>
        <p:nvSpPr>
          <p:cNvPr id="30" name="Text 28"/>
          <p:cNvSpPr/>
          <p:nvPr/>
        </p:nvSpPr>
        <p:spPr>
          <a:xfrm>
            <a:off x="905256" y="4233672"/>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Clasificación, anomalías, pronóstico</a:t>
            </a:r>
            <a:endParaRPr lang="en-US" sz="1400" dirty="0"/>
          </a:p>
        </p:txBody>
      </p:sp>
      <p:sp>
        <p:nvSpPr>
          <p:cNvPr id="31" name="Shape 29"/>
          <p:cNvSpPr/>
          <p:nvPr/>
        </p:nvSpPr>
        <p:spPr>
          <a:xfrm>
            <a:off x="4197096" y="4288536"/>
            <a:ext cx="256032" cy="0"/>
          </a:xfrm>
          <a:prstGeom prst="line">
            <a:avLst/>
          </a:prstGeom>
          <a:noFill/>
          <a:ln w="19050">
            <a:solidFill>
              <a:srgbClr val="E7B755"/>
            </a:solidFill>
            <a:prstDash val="solid"/>
            <a:headEnd type="none"/>
            <a:tailEnd type="triangle"/>
          </a:ln>
        </p:spPr>
      </p:sp>
      <p:sp>
        <p:nvSpPr>
          <p:cNvPr id="32" name="Shape 30"/>
          <p:cNvSpPr/>
          <p:nvPr/>
        </p:nvSpPr>
        <p:spPr>
          <a:xfrm>
            <a:off x="4517136" y="3474720"/>
            <a:ext cx="3456432" cy="1517904"/>
          </a:xfrm>
          <a:prstGeom prst="roundRect">
            <a:avLst/>
          </a:prstGeom>
          <a:solidFill>
            <a:srgbClr val="FFFFFF"/>
          </a:solidFill>
          <a:ln w="10160">
            <a:solidFill>
              <a:srgbClr val="DBE3ED"/>
            </a:solidFill>
            <a:prstDash val="solid"/>
          </a:ln>
        </p:spPr>
      </p:sp>
      <p:sp>
        <p:nvSpPr>
          <p:cNvPr id="33" name="Shape 31"/>
          <p:cNvSpPr/>
          <p:nvPr/>
        </p:nvSpPr>
        <p:spPr>
          <a:xfrm>
            <a:off x="4700016" y="3657600"/>
            <a:ext cx="438912" cy="265176"/>
          </a:xfrm>
          <a:prstGeom prst="roundRect">
            <a:avLst/>
          </a:prstGeom>
          <a:solidFill>
            <a:srgbClr val="1B3154"/>
          </a:solidFill>
          <a:ln w="12700">
            <a:solidFill>
              <a:srgbClr val="FFFFFF">
                <a:alpha val="0"/>
              </a:srgbClr>
            </a:solidFill>
            <a:prstDash val="solid"/>
          </a:ln>
        </p:spPr>
      </p:sp>
      <p:sp>
        <p:nvSpPr>
          <p:cNvPr id="34" name="Text 32"/>
          <p:cNvSpPr/>
          <p:nvPr/>
        </p:nvSpPr>
        <p:spPr>
          <a:xfrm>
            <a:off x="4782312" y="3657600"/>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05</a:t>
            </a:r>
            <a:endParaRPr lang="en-US" sz="940" dirty="0"/>
          </a:p>
        </p:txBody>
      </p:sp>
      <p:sp>
        <p:nvSpPr>
          <p:cNvPr id="35" name="Text 33"/>
          <p:cNvSpPr/>
          <p:nvPr/>
        </p:nvSpPr>
        <p:spPr>
          <a:xfrm>
            <a:off x="5266944" y="3666744"/>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Evaluación</a:t>
            </a:r>
            <a:endParaRPr lang="en-US" sz="1720" dirty="0"/>
          </a:p>
        </p:txBody>
      </p:sp>
      <p:sp>
        <p:nvSpPr>
          <p:cNvPr id="36" name="Text 34"/>
          <p:cNvSpPr/>
          <p:nvPr/>
        </p:nvSpPr>
        <p:spPr>
          <a:xfrm>
            <a:off x="4718304" y="4233672"/>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Métricas e intervalos</a:t>
            </a:r>
            <a:endParaRPr lang="en-US" sz="1400" dirty="0"/>
          </a:p>
        </p:txBody>
      </p:sp>
      <p:sp>
        <p:nvSpPr>
          <p:cNvPr id="37" name="Shape 35"/>
          <p:cNvSpPr/>
          <p:nvPr/>
        </p:nvSpPr>
        <p:spPr>
          <a:xfrm>
            <a:off x="8010144" y="4288536"/>
            <a:ext cx="256032" cy="0"/>
          </a:xfrm>
          <a:prstGeom prst="line">
            <a:avLst/>
          </a:prstGeom>
          <a:noFill/>
          <a:ln w="19050">
            <a:solidFill>
              <a:srgbClr val="E7B755"/>
            </a:solidFill>
            <a:prstDash val="solid"/>
            <a:headEnd type="none"/>
            <a:tailEnd type="triangle"/>
          </a:ln>
        </p:spPr>
      </p:sp>
      <p:sp>
        <p:nvSpPr>
          <p:cNvPr id="38" name="Shape 36"/>
          <p:cNvSpPr/>
          <p:nvPr/>
        </p:nvSpPr>
        <p:spPr>
          <a:xfrm>
            <a:off x="8330184" y="3474720"/>
            <a:ext cx="3456432" cy="1517904"/>
          </a:xfrm>
          <a:prstGeom prst="roundRect">
            <a:avLst/>
          </a:prstGeom>
          <a:solidFill>
            <a:srgbClr val="FFFFFF"/>
          </a:solidFill>
          <a:ln w="10160">
            <a:solidFill>
              <a:srgbClr val="DBE3ED"/>
            </a:solidFill>
            <a:prstDash val="solid"/>
          </a:ln>
        </p:spPr>
      </p:sp>
      <p:sp>
        <p:nvSpPr>
          <p:cNvPr id="39" name="Shape 37"/>
          <p:cNvSpPr/>
          <p:nvPr/>
        </p:nvSpPr>
        <p:spPr>
          <a:xfrm>
            <a:off x="8513064" y="3657600"/>
            <a:ext cx="438912" cy="265176"/>
          </a:xfrm>
          <a:prstGeom prst="roundRect">
            <a:avLst/>
          </a:prstGeom>
          <a:solidFill>
            <a:srgbClr val="1B3154"/>
          </a:solidFill>
          <a:ln w="12700">
            <a:solidFill>
              <a:srgbClr val="FFFFFF">
                <a:alpha val="0"/>
              </a:srgbClr>
            </a:solidFill>
            <a:prstDash val="solid"/>
          </a:ln>
        </p:spPr>
      </p:sp>
      <p:sp>
        <p:nvSpPr>
          <p:cNvPr id="40" name="Text 38"/>
          <p:cNvSpPr/>
          <p:nvPr/>
        </p:nvSpPr>
        <p:spPr>
          <a:xfrm>
            <a:off x="8595360" y="3657600"/>
            <a:ext cx="27432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06</a:t>
            </a:r>
            <a:endParaRPr lang="en-US" sz="940" dirty="0"/>
          </a:p>
        </p:txBody>
      </p:sp>
      <p:sp>
        <p:nvSpPr>
          <p:cNvPr id="41" name="Text 39"/>
          <p:cNvSpPr/>
          <p:nvPr/>
        </p:nvSpPr>
        <p:spPr>
          <a:xfrm>
            <a:off x="9079992" y="3666744"/>
            <a:ext cx="2331720" cy="301752"/>
          </a:xfrm>
          <a:prstGeom prst="rect">
            <a:avLst/>
          </a:prstGeom>
          <a:noFill/>
          <a:ln/>
        </p:spPr>
        <p:txBody>
          <a:bodyPr wrap="square" lIns="0" tIns="0" rIns="0" bIns="0" rtlCol="0" anchor="ctr">
            <a:normAutofit/>
          </a:bodyPr>
          <a:lstStyle/>
          <a:p>
            <a:pPr algn="l" indent="0" marL="0">
              <a:buNone/>
            </a:pPr>
            <a:r>
              <a:rPr lang="en-US" sz="1720" b="1" dirty="0">
                <a:solidFill>
                  <a:srgbClr val="111E37"/>
                </a:solidFill>
                <a:latin typeface="Aptos" pitchFamily="34" charset="0"/>
                <a:ea typeface="Aptos" pitchFamily="34" charset="-122"/>
                <a:cs typeface="Aptos" pitchFamily="34" charset="-120"/>
              </a:rPr>
              <a:t>Explicación</a:t>
            </a:r>
            <a:endParaRPr lang="en-US" sz="1720" dirty="0"/>
          </a:p>
        </p:txBody>
      </p:sp>
      <p:sp>
        <p:nvSpPr>
          <p:cNvPr id="42" name="Text 40"/>
          <p:cNvSpPr/>
          <p:nvPr/>
        </p:nvSpPr>
        <p:spPr>
          <a:xfrm>
            <a:off x="8531352" y="4233672"/>
            <a:ext cx="3026664" cy="521208"/>
          </a:xfrm>
          <a:prstGeom prst="rect">
            <a:avLst/>
          </a:prstGeom>
          <a:noFill/>
          <a:ln/>
        </p:spPr>
        <p:txBody>
          <a:bodyPr wrap="square" lIns="0" tIns="0" rIns="0" bIns="0" rtlCol="0" anchor="ctr">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Variables influyentes</a:t>
            </a:r>
            <a:endParaRPr lang="en-US" sz="1400" dirty="0"/>
          </a:p>
        </p:txBody>
      </p:sp>
      <p:sp>
        <p:nvSpPr>
          <p:cNvPr id="43" name="Shape 41"/>
          <p:cNvSpPr/>
          <p:nvPr/>
        </p:nvSpPr>
        <p:spPr>
          <a:xfrm>
            <a:off x="722376" y="5632704"/>
            <a:ext cx="10716768" cy="539496"/>
          </a:xfrm>
          <a:prstGeom prst="roundRect">
            <a:avLst/>
          </a:prstGeom>
          <a:solidFill>
            <a:srgbClr val="E8F4F3"/>
          </a:solidFill>
          <a:ln w="12700">
            <a:solidFill>
              <a:srgbClr val="FFFFFF">
                <a:alpha val="0"/>
              </a:srgbClr>
            </a:solidFill>
            <a:prstDash val="solid"/>
          </a:ln>
        </p:spPr>
      </p:sp>
      <p:sp>
        <p:nvSpPr>
          <p:cNvPr id="44" name="Shape 42"/>
          <p:cNvSpPr/>
          <p:nvPr/>
        </p:nvSpPr>
        <p:spPr>
          <a:xfrm>
            <a:off x="722376" y="5632704"/>
            <a:ext cx="73152" cy="539496"/>
          </a:xfrm>
          <a:prstGeom prst="rect">
            <a:avLst/>
          </a:prstGeom>
          <a:solidFill>
            <a:srgbClr val="168B91"/>
          </a:solidFill>
          <a:ln w="12700">
            <a:solidFill>
              <a:srgbClr val="FFFFFF">
                <a:alpha val="0"/>
              </a:srgbClr>
            </a:solidFill>
            <a:prstDash val="solid"/>
          </a:ln>
        </p:spPr>
      </p:sp>
      <p:sp>
        <p:nvSpPr>
          <p:cNvPr id="45" name="Text 43"/>
          <p:cNvSpPr/>
          <p:nvPr/>
        </p:nvSpPr>
        <p:spPr>
          <a:xfrm>
            <a:off x="914400" y="5724144"/>
            <a:ext cx="10351008" cy="374904"/>
          </a:xfrm>
          <a:prstGeom prst="rect">
            <a:avLst/>
          </a:prstGeom>
          <a:noFill/>
          <a:ln/>
        </p:spPr>
        <p:txBody>
          <a:bodyPr wrap="square" lIns="0" tIns="0" rIns="0" bIns="0" rtlCol="0" anchor="ctr">
            <a:normAutofit/>
          </a:bodyPr>
          <a:lstStyle/>
          <a:p>
            <a:pPr algn="l" indent="0" marL="0">
              <a:buNone/>
            </a:pPr>
            <a:r>
              <a:rPr lang="en-US" sz="1410" b="1" dirty="0">
                <a:solidFill>
                  <a:srgbClr val="111E37"/>
                </a:solidFill>
                <a:latin typeface="Aptos" pitchFamily="34" charset="0"/>
                <a:ea typeface="Aptos" pitchFamily="34" charset="-122"/>
                <a:cs typeface="Aptos" pitchFamily="34" charset="-120"/>
              </a:rPr>
              <a:t>Condición transversal: preservar los archivos originales y la trazabilidad de cada transformación.</a:t>
            </a:r>
            <a:endParaRPr lang="en-US" sz="14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Validación cronológica: cómo se evitó la fuga de información</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Se conservó el orden temporal para simular predicciones sobre observaciones posteriores.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11</a:t>
            </a:r>
            <a:endParaRPr lang="en-US" sz="1040" dirty="0"/>
          </a:p>
        </p:txBody>
      </p:sp>
      <p:sp>
        <p:nvSpPr>
          <p:cNvPr id="9" name="Shape 7"/>
          <p:cNvSpPr/>
          <p:nvPr/>
        </p:nvSpPr>
        <p:spPr>
          <a:xfrm>
            <a:off x="777240" y="1874520"/>
            <a:ext cx="7424928" cy="658368"/>
          </a:xfrm>
          <a:prstGeom prst="rect">
            <a:avLst/>
          </a:prstGeom>
          <a:solidFill>
            <a:srgbClr val="FFFFFF"/>
          </a:solidFill>
          <a:ln w="10160">
            <a:solidFill>
              <a:srgbClr val="DBE3ED"/>
            </a:solidFill>
            <a:prstDash val="solid"/>
          </a:ln>
        </p:spPr>
      </p:sp>
      <p:sp>
        <p:nvSpPr>
          <p:cNvPr id="10" name="Shape 8"/>
          <p:cNvSpPr/>
          <p:nvPr/>
        </p:nvSpPr>
        <p:spPr>
          <a:xfrm>
            <a:off x="777240" y="1874520"/>
            <a:ext cx="5197450" cy="658368"/>
          </a:xfrm>
          <a:prstGeom prst="rect">
            <a:avLst/>
          </a:prstGeom>
          <a:solidFill>
            <a:srgbClr val="2861A1"/>
          </a:solidFill>
          <a:ln w="12700">
            <a:solidFill>
              <a:srgbClr val="FFFFFF">
                <a:alpha val="0"/>
              </a:srgbClr>
            </a:solidFill>
            <a:prstDash val="solid"/>
          </a:ln>
        </p:spPr>
      </p:sp>
      <p:sp>
        <p:nvSpPr>
          <p:cNvPr id="11" name="Shape 9"/>
          <p:cNvSpPr/>
          <p:nvPr/>
        </p:nvSpPr>
        <p:spPr>
          <a:xfrm>
            <a:off x="5974690" y="1874520"/>
            <a:ext cx="1113739" cy="658368"/>
          </a:xfrm>
          <a:prstGeom prst="rect">
            <a:avLst/>
          </a:prstGeom>
          <a:solidFill>
            <a:srgbClr val="168B91"/>
          </a:solidFill>
          <a:ln w="12700">
            <a:solidFill>
              <a:srgbClr val="FFFFFF">
                <a:alpha val="0"/>
              </a:srgbClr>
            </a:solidFill>
            <a:prstDash val="solid"/>
          </a:ln>
        </p:spPr>
      </p:sp>
      <p:sp>
        <p:nvSpPr>
          <p:cNvPr id="12" name="Shape 10"/>
          <p:cNvSpPr/>
          <p:nvPr/>
        </p:nvSpPr>
        <p:spPr>
          <a:xfrm>
            <a:off x="7088429" y="1874520"/>
            <a:ext cx="1113739" cy="658368"/>
          </a:xfrm>
          <a:prstGeom prst="rect">
            <a:avLst/>
          </a:prstGeom>
          <a:solidFill>
            <a:srgbClr val="E7B755"/>
          </a:solidFill>
          <a:ln w="12700">
            <a:solidFill>
              <a:srgbClr val="FFFFFF">
                <a:alpha val="0"/>
              </a:srgbClr>
            </a:solidFill>
            <a:prstDash val="solid"/>
          </a:ln>
        </p:spPr>
      </p:sp>
      <p:sp>
        <p:nvSpPr>
          <p:cNvPr id="13" name="Text 11"/>
          <p:cNvSpPr/>
          <p:nvPr/>
        </p:nvSpPr>
        <p:spPr>
          <a:xfrm>
            <a:off x="896112" y="2011680"/>
            <a:ext cx="4480560" cy="32918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70 % entrenamiento</a:t>
            </a:r>
            <a:endParaRPr lang="en-US" sz="1500" dirty="0"/>
          </a:p>
        </p:txBody>
      </p:sp>
      <p:sp>
        <p:nvSpPr>
          <p:cNvPr id="14" name="Text 12"/>
          <p:cNvSpPr/>
          <p:nvPr/>
        </p:nvSpPr>
        <p:spPr>
          <a:xfrm>
            <a:off x="6025896" y="2011680"/>
            <a:ext cx="978408" cy="310896"/>
          </a:xfrm>
          <a:prstGeom prst="rect">
            <a:avLst/>
          </a:prstGeom>
          <a:noFill/>
          <a:ln/>
        </p:spPr>
        <p:txBody>
          <a:bodyPr wrap="square" lIns="0" tIns="0" rIns="0" bIns="0" rtlCol="0" anchor="ctr">
            <a:normAutofit/>
          </a:bodyPr>
          <a:lstStyle/>
          <a:p>
            <a:pPr algn="ctr" indent="0" marL="0">
              <a:buNone/>
            </a:pPr>
            <a:r>
              <a:rPr lang="en-US" sz="1360" b="1" dirty="0">
                <a:solidFill>
                  <a:srgbClr val="FFFFFF"/>
                </a:solidFill>
                <a:latin typeface="Aptos" pitchFamily="34" charset="0"/>
                <a:ea typeface="Aptos" pitchFamily="34" charset="-122"/>
                <a:cs typeface="Aptos" pitchFamily="34" charset="-120"/>
              </a:rPr>
              <a:t>15 %</a:t>
            </a:r>
            <a:endParaRPr lang="en-US" sz="1360" dirty="0"/>
          </a:p>
        </p:txBody>
      </p:sp>
      <p:sp>
        <p:nvSpPr>
          <p:cNvPr id="15" name="Text 13"/>
          <p:cNvSpPr/>
          <p:nvPr/>
        </p:nvSpPr>
        <p:spPr>
          <a:xfrm>
            <a:off x="7114032" y="2011680"/>
            <a:ext cx="987552" cy="310896"/>
          </a:xfrm>
          <a:prstGeom prst="rect">
            <a:avLst/>
          </a:prstGeom>
          <a:noFill/>
          <a:ln/>
        </p:spPr>
        <p:txBody>
          <a:bodyPr wrap="square" lIns="0" tIns="0" rIns="0" bIns="0" rtlCol="0" anchor="ctr">
            <a:normAutofit/>
          </a:bodyPr>
          <a:lstStyle/>
          <a:p>
            <a:pPr algn="ctr" indent="0" marL="0">
              <a:buNone/>
            </a:pPr>
            <a:r>
              <a:rPr lang="en-US" sz="1360" b="1" dirty="0">
                <a:solidFill>
                  <a:srgbClr val="111E37"/>
                </a:solidFill>
                <a:latin typeface="Aptos" pitchFamily="34" charset="0"/>
                <a:ea typeface="Aptos" pitchFamily="34" charset="-122"/>
                <a:cs typeface="Aptos" pitchFamily="34" charset="-120"/>
              </a:rPr>
              <a:t>15 %</a:t>
            </a:r>
            <a:endParaRPr lang="en-US" sz="1360" dirty="0"/>
          </a:p>
        </p:txBody>
      </p:sp>
      <p:sp>
        <p:nvSpPr>
          <p:cNvPr id="16" name="Shape 14"/>
          <p:cNvSpPr/>
          <p:nvPr/>
        </p:nvSpPr>
        <p:spPr>
          <a:xfrm>
            <a:off x="768096" y="2990088"/>
            <a:ext cx="3483864" cy="1060704"/>
          </a:xfrm>
          <a:prstGeom prst="roundRect">
            <a:avLst/>
          </a:prstGeom>
          <a:solidFill>
            <a:srgbClr val="FFFFFF"/>
          </a:solidFill>
          <a:ln w="10160">
            <a:solidFill>
              <a:srgbClr val="DBE3ED"/>
            </a:solidFill>
            <a:prstDash val="solid"/>
          </a:ln>
        </p:spPr>
      </p:sp>
      <p:sp>
        <p:nvSpPr>
          <p:cNvPr id="17" name="Text 15"/>
          <p:cNvSpPr/>
          <p:nvPr/>
        </p:nvSpPr>
        <p:spPr>
          <a:xfrm>
            <a:off x="932688" y="3191256"/>
            <a:ext cx="3118104" cy="246888"/>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Entrenamiento</a:t>
            </a:r>
            <a:endParaRPr lang="en-US" sz="1600" dirty="0"/>
          </a:p>
        </p:txBody>
      </p:sp>
      <p:sp>
        <p:nvSpPr>
          <p:cNvPr id="18" name="Text 16"/>
          <p:cNvSpPr/>
          <p:nvPr/>
        </p:nvSpPr>
        <p:spPr>
          <a:xfrm>
            <a:off x="932688" y="3575304"/>
            <a:ext cx="3099816" cy="228600"/>
          </a:xfrm>
          <a:prstGeom prst="rect">
            <a:avLst/>
          </a:prstGeom>
          <a:noFill/>
          <a:ln/>
        </p:spPr>
        <p:txBody>
          <a:bodyPr wrap="square" lIns="0" tIns="0" rIns="0" bIns="0" rtlCol="0" anchor="ctr">
            <a:normAutofit/>
          </a:bodyPr>
          <a:lstStyle/>
          <a:p>
            <a:pPr algn="l" indent="0" marL="0">
              <a:buNone/>
            </a:pPr>
            <a:r>
              <a:rPr lang="en-US" sz="1220" dirty="0">
                <a:solidFill>
                  <a:srgbClr val="64748B"/>
                </a:solidFill>
                <a:latin typeface="Aptos" pitchFamily="34" charset="0"/>
                <a:ea typeface="Aptos" pitchFamily="34" charset="-122"/>
                <a:cs typeface="Aptos" pitchFamily="34" charset="-120"/>
              </a:rPr>
              <a:t>Hasta 06/05/2026 03:01</a:t>
            </a:r>
            <a:endParaRPr lang="en-US" sz="1220" dirty="0"/>
          </a:p>
        </p:txBody>
      </p:sp>
      <p:sp>
        <p:nvSpPr>
          <p:cNvPr id="19" name="Shape 17"/>
          <p:cNvSpPr/>
          <p:nvPr/>
        </p:nvSpPr>
        <p:spPr>
          <a:xfrm>
            <a:off x="4544568" y="2990088"/>
            <a:ext cx="3483864" cy="1060704"/>
          </a:xfrm>
          <a:prstGeom prst="roundRect">
            <a:avLst/>
          </a:prstGeom>
          <a:solidFill>
            <a:srgbClr val="FFFFFF"/>
          </a:solidFill>
          <a:ln w="10160">
            <a:solidFill>
              <a:srgbClr val="DBE3ED"/>
            </a:solidFill>
            <a:prstDash val="solid"/>
          </a:ln>
        </p:spPr>
      </p:sp>
      <p:sp>
        <p:nvSpPr>
          <p:cNvPr id="20" name="Text 18"/>
          <p:cNvSpPr/>
          <p:nvPr/>
        </p:nvSpPr>
        <p:spPr>
          <a:xfrm>
            <a:off x="4709160" y="3191256"/>
            <a:ext cx="3118104" cy="246888"/>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Validación</a:t>
            </a:r>
            <a:endParaRPr lang="en-US" sz="1600" dirty="0"/>
          </a:p>
        </p:txBody>
      </p:sp>
      <p:sp>
        <p:nvSpPr>
          <p:cNvPr id="21" name="Text 19"/>
          <p:cNvSpPr/>
          <p:nvPr/>
        </p:nvSpPr>
        <p:spPr>
          <a:xfrm>
            <a:off x="4709160" y="3575304"/>
            <a:ext cx="3099816" cy="228600"/>
          </a:xfrm>
          <a:prstGeom prst="rect">
            <a:avLst/>
          </a:prstGeom>
          <a:noFill/>
          <a:ln/>
        </p:spPr>
        <p:txBody>
          <a:bodyPr wrap="square" lIns="0" tIns="0" rIns="0" bIns="0" rtlCol="0" anchor="ctr">
            <a:normAutofit/>
          </a:bodyPr>
          <a:lstStyle/>
          <a:p>
            <a:pPr algn="l" indent="0" marL="0">
              <a:buNone/>
            </a:pPr>
            <a:r>
              <a:rPr lang="en-US" sz="1220" dirty="0">
                <a:solidFill>
                  <a:srgbClr val="64748B"/>
                </a:solidFill>
                <a:latin typeface="Aptos" pitchFamily="34" charset="0"/>
                <a:ea typeface="Aptos" pitchFamily="34" charset="-122"/>
                <a:cs typeface="Aptos" pitchFamily="34" charset="-120"/>
              </a:rPr>
              <a:t>Hasta 18/05/2026 12:42</a:t>
            </a:r>
            <a:endParaRPr lang="en-US" sz="1220" dirty="0"/>
          </a:p>
        </p:txBody>
      </p:sp>
      <p:sp>
        <p:nvSpPr>
          <p:cNvPr id="22" name="Shape 20"/>
          <p:cNvSpPr/>
          <p:nvPr/>
        </p:nvSpPr>
        <p:spPr>
          <a:xfrm>
            <a:off x="8321040" y="2990088"/>
            <a:ext cx="3483864" cy="1060704"/>
          </a:xfrm>
          <a:prstGeom prst="roundRect">
            <a:avLst/>
          </a:prstGeom>
          <a:solidFill>
            <a:srgbClr val="FFFFFF"/>
          </a:solidFill>
          <a:ln w="10160">
            <a:solidFill>
              <a:srgbClr val="DBE3ED"/>
            </a:solidFill>
            <a:prstDash val="solid"/>
          </a:ln>
        </p:spPr>
      </p:sp>
      <p:sp>
        <p:nvSpPr>
          <p:cNvPr id="23" name="Text 21"/>
          <p:cNvSpPr/>
          <p:nvPr/>
        </p:nvSpPr>
        <p:spPr>
          <a:xfrm>
            <a:off x="8485632" y="3191256"/>
            <a:ext cx="3118104" cy="246888"/>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Prueba final</a:t>
            </a:r>
            <a:endParaRPr lang="en-US" sz="1600" dirty="0"/>
          </a:p>
        </p:txBody>
      </p:sp>
      <p:sp>
        <p:nvSpPr>
          <p:cNvPr id="24" name="Text 22"/>
          <p:cNvSpPr/>
          <p:nvPr/>
        </p:nvSpPr>
        <p:spPr>
          <a:xfrm>
            <a:off x="8485632" y="3575304"/>
            <a:ext cx="3099816" cy="228600"/>
          </a:xfrm>
          <a:prstGeom prst="rect">
            <a:avLst/>
          </a:prstGeom>
          <a:noFill/>
          <a:ln/>
        </p:spPr>
        <p:txBody>
          <a:bodyPr wrap="square" lIns="0" tIns="0" rIns="0" bIns="0" rtlCol="0" anchor="ctr">
            <a:normAutofit/>
          </a:bodyPr>
          <a:lstStyle/>
          <a:p>
            <a:pPr algn="l" indent="0" marL="0">
              <a:buNone/>
            </a:pPr>
            <a:r>
              <a:rPr lang="en-US" sz="1220" dirty="0">
                <a:solidFill>
                  <a:srgbClr val="64748B"/>
                </a:solidFill>
                <a:latin typeface="Aptos" pitchFamily="34" charset="0"/>
                <a:ea typeface="Aptos" pitchFamily="34" charset="-122"/>
                <a:cs typeface="Aptos" pitchFamily="34" charset="-120"/>
              </a:rPr>
              <a:t>Observaciones posteriores</a:t>
            </a:r>
            <a:endParaRPr lang="en-US" sz="1220" dirty="0"/>
          </a:p>
        </p:txBody>
      </p:sp>
      <p:sp>
        <p:nvSpPr>
          <p:cNvPr id="25" name="Shape 23"/>
          <p:cNvSpPr/>
          <p:nvPr/>
        </p:nvSpPr>
        <p:spPr>
          <a:xfrm>
            <a:off x="777240" y="4471416"/>
            <a:ext cx="5230368" cy="1197864"/>
          </a:xfrm>
          <a:prstGeom prst="roundRect">
            <a:avLst/>
          </a:prstGeom>
          <a:solidFill>
            <a:srgbClr val="FFFFFF"/>
          </a:solidFill>
          <a:ln w="10160">
            <a:solidFill>
              <a:srgbClr val="DBE3ED"/>
            </a:solidFill>
            <a:prstDash val="solid"/>
          </a:ln>
        </p:spPr>
      </p:sp>
      <p:sp>
        <p:nvSpPr>
          <p:cNvPr id="26" name="Shape 24"/>
          <p:cNvSpPr/>
          <p:nvPr/>
        </p:nvSpPr>
        <p:spPr>
          <a:xfrm>
            <a:off x="777240" y="4471416"/>
            <a:ext cx="64008" cy="1197864"/>
          </a:xfrm>
          <a:prstGeom prst="rect">
            <a:avLst/>
          </a:prstGeom>
          <a:solidFill>
            <a:srgbClr val="168B91"/>
          </a:solidFill>
          <a:ln w="12700">
            <a:solidFill>
              <a:srgbClr val="FFFFFF">
                <a:alpha val="0"/>
              </a:srgbClr>
            </a:solidFill>
            <a:prstDash val="solid"/>
          </a:ln>
        </p:spPr>
      </p:sp>
      <p:sp>
        <p:nvSpPr>
          <p:cNvPr id="27" name="Text 25"/>
          <p:cNvSpPr/>
          <p:nvPr/>
        </p:nvSpPr>
        <p:spPr>
          <a:xfrm>
            <a:off x="987552" y="4608576"/>
            <a:ext cx="4818888" cy="411480"/>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UMBRAL Y PARÁMETROS</a:t>
            </a:r>
            <a:endParaRPr lang="en-US" sz="1400" dirty="0"/>
          </a:p>
        </p:txBody>
      </p:sp>
      <p:sp>
        <p:nvSpPr>
          <p:cNvPr id="28" name="Text 26"/>
          <p:cNvSpPr/>
          <p:nvPr/>
        </p:nvSpPr>
        <p:spPr>
          <a:xfrm>
            <a:off x="987552" y="5129784"/>
            <a:ext cx="4809744" cy="402336"/>
          </a:xfrm>
          <a:prstGeom prst="rect">
            <a:avLst/>
          </a:prstGeom>
          <a:noFill/>
          <a:ln/>
        </p:spPr>
        <p:txBody>
          <a:bodyPr wrap="square" lIns="0" tIns="0" rIns="0" bIns="0" rtlCol="0" anchor="t">
            <a:normAutofit/>
          </a:bodyPr>
          <a:lstStyle/>
          <a:p>
            <a:pPr algn="l" indent="0" marL="0">
              <a:buNone/>
            </a:pPr>
            <a:r>
              <a:rPr lang="en-US" sz="1400" dirty="0">
                <a:solidFill>
                  <a:srgbClr val="64748B"/>
                </a:solidFill>
                <a:latin typeface="Aptos" pitchFamily="34" charset="0"/>
                <a:ea typeface="Aptos" pitchFamily="34" charset="-122"/>
                <a:cs typeface="Aptos" pitchFamily="34" charset="-120"/>
              </a:rPr>
              <a:t>Calculados o ajustados sin consultar la prueba final.</a:t>
            </a:r>
            <a:endParaRPr lang="en-US" sz="1400" dirty="0"/>
          </a:p>
        </p:txBody>
      </p:sp>
      <p:sp>
        <p:nvSpPr>
          <p:cNvPr id="29" name="Shape 27"/>
          <p:cNvSpPr/>
          <p:nvPr/>
        </p:nvSpPr>
        <p:spPr>
          <a:xfrm>
            <a:off x="6172200" y="4471416"/>
            <a:ext cx="5230368" cy="1197864"/>
          </a:xfrm>
          <a:prstGeom prst="roundRect">
            <a:avLst/>
          </a:prstGeom>
          <a:solidFill>
            <a:srgbClr val="FFFFFF"/>
          </a:solidFill>
          <a:ln w="10160">
            <a:solidFill>
              <a:srgbClr val="DBE3ED"/>
            </a:solidFill>
            <a:prstDash val="solid"/>
          </a:ln>
        </p:spPr>
      </p:sp>
      <p:sp>
        <p:nvSpPr>
          <p:cNvPr id="30" name="Shape 28"/>
          <p:cNvSpPr/>
          <p:nvPr/>
        </p:nvSpPr>
        <p:spPr>
          <a:xfrm>
            <a:off x="6172200" y="4471416"/>
            <a:ext cx="64008" cy="1197864"/>
          </a:xfrm>
          <a:prstGeom prst="rect">
            <a:avLst/>
          </a:prstGeom>
          <a:solidFill>
            <a:srgbClr val="E7B755"/>
          </a:solidFill>
          <a:ln w="12700">
            <a:solidFill>
              <a:srgbClr val="FFFFFF">
                <a:alpha val="0"/>
              </a:srgbClr>
            </a:solidFill>
            <a:prstDash val="solid"/>
          </a:ln>
        </p:spPr>
      </p:sp>
      <p:sp>
        <p:nvSpPr>
          <p:cNvPr id="31" name="Text 29"/>
          <p:cNvSpPr/>
          <p:nvPr/>
        </p:nvSpPr>
        <p:spPr>
          <a:xfrm>
            <a:off x="6382512" y="4608576"/>
            <a:ext cx="4818888" cy="411480"/>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CONTRASTACIÓN ESTADÍSTICA</a:t>
            </a:r>
            <a:endParaRPr lang="en-US" sz="1400" dirty="0"/>
          </a:p>
        </p:txBody>
      </p:sp>
      <p:sp>
        <p:nvSpPr>
          <p:cNvPr id="32" name="Text 30"/>
          <p:cNvSpPr/>
          <p:nvPr/>
        </p:nvSpPr>
        <p:spPr>
          <a:xfrm>
            <a:off x="6382512" y="5129784"/>
            <a:ext cx="4809744" cy="402336"/>
          </a:xfrm>
          <a:prstGeom prst="rect">
            <a:avLst/>
          </a:prstGeom>
          <a:noFill/>
          <a:ln/>
        </p:spPr>
        <p:txBody>
          <a:bodyPr wrap="square" lIns="0" tIns="0" rIns="0" bIns="0" rtlCol="0" anchor="t">
            <a:normAutofit/>
          </a:bodyPr>
          <a:lstStyle/>
          <a:p>
            <a:pPr algn="l" indent="0" marL="0">
              <a:buNone/>
            </a:pPr>
            <a:r>
              <a:rPr lang="en-US" sz="1370" dirty="0">
                <a:solidFill>
                  <a:srgbClr val="64748B"/>
                </a:solidFill>
                <a:latin typeface="Aptos" pitchFamily="34" charset="0"/>
                <a:ea typeface="Aptos" pitchFamily="34" charset="-122"/>
                <a:cs typeface="Aptos" pitchFamily="34" charset="-120"/>
              </a:rPr>
              <a:t>Bootstrap pareado por bloques de 60 min · 1 000 réplicas · IC 95 %.</a:t>
            </a:r>
            <a:endParaRPr lang="en-US" sz="13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Técnicas e instrumentos: ¿qué se midió y con qué evidencia?</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Los instrumentos fueron fichas y matrices técnicas de registro; los equipos y programas fueron herramientas.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12</a:t>
            </a:r>
            <a:endParaRPr lang="en-US" sz="1040" dirty="0"/>
          </a:p>
        </p:txBody>
      </p:sp>
      <p:sp>
        <p:nvSpPr>
          <p:cNvPr id="9" name="Shape 7"/>
          <p:cNvSpPr/>
          <p:nvPr/>
        </p:nvSpPr>
        <p:spPr>
          <a:xfrm>
            <a:off x="713232" y="1673352"/>
            <a:ext cx="10762488" cy="502920"/>
          </a:xfrm>
          <a:prstGeom prst="rect">
            <a:avLst/>
          </a:prstGeom>
          <a:solidFill>
            <a:srgbClr val="111E37"/>
          </a:solidFill>
          <a:ln w="12700">
            <a:solidFill>
              <a:srgbClr val="FFFFFF">
                <a:alpha val="0"/>
              </a:srgbClr>
            </a:solidFill>
            <a:prstDash val="solid"/>
          </a:ln>
        </p:spPr>
      </p:sp>
      <p:sp>
        <p:nvSpPr>
          <p:cNvPr id="10" name="Text 8"/>
          <p:cNvSpPr/>
          <p:nvPr/>
        </p:nvSpPr>
        <p:spPr>
          <a:xfrm>
            <a:off x="795528" y="1714500"/>
            <a:ext cx="2258568"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TÉCNICA</a:t>
            </a:r>
            <a:endParaRPr lang="en-US" sz="1200" dirty="0"/>
          </a:p>
        </p:txBody>
      </p:sp>
      <p:sp>
        <p:nvSpPr>
          <p:cNvPr id="11" name="Shape 9"/>
          <p:cNvSpPr/>
          <p:nvPr/>
        </p:nvSpPr>
        <p:spPr>
          <a:xfrm>
            <a:off x="3136392" y="1673352"/>
            <a:ext cx="0" cy="502920"/>
          </a:xfrm>
          <a:prstGeom prst="line">
            <a:avLst/>
          </a:prstGeom>
          <a:noFill/>
          <a:ln w="6985">
            <a:solidFill>
              <a:srgbClr val="506078"/>
            </a:solidFill>
            <a:prstDash val="solid"/>
          </a:ln>
        </p:spPr>
      </p:sp>
      <p:sp>
        <p:nvSpPr>
          <p:cNvPr id="12" name="Text 10"/>
          <p:cNvSpPr/>
          <p:nvPr/>
        </p:nvSpPr>
        <p:spPr>
          <a:xfrm>
            <a:off x="3218688" y="1714500"/>
            <a:ext cx="3557016"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INSTRUMENTO</a:t>
            </a:r>
            <a:endParaRPr lang="en-US" sz="1200" dirty="0"/>
          </a:p>
        </p:txBody>
      </p:sp>
      <p:sp>
        <p:nvSpPr>
          <p:cNvPr id="13" name="Shape 11"/>
          <p:cNvSpPr/>
          <p:nvPr/>
        </p:nvSpPr>
        <p:spPr>
          <a:xfrm>
            <a:off x="6858000" y="1673352"/>
            <a:ext cx="0" cy="502920"/>
          </a:xfrm>
          <a:prstGeom prst="line">
            <a:avLst/>
          </a:prstGeom>
          <a:noFill/>
          <a:ln w="6985">
            <a:solidFill>
              <a:srgbClr val="506078"/>
            </a:solidFill>
            <a:prstDash val="solid"/>
          </a:ln>
        </p:spPr>
      </p:sp>
      <p:sp>
        <p:nvSpPr>
          <p:cNvPr id="14" name="Text 12"/>
          <p:cNvSpPr/>
          <p:nvPr/>
        </p:nvSpPr>
        <p:spPr>
          <a:xfrm>
            <a:off x="6940296" y="1714500"/>
            <a:ext cx="4453128"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EVIDENCIA O DATO</a:t>
            </a:r>
            <a:endParaRPr lang="en-US" sz="1200" dirty="0"/>
          </a:p>
        </p:txBody>
      </p:sp>
      <p:sp>
        <p:nvSpPr>
          <p:cNvPr id="15" name="Shape 13"/>
          <p:cNvSpPr/>
          <p:nvPr/>
        </p:nvSpPr>
        <p:spPr>
          <a:xfrm>
            <a:off x="713232" y="2176272"/>
            <a:ext cx="10762488" cy="0"/>
          </a:xfrm>
          <a:prstGeom prst="line">
            <a:avLst/>
          </a:prstGeom>
          <a:noFill/>
          <a:ln w="6985">
            <a:solidFill>
              <a:srgbClr val="D6DEE8"/>
            </a:solidFill>
            <a:prstDash val="solid"/>
          </a:ln>
        </p:spPr>
      </p:sp>
      <p:sp>
        <p:nvSpPr>
          <p:cNvPr id="16" name="Shape 14"/>
          <p:cNvSpPr/>
          <p:nvPr/>
        </p:nvSpPr>
        <p:spPr>
          <a:xfrm>
            <a:off x="713232" y="2176272"/>
            <a:ext cx="10762488" cy="804672"/>
          </a:xfrm>
          <a:prstGeom prst="rect">
            <a:avLst/>
          </a:prstGeom>
          <a:solidFill>
            <a:srgbClr val="FFFFFF"/>
          </a:solidFill>
          <a:ln w="12700">
            <a:solidFill>
              <a:srgbClr val="FFFFFF">
                <a:alpha val="0"/>
              </a:srgbClr>
            </a:solidFill>
            <a:prstDash val="solid"/>
          </a:ln>
        </p:spPr>
      </p:sp>
      <p:sp>
        <p:nvSpPr>
          <p:cNvPr id="17" name="Text 15"/>
          <p:cNvSpPr/>
          <p:nvPr/>
        </p:nvSpPr>
        <p:spPr>
          <a:xfrm>
            <a:off x="795528" y="2217420"/>
            <a:ext cx="225856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Observación tecnológica</a:t>
            </a:r>
            <a:endParaRPr lang="en-US" sz="1310" dirty="0"/>
          </a:p>
        </p:txBody>
      </p:sp>
      <p:sp>
        <p:nvSpPr>
          <p:cNvPr id="18" name="Shape 16"/>
          <p:cNvSpPr/>
          <p:nvPr/>
        </p:nvSpPr>
        <p:spPr>
          <a:xfrm>
            <a:off x="3136392" y="2176272"/>
            <a:ext cx="0" cy="804672"/>
          </a:xfrm>
          <a:prstGeom prst="line">
            <a:avLst/>
          </a:prstGeom>
          <a:noFill/>
          <a:ln w="6985">
            <a:solidFill>
              <a:srgbClr val="D6DEE8"/>
            </a:solidFill>
            <a:prstDash val="solid"/>
          </a:ln>
        </p:spPr>
      </p:sp>
      <p:sp>
        <p:nvSpPr>
          <p:cNvPr id="19" name="Text 17"/>
          <p:cNvSpPr/>
          <p:nvPr/>
        </p:nvSpPr>
        <p:spPr>
          <a:xfrm>
            <a:off x="3218688" y="2217420"/>
            <a:ext cx="3557016"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Ficha digital de telemetría</a:t>
            </a:r>
            <a:endParaRPr lang="en-US" sz="1310" dirty="0"/>
          </a:p>
        </p:txBody>
      </p:sp>
      <p:sp>
        <p:nvSpPr>
          <p:cNvPr id="20" name="Shape 18"/>
          <p:cNvSpPr/>
          <p:nvPr/>
        </p:nvSpPr>
        <p:spPr>
          <a:xfrm>
            <a:off x="6858000" y="2176272"/>
            <a:ext cx="0" cy="804672"/>
          </a:xfrm>
          <a:prstGeom prst="line">
            <a:avLst/>
          </a:prstGeom>
          <a:noFill/>
          <a:ln w="6985">
            <a:solidFill>
              <a:srgbClr val="D6DEE8"/>
            </a:solidFill>
            <a:prstDash val="solid"/>
          </a:ln>
        </p:spPr>
      </p:sp>
      <p:sp>
        <p:nvSpPr>
          <p:cNvPr id="21" name="Text 19"/>
          <p:cNvSpPr/>
          <p:nvPr/>
        </p:nvSpPr>
        <p:spPr>
          <a:xfrm>
            <a:off x="6940296" y="2217420"/>
            <a:ext cx="445312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RSSI · SNR · MCS · tasa DL · tiempo</a:t>
            </a:r>
            <a:endParaRPr lang="en-US" sz="1310" dirty="0"/>
          </a:p>
        </p:txBody>
      </p:sp>
      <p:sp>
        <p:nvSpPr>
          <p:cNvPr id="22" name="Shape 20"/>
          <p:cNvSpPr/>
          <p:nvPr/>
        </p:nvSpPr>
        <p:spPr>
          <a:xfrm>
            <a:off x="713232" y="2980944"/>
            <a:ext cx="10762488" cy="0"/>
          </a:xfrm>
          <a:prstGeom prst="line">
            <a:avLst/>
          </a:prstGeom>
          <a:noFill/>
          <a:ln w="6985">
            <a:solidFill>
              <a:srgbClr val="D6DEE8"/>
            </a:solidFill>
            <a:prstDash val="solid"/>
          </a:ln>
        </p:spPr>
      </p:sp>
      <p:sp>
        <p:nvSpPr>
          <p:cNvPr id="23" name="Shape 21"/>
          <p:cNvSpPr/>
          <p:nvPr/>
        </p:nvSpPr>
        <p:spPr>
          <a:xfrm>
            <a:off x="713232" y="2980944"/>
            <a:ext cx="10762488" cy="804672"/>
          </a:xfrm>
          <a:prstGeom prst="rect">
            <a:avLst/>
          </a:prstGeom>
          <a:solidFill>
            <a:srgbClr val="EDF2F8"/>
          </a:solidFill>
          <a:ln w="12700">
            <a:solidFill>
              <a:srgbClr val="FFFFFF">
                <a:alpha val="0"/>
              </a:srgbClr>
            </a:solidFill>
            <a:prstDash val="solid"/>
          </a:ln>
        </p:spPr>
      </p:sp>
      <p:sp>
        <p:nvSpPr>
          <p:cNvPr id="24" name="Text 22"/>
          <p:cNvSpPr/>
          <p:nvPr/>
        </p:nvSpPr>
        <p:spPr>
          <a:xfrm>
            <a:off x="795528" y="3022092"/>
            <a:ext cx="225856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Análisis documental</a:t>
            </a:r>
            <a:endParaRPr lang="en-US" sz="1310" dirty="0"/>
          </a:p>
        </p:txBody>
      </p:sp>
      <p:sp>
        <p:nvSpPr>
          <p:cNvPr id="25" name="Shape 23"/>
          <p:cNvSpPr/>
          <p:nvPr/>
        </p:nvSpPr>
        <p:spPr>
          <a:xfrm>
            <a:off x="3136392" y="2980944"/>
            <a:ext cx="0" cy="804672"/>
          </a:xfrm>
          <a:prstGeom prst="line">
            <a:avLst/>
          </a:prstGeom>
          <a:noFill/>
          <a:ln w="6985">
            <a:solidFill>
              <a:srgbClr val="D6DEE8"/>
            </a:solidFill>
            <a:prstDash val="solid"/>
          </a:ln>
        </p:spPr>
      </p:sp>
      <p:sp>
        <p:nvSpPr>
          <p:cNvPr id="26" name="Text 24"/>
          <p:cNvSpPr/>
          <p:nvPr/>
        </p:nvSpPr>
        <p:spPr>
          <a:xfrm>
            <a:off x="3218688" y="3022092"/>
            <a:ext cx="3557016"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Ficha de control de calidad</a:t>
            </a:r>
            <a:endParaRPr lang="en-US" sz="1310" dirty="0"/>
          </a:p>
        </p:txBody>
      </p:sp>
      <p:sp>
        <p:nvSpPr>
          <p:cNvPr id="27" name="Shape 25"/>
          <p:cNvSpPr/>
          <p:nvPr/>
        </p:nvSpPr>
        <p:spPr>
          <a:xfrm>
            <a:off x="6858000" y="2980944"/>
            <a:ext cx="0" cy="804672"/>
          </a:xfrm>
          <a:prstGeom prst="line">
            <a:avLst/>
          </a:prstGeom>
          <a:noFill/>
          <a:ln w="6985">
            <a:solidFill>
              <a:srgbClr val="D6DEE8"/>
            </a:solidFill>
            <a:prstDash val="solid"/>
          </a:ln>
        </p:spPr>
      </p:sp>
      <p:sp>
        <p:nvSpPr>
          <p:cNvPr id="28" name="Text 26"/>
          <p:cNvSpPr/>
          <p:nvPr/>
        </p:nvSpPr>
        <p:spPr>
          <a:xfrm>
            <a:off x="6940296" y="3022092"/>
            <a:ext cx="445312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Fuentes · duplicados · vacíos · criterios</a:t>
            </a:r>
            <a:endParaRPr lang="en-US" sz="1310" dirty="0"/>
          </a:p>
        </p:txBody>
      </p:sp>
      <p:sp>
        <p:nvSpPr>
          <p:cNvPr id="29" name="Shape 27"/>
          <p:cNvSpPr/>
          <p:nvPr/>
        </p:nvSpPr>
        <p:spPr>
          <a:xfrm>
            <a:off x="713232" y="3785616"/>
            <a:ext cx="10762488" cy="0"/>
          </a:xfrm>
          <a:prstGeom prst="line">
            <a:avLst/>
          </a:prstGeom>
          <a:noFill/>
          <a:ln w="6985">
            <a:solidFill>
              <a:srgbClr val="D6DEE8"/>
            </a:solidFill>
            <a:prstDash val="solid"/>
          </a:ln>
        </p:spPr>
      </p:sp>
      <p:sp>
        <p:nvSpPr>
          <p:cNvPr id="30" name="Shape 28"/>
          <p:cNvSpPr/>
          <p:nvPr/>
        </p:nvSpPr>
        <p:spPr>
          <a:xfrm>
            <a:off x="713232" y="3785616"/>
            <a:ext cx="10762488" cy="804672"/>
          </a:xfrm>
          <a:prstGeom prst="rect">
            <a:avLst/>
          </a:prstGeom>
          <a:solidFill>
            <a:srgbClr val="FFFFFF"/>
          </a:solidFill>
          <a:ln w="12700">
            <a:solidFill>
              <a:srgbClr val="FFFFFF">
                <a:alpha val="0"/>
              </a:srgbClr>
            </a:solidFill>
            <a:prstDash val="solid"/>
          </a:ln>
        </p:spPr>
      </p:sp>
      <p:sp>
        <p:nvSpPr>
          <p:cNvPr id="31" name="Text 29"/>
          <p:cNvSpPr/>
          <p:nvPr/>
        </p:nvSpPr>
        <p:spPr>
          <a:xfrm>
            <a:off x="795528" y="3826764"/>
            <a:ext cx="225856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Experimentación computacional</a:t>
            </a:r>
            <a:endParaRPr lang="en-US" sz="1310" dirty="0"/>
          </a:p>
        </p:txBody>
      </p:sp>
      <p:sp>
        <p:nvSpPr>
          <p:cNvPr id="32" name="Shape 30"/>
          <p:cNvSpPr/>
          <p:nvPr/>
        </p:nvSpPr>
        <p:spPr>
          <a:xfrm>
            <a:off x="3136392" y="3785616"/>
            <a:ext cx="0" cy="804672"/>
          </a:xfrm>
          <a:prstGeom prst="line">
            <a:avLst/>
          </a:prstGeom>
          <a:noFill/>
          <a:ln w="6985">
            <a:solidFill>
              <a:srgbClr val="D6DEE8"/>
            </a:solidFill>
            <a:prstDash val="solid"/>
          </a:ln>
        </p:spPr>
      </p:sp>
      <p:sp>
        <p:nvSpPr>
          <p:cNvPr id="33" name="Text 31"/>
          <p:cNvSpPr/>
          <p:nvPr/>
        </p:nvSpPr>
        <p:spPr>
          <a:xfrm>
            <a:off x="3218688" y="3826764"/>
            <a:ext cx="3557016"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Ficha funcional + matriz de resultados</a:t>
            </a:r>
            <a:endParaRPr lang="en-US" sz="1310" dirty="0"/>
          </a:p>
        </p:txBody>
      </p:sp>
      <p:sp>
        <p:nvSpPr>
          <p:cNvPr id="34" name="Shape 32"/>
          <p:cNvSpPr/>
          <p:nvPr/>
        </p:nvSpPr>
        <p:spPr>
          <a:xfrm>
            <a:off x="6858000" y="3785616"/>
            <a:ext cx="0" cy="804672"/>
          </a:xfrm>
          <a:prstGeom prst="line">
            <a:avLst/>
          </a:prstGeom>
          <a:noFill/>
          <a:ln w="6985">
            <a:solidFill>
              <a:srgbClr val="D6DEE8"/>
            </a:solidFill>
            <a:prstDash val="solid"/>
          </a:ln>
        </p:spPr>
      </p:sp>
      <p:sp>
        <p:nvSpPr>
          <p:cNvPr id="35" name="Text 33"/>
          <p:cNvSpPr/>
          <p:nvPr/>
        </p:nvSpPr>
        <p:spPr>
          <a:xfrm>
            <a:off x="6940296" y="3826764"/>
            <a:ext cx="445312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Entradas/salidas · modelos · métricas · IC</a:t>
            </a:r>
            <a:endParaRPr lang="en-US" sz="1310" dirty="0"/>
          </a:p>
        </p:txBody>
      </p:sp>
      <p:sp>
        <p:nvSpPr>
          <p:cNvPr id="36" name="Shape 34"/>
          <p:cNvSpPr/>
          <p:nvPr/>
        </p:nvSpPr>
        <p:spPr>
          <a:xfrm>
            <a:off x="713232" y="4590288"/>
            <a:ext cx="10762488" cy="0"/>
          </a:xfrm>
          <a:prstGeom prst="line">
            <a:avLst/>
          </a:prstGeom>
          <a:noFill/>
          <a:ln w="6985">
            <a:solidFill>
              <a:srgbClr val="D6DEE8"/>
            </a:solidFill>
            <a:prstDash val="solid"/>
          </a:ln>
        </p:spPr>
      </p:sp>
      <p:sp>
        <p:nvSpPr>
          <p:cNvPr id="37" name="Shape 35"/>
          <p:cNvSpPr/>
          <p:nvPr/>
        </p:nvSpPr>
        <p:spPr>
          <a:xfrm>
            <a:off x="713232" y="4590288"/>
            <a:ext cx="10762488" cy="804672"/>
          </a:xfrm>
          <a:prstGeom prst="rect">
            <a:avLst/>
          </a:prstGeom>
          <a:solidFill>
            <a:srgbClr val="EDF2F8"/>
          </a:solidFill>
          <a:ln w="12700">
            <a:solidFill>
              <a:srgbClr val="FFFFFF">
                <a:alpha val="0"/>
              </a:srgbClr>
            </a:solidFill>
            <a:prstDash val="solid"/>
          </a:ln>
        </p:spPr>
      </p:sp>
      <p:sp>
        <p:nvSpPr>
          <p:cNvPr id="38" name="Text 36"/>
          <p:cNvSpPr/>
          <p:nvPr/>
        </p:nvSpPr>
        <p:spPr>
          <a:xfrm>
            <a:off x="795528" y="4631436"/>
            <a:ext cx="225856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Registro de alertas</a:t>
            </a:r>
            <a:endParaRPr lang="en-US" sz="1310" dirty="0"/>
          </a:p>
        </p:txBody>
      </p:sp>
      <p:sp>
        <p:nvSpPr>
          <p:cNvPr id="39" name="Shape 37"/>
          <p:cNvSpPr/>
          <p:nvPr/>
        </p:nvSpPr>
        <p:spPr>
          <a:xfrm>
            <a:off x="3136392" y="4590288"/>
            <a:ext cx="0" cy="804672"/>
          </a:xfrm>
          <a:prstGeom prst="line">
            <a:avLst/>
          </a:prstGeom>
          <a:noFill/>
          <a:ln w="6985">
            <a:solidFill>
              <a:srgbClr val="D6DEE8"/>
            </a:solidFill>
            <a:prstDash val="solid"/>
          </a:ln>
        </p:spPr>
      </p:sp>
      <p:sp>
        <p:nvSpPr>
          <p:cNvPr id="40" name="Text 38"/>
          <p:cNvSpPr/>
          <p:nvPr/>
        </p:nvSpPr>
        <p:spPr>
          <a:xfrm>
            <a:off x="3218688" y="4631436"/>
            <a:ext cx="3557016"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Ficha de condiciones futuras</a:t>
            </a:r>
            <a:endParaRPr lang="en-US" sz="1310" dirty="0"/>
          </a:p>
        </p:txBody>
      </p:sp>
      <p:sp>
        <p:nvSpPr>
          <p:cNvPr id="41" name="Shape 39"/>
          <p:cNvSpPr/>
          <p:nvPr/>
        </p:nvSpPr>
        <p:spPr>
          <a:xfrm>
            <a:off x="6858000" y="4590288"/>
            <a:ext cx="0" cy="804672"/>
          </a:xfrm>
          <a:prstGeom prst="line">
            <a:avLst/>
          </a:prstGeom>
          <a:noFill/>
          <a:ln w="6985">
            <a:solidFill>
              <a:srgbClr val="D6DEE8"/>
            </a:solidFill>
            <a:prstDash val="solid"/>
          </a:ln>
        </p:spPr>
      </p:sp>
      <p:sp>
        <p:nvSpPr>
          <p:cNvPr id="42" name="Text 40"/>
          <p:cNvSpPr/>
          <p:nvPr/>
        </p:nvSpPr>
        <p:spPr>
          <a:xfrm>
            <a:off x="6940296" y="4631436"/>
            <a:ext cx="4453128" cy="722376"/>
          </a:xfrm>
          <a:prstGeom prst="rect">
            <a:avLst/>
          </a:prstGeom>
          <a:noFill/>
          <a:ln/>
        </p:spPr>
        <p:txBody>
          <a:bodyPr wrap="square" lIns="0" tIns="0" rIns="0" bIns="0" rtlCol="0" anchor="ctr">
            <a:normAutofit/>
          </a:bodyPr>
          <a:lstStyle/>
          <a:p>
            <a:pPr algn="l" indent="0" marL="0">
              <a:buNone/>
            </a:pPr>
            <a:r>
              <a:rPr lang="en-US" sz="1310" dirty="0">
                <a:solidFill>
                  <a:srgbClr val="202B3C"/>
                </a:solidFill>
                <a:latin typeface="Aptos" pitchFamily="34" charset="0"/>
                <a:ea typeface="Aptos" pitchFamily="34" charset="-122"/>
                <a:cs typeface="Aptos" pitchFamily="34" charset="-120"/>
              </a:rPr>
              <a:t>Estado proxy · horizonte · alerta · resultado</a:t>
            </a:r>
            <a:endParaRPr lang="en-US" sz="1310" dirty="0"/>
          </a:p>
        </p:txBody>
      </p:sp>
      <p:sp>
        <p:nvSpPr>
          <p:cNvPr id="43" name="Shape 41"/>
          <p:cNvSpPr/>
          <p:nvPr/>
        </p:nvSpPr>
        <p:spPr>
          <a:xfrm>
            <a:off x="713232" y="5394960"/>
            <a:ext cx="10762488" cy="0"/>
          </a:xfrm>
          <a:prstGeom prst="line">
            <a:avLst/>
          </a:prstGeom>
          <a:noFill/>
          <a:ln w="6985">
            <a:solidFill>
              <a:srgbClr val="D6DEE8"/>
            </a:solidFill>
            <a:prstDash val="solid"/>
          </a:ln>
        </p:spPr>
      </p:sp>
      <p:sp>
        <p:nvSpPr>
          <p:cNvPr id="44" name="Shape 42"/>
          <p:cNvSpPr/>
          <p:nvPr/>
        </p:nvSpPr>
        <p:spPr>
          <a:xfrm>
            <a:off x="731520" y="5596128"/>
            <a:ext cx="10716768" cy="594360"/>
          </a:xfrm>
          <a:prstGeom prst="roundRect">
            <a:avLst/>
          </a:prstGeom>
          <a:solidFill>
            <a:srgbClr val="E8F4F3"/>
          </a:solidFill>
          <a:ln w="12700">
            <a:solidFill>
              <a:srgbClr val="FFFFFF">
                <a:alpha val="0"/>
              </a:srgbClr>
            </a:solidFill>
            <a:prstDash val="solid"/>
          </a:ln>
        </p:spPr>
      </p:sp>
      <p:sp>
        <p:nvSpPr>
          <p:cNvPr id="45" name="Shape 43"/>
          <p:cNvSpPr/>
          <p:nvPr/>
        </p:nvSpPr>
        <p:spPr>
          <a:xfrm>
            <a:off x="731520" y="5596128"/>
            <a:ext cx="73152" cy="594360"/>
          </a:xfrm>
          <a:prstGeom prst="rect">
            <a:avLst/>
          </a:prstGeom>
          <a:solidFill>
            <a:srgbClr val="168B91"/>
          </a:solidFill>
          <a:ln w="12700">
            <a:solidFill>
              <a:srgbClr val="FFFFFF">
                <a:alpha val="0"/>
              </a:srgbClr>
            </a:solidFill>
            <a:prstDash val="solid"/>
          </a:ln>
        </p:spPr>
      </p:sp>
      <p:sp>
        <p:nvSpPr>
          <p:cNvPr id="46" name="Text 44"/>
          <p:cNvSpPr/>
          <p:nvPr/>
        </p:nvSpPr>
        <p:spPr>
          <a:xfrm>
            <a:off x="923544" y="5687568"/>
            <a:ext cx="10351008" cy="429768"/>
          </a:xfrm>
          <a:prstGeom prst="rect">
            <a:avLst/>
          </a:prstGeom>
          <a:noFill/>
          <a:ln/>
        </p:spPr>
        <p:txBody>
          <a:bodyPr wrap="square" lIns="0" tIns="0" rIns="0" bIns="0" rtlCol="0" anchor="ctr">
            <a:normAutofit/>
          </a:bodyPr>
          <a:lstStyle/>
          <a:p>
            <a:pPr algn="l" indent="0" marL="0">
              <a:buNone/>
            </a:pPr>
            <a:r>
              <a:rPr lang="en-US" sz="1400" b="1" dirty="0">
                <a:solidFill>
                  <a:srgbClr val="111E37"/>
                </a:solidFill>
                <a:latin typeface="Aptos" pitchFamily="34" charset="0"/>
                <a:ea typeface="Aptos" pitchFamily="34" charset="-122"/>
                <a:cs typeface="Aptos" pitchFamily="34" charset="-120"/>
              </a:rPr>
              <a:t>El instrumento estandariza el registro y su verificación; no debe confundirse con el radio, cnMaestro, Python o una biblioteca de ML.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Validez, consistencia y confiabilidad: respuesta al jurado</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Se aplican criterios adecuados a instrumentos técnicos y procedimientos computacionales, no escalas psicométricas.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13</a:t>
            </a:r>
            <a:endParaRPr lang="en-US" sz="1040" dirty="0"/>
          </a:p>
        </p:txBody>
      </p:sp>
      <p:sp>
        <p:nvSpPr>
          <p:cNvPr id="9" name="Shape 7"/>
          <p:cNvSpPr/>
          <p:nvPr/>
        </p:nvSpPr>
        <p:spPr>
          <a:xfrm>
            <a:off x="713232" y="1600200"/>
            <a:ext cx="3456432" cy="2944368"/>
          </a:xfrm>
          <a:prstGeom prst="roundRect">
            <a:avLst/>
          </a:prstGeom>
          <a:solidFill>
            <a:srgbClr val="FFFFFF"/>
          </a:solidFill>
          <a:ln w="10160">
            <a:solidFill>
              <a:srgbClr val="DBE3ED"/>
            </a:solidFill>
            <a:prstDash val="solid"/>
          </a:ln>
        </p:spPr>
      </p:sp>
      <p:sp>
        <p:nvSpPr>
          <p:cNvPr id="10" name="Shape 8"/>
          <p:cNvSpPr/>
          <p:nvPr/>
        </p:nvSpPr>
        <p:spPr>
          <a:xfrm>
            <a:off x="713232" y="1600200"/>
            <a:ext cx="64008" cy="2944368"/>
          </a:xfrm>
          <a:prstGeom prst="rect">
            <a:avLst/>
          </a:prstGeom>
          <a:solidFill>
            <a:srgbClr val="2861A1"/>
          </a:solidFill>
          <a:ln w="12700">
            <a:solidFill>
              <a:srgbClr val="FFFFFF">
                <a:alpha val="0"/>
              </a:srgbClr>
            </a:solidFill>
            <a:prstDash val="solid"/>
          </a:ln>
        </p:spPr>
      </p:sp>
      <p:sp>
        <p:nvSpPr>
          <p:cNvPr id="11" name="Text 9"/>
          <p:cNvSpPr/>
          <p:nvPr/>
        </p:nvSpPr>
        <p:spPr>
          <a:xfrm>
            <a:off x="923544" y="1737360"/>
            <a:ext cx="3044952" cy="411480"/>
          </a:xfrm>
          <a:prstGeom prst="rect">
            <a:avLst/>
          </a:prstGeom>
          <a:noFill/>
          <a:ln/>
        </p:spPr>
        <p:txBody>
          <a:bodyPr wrap="square" lIns="0" tIns="0" rIns="0" bIns="0" rtlCol="0" anchor="ctr">
            <a:normAutofit/>
          </a:bodyPr>
          <a:lstStyle/>
          <a:p>
            <a:pPr algn="l" indent="0" marL="0">
              <a:buNone/>
            </a:pPr>
            <a:r>
              <a:rPr lang="en-US" sz="1560" b="1" dirty="0">
                <a:solidFill>
                  <a:srgbClr val="111E37"/>
                </a:solidFill>
                <a:latin typeface="Aptos" pitchFamily="34" charset="0"/>
                <a:ea typeface="Aptos" pitchFamily="34" charset="-122"/>
                <a:cs typeface="Aptos" pitchFamily="34" charset="-120"/>
              </a:rPr>
              <a:t>VALIDEZ DE CONTENIDO / CORRESPONDENCIA</a:t>
            </a:r>
            <a:endParaRPr lang="en-US" sz="1560" dirty="0"/>
          </a:p>
        </p:txBody>
      </p:sp>
      <p:sp>
        <p:nvSpPr>
          <p:cNvPr id="12" name="Text 10"/>
          <p:cNvSpPr/>
          <p:nvPr/>
        </p:nvSpPr>
        <p:spPr>
          <a:xfrm>
            <a:off x="923544" y="2258568"/>
            <a:ext cx="3035808" cy="2148840"/>
          </a:xfrm>
          <a:prstGeom prst="rect">
            <a:avLst/>
          </a:prstGeom>
          <a:noFill/>
          <a:ln/>
        </p:spPr>
        <p:txBody>
          <a:bodyPr wrap="square" lIns="0" tIns="0" rIns="0" bIns="0" rtlCol="0" anchor="t">
            <a:normAutofit/>
          </a:bodyPr>
          <a:lstStyle/>
          <a:p>
            <a:pPr algn="l" indent="0" marL="0">
              <a:buNone/>
            </a:pPr>
            <a:r>
              <a:rPr lang="en-US" sz="1600" dirty="0">
                <a:solidFill>
                  <a:srgbClr val="64748B"/>
                </a:solidFill>
                <a:latin typeface="Aptos" pitchFamily="34" charset="0"/>
                <a:ea typeface="Aptos" pitchFamily="34" charset="-122"/>
                <a:cs typeface="Aptos" pitchFamily="34" charset="-120"/>
              </a:rPr>
              <a:t>Campos alineados con variables, dimensiones e indicadores; rangos técnicos admisibles; registros trazables a la fuente original.</a:t>
            </a:r>
            <a:endParaRPr lang="en-US" sz="1600" dirty="0"/>
          </a:p>
        </p:txBody>
      </p:sp>
      <p:sp>
        <p:nvSpPr>
          <p:cNvPr id="13" name="Shape 11"/>
          <p:cNvSpPr/>
          <p:nvPr/>
        </p:nvSpPr>
        <p:spPr>
          <a:xfrm>
            <a:off x="4352544" y="1600200"/>
            <a:ext cx="3456432" cy="2944368"/>
          </a:xfrm>
          <a:prstGeom prst="roundRect">
            <a:avLst/>
          </a:prstGeom>
          <a:solidFill>
            <a:srgbClr val="FFFFFF"/>
          </a:solidFill>
          <a:ln w="10160">
            <a:solidFill>
              <a:srgbClr val="DBE3ED"/>
            </a:solidFill>
            <a:prstDash val="solid"/>
          </a:ln>
        </p:spPr>
      </p:sp>
      <p:sp>
        <p:nvSpPr>
          <p:cNvPr id="14" name="Shape 12"/>
          <p:cNvSpPr/>
          <p:nvPr/>
        </p:nvSpPr>
        <p:spPr>
          <a:xfrm>
            <a:off x="4352544" y="1600200"/>
            <a:ext cx="64008" cy="2944368"/>
          </a:xfrm>
          <a:prstGeom prst="rect">
            <a:avLst/>
          </a:prstGeom>
          <a:solidFill>
            <a:srgbClr val="168B91"/>
          </a:solidFill>
          <a:ln w="12700">
            <a:solidFill>
              <a:srgbClr val="FFFFFF">
                <a:alpha val="0"/>
              </a:srgbClr>
            </a:solidFill>
            <a:prstDash val="solid"/>
          </a:ln>
        </p:spPr>
      </p:sp>
      <p:sp>
        <p:nvSpPr>
          <p:cNvPr id="15" name="Text 13"/>
          <p:cNvSpPr/>
          <p:nvPr/>
        </p:nvSpPr>
        <p:spPr>
          <a:xfrm>
            <a:off x="4562856" y="1737360"/>
            <a:ext cx="3044952" cy="411480"/>
          </a:xfrm>
          <a:prstGeom prst="rect">
            <a:avLst/>
          </a:prstGeom>
          <a:noFill/>
          <a:ln/>
        </p:spPr>
        <p:txBody>
          <a:bodyPr wrap="square" lIns="0" tIns="0" rIns="0" bIns="0" rtlCol="0" anchor="ctr">
            <a:normAutofit/>
          </a:bodyPr>
          <a:lstStyle/>
          <a:p>
            <a:pPr algn="l" indent="0" marL="0">
              <a:buNone/>
            </a:pPr>
            <a:r>
              <a:rPr lang="en-US" sz="1560" b="1" dirty="0">
                <a:solidFill>
                  <a:srgbClr val="111E37"/>
                </a:solidFill>
                <a:latin typeface="Aptos" pitchFamily="34" charset="0"/>
                <a:ea typeface="Aptos" pitchFamily="34" charset="-122"/>
                <a:cs typeface="Aptos" pitchFamily="34" charset="-120"/>
              </a:rPr>
              <a:t>CONSISTENCIA OPERATIVA</a:t>
            </a:r>
            <a:endParaRPr lang="en-US" sz="1560" dirty="0"/>
          </a:p>
        </p:txBody>
      </p:sp>
      <p:sp>
        <p:nvSpPr>
          <p:cNvPr id="16" name="Text 14"/>
          <p:cNvSpPr/>
          <p:nvPr/>
        </p:nvSpPr>
        <p:spPr>
          <a:xfrm>
            <a:off x="4562856" y="2258568"/>
            <a:ext cx="3035808" cy="2148840"/>
          </a:xfrm>
          <a:prstGeom prst="rect">
            <a:avLst/>
          </a:prstGeom>
          <a:noFill/>
          <a:ln/>
        </p:spPr>
        <p:txBody>
          <a:bodyPr wrap="square" lIns="0" tIns="0" rIns="0" bIns="0" rtlCol="0" anchor="t">
            <a:normAutofit/>
          </a:bodyPr>
          <a:lstStyle/>
          <a:p>
            <a:pPr algn="l" indent="0" marL="0">
              <a:buNone/>
            </a:pPr>
            <a:r>
              <a:rPr lang="en-US" sz="1600" dirty="0">
                <a:solidFill>
                  <a:srgbClr val="64748B"/>
                </a:solidFill>
                <a:latin typeface="Aptos" pitchFamily="34" charset="0"/>
                <a:ea typeface="Aptos" pitchFamily="34" charset="-122"/>
                <a:cs typeface="Aptos" pitchFamily="34" charset="-120"/>
              </a:rPr>
              <a:t>Unidades, formatos y reglas uniformes; mismo procedimiento de integración, depuración, etiquetado y evaluación.</a:t>
            </a:r>
            <a:endParaRPr lang="en-US" sz="1600" dirty="0"/>
          </a:p>
        </p:txBody>
      </p:sp>
      <p:sp>
        <p:nvSpPr>
          <p:cNvPr id="17" name="Shape 15"/>
          <p:cNvSpPr/>
          <p:nvPr/>
        </p:nvSpPr>
        <p:spPr>
          <a:xfrm>
            <a:off x="7991856" y="1600200"/>
            <a:ext cx="3456432" cy="2944368"/>
          </a:xfrm>
          <a:prstGeom prst="roundRect">
            <a:avLst/>
          </a:prstGeom>
          <a:solidFill>
            <a:srgbClr val="FFFFFF"/>
          </a:solidFill>
          <a:ln w="10160">
            <a:solidFill>
              <a:srgbClr val="DBE3ED"/>
            </a:solidFill>
            <a:prstDash val="solid"/>
          </a:ln>
        </p:spPr>
      </p:sp>
      <p:sp>
        <p:nvSpPr>
          <p:cNvPr id="18" name="Shape 16"/>
          <p:cNvSpPr/>
          <p:nvPr/>
        </p:nvSpPr>
        <p:spPr>
          <a:xfrm>
            <a:off x="7991856" y="1600200"/>
            <a:ext cx="64008" cy="2944368"/>
          </a:xfrm>
          <a:prstGeom prst="rect">
            <a:avLst/>
          </a:prstGeom>
          <a:solidFill>
            <a:srgbClr val="E7B755"/>
          </a:solidFill>
          <a:ln w="12700">
            <a:solidFill>
              <a:srgbClr val="FFFFFF">
                <a:alpha val="0"/>
              </a:srgbClr>
            </a:solidFill>
            <a:prstDash val="solid"/>
          </a:ln>
        </p:spPr>
      </p:sp>
      <p:sp>
        <p:nvSpPr>
          <p:cNvPr id="19" name="Text 17"/>
          <p:cNvSpPr/>
          <p:nvPr/>
        </p:nvSpPr>
        <p:spPr>
          <a:xfrm>
            <a:off x="8202168" y="1737360"/>
            <a:ext cx="3044952" cy="411480"/>
          </a:xfrm>
          <a:prstGeom prst="rect">
            <a:avLst/>
          </a:prstGeom>
          <a:noFill/>
          <a:ln/>
        </p:spPr>
        <p:txBody>
          <a:bodyPr wrap="square" lIns="0" tIns="0" rIns="0" bIns="0" rtlCol="0" anchor="ctr">
            <a:normAutofit/>
          </a:bodyPr>
          <a:lstStyle/>
          <a:p>
            <a:pPr algn="l" indent="0" marL="0">
              <a:buNone/>
            </a:pPr>
            <a:r>
              <a:rPr lang="en-US" sz="1560" b="1" dirty="0">
                <a:solidFill>
                  <a:srgbClr val="111E37"/>
                </a:solidFill>
                <a:latin typeface="Aptos" pitchFamily="34" charset="0"/>
                <a:ea typeface="Aptos" pitchFamily="34" charset="-122"/>
                <a:cs typeface="Aptos" pitchFamily="34" charset="-120"/>
              </a:rPr>
              <a:t>CONFIABILIDAD TECNOLÓGICA</a:t>
            </a:r>
            <a:endParaRPr lang="en-US" sz="1560" dirty="0"/>
          </a:p>
        </p:txBody>
      </p:sp>
      <p:sp>
        <p:nvSpPr>
          <p:cNvPr id="20" name="Text 18"/>
          <p:cNvSpPr/>
          <p:nvPr/>
        </p:nvSpPr>
        <p:spPr>
          <a:xfrm>
            <a:off x="8202168" y="2258568"/>
            <a:ext cx="3035808" cy="2148840"/>
          </a:xfrm>
          <a:prstGeom prst="rect">
            <a:avLst/>
          </a:prstGeom>
          <a:noFill/>
          <a:ln/>
        </p:spPr>
        <p:txBody>
          <a:bodyPr wrap="square" lIns="0" tIns="0" rIns="0" bIns="0" rtlCol="0" anchor="t">
            <a:normAutofit/>
          </a:bodyPr>
          <a:lstStyle/>
          <a:p>
            <a:pPr algn="l" indent="0" marL="0">
              <a:buNone/>
            </a:pPr>
            <a:r>
              <a:rPr lang="en-US" sz="1600" dirty="0">
                <a:solidFill>
                  <a:srgbClr val="64748B"/>
                </a:solidFill>
                <a:latin typeface="Aptos" pitchFamily="34" charset="0"/>
                <a:ea typeface="Aptos" pitchFamily="34" charset="-122"/>
                <a:cs typeface="Aptos" pitchFamily="34" charset="-120"/>
              </a:rPr>
              <a:t>Fuentes preservadas, ejecución determinista, semillas fijas, pruebas funcionales y flujo reproducible.</a:t>
            </a:r>
            <a:endParaRPr lang="en-US" sz="1600" dirty="0"/>
          </a:p>
        </p:txBody>
      </p:sp>
      <p:sp>
        <p:nvSpPr>
          <p:cNvPr id="21" name="Shape 19"/>
          <p:cNvSpPr/>
          <p:nvPr/>
        </p:nvSpPr>
        <p:spPr>
          <a:xfrm>
            <a:off x="722376" y="4965192"/>
            <a:ext cx="10716768" cy="914400"/>
          </a:xfrm>
          <a:prstGeom prst="roundRect">
            <a:avLst/>
          </a:prstGeom>
          <a:solidFill>
            <a:srgbClr val="FFF2EC"/>
          </a:solidFill>
          <a:ln w="12700">
            <a:solidFill>
              <a:srgbClr val="FFFFFF">
                <a:alpha val="0"/>
              </a:srgbClr>
            </a:solidFill>
            <a:prstDash val="solid"/>
          </a:ln>
        </p:spPr>
      </p:sp>
      <p:sp>
        <p:nvSpPr>
          <p:cNvPr id="22" name="Shape 20"/>
          <p:cNvSpPr/>
          <p:nvPr/>
        </p:nvSpPr>
        <p:spPr>
          <a:xfrm>
            <a:off x="722376" y="4965192"/>
            <a:ext cx="73152" cy="914400"/>
          </a:xfrm>
          <a:prstGeom prst="rect">
            <a:avLst/>
          </a:prstGeom>
          <a:solidFill>
            <a:srgbClr val="CB6D60"/>
          </a:solidFill>
          <a:ln w="12700">
            <a:solidFill>
              <a:srgbClr val="FFFFFF">
                <a:alpha val="0"/>
              </a:srgbClr>
            </a:solidFill>
            <a:prstDash val="solid"/>
          </a:ln>
        </p:spPr>
      </p:sp>
      <p:sp>
        <p:nvSpPr>
          <p:cNvPr id="23" name="Text 21"/>
          <p:cNvSpPr/>
          <p:nvPr/>
        </p:nvSpPr>
        <p:spPr>
          <a:xfrm>
            <a:off x="914400" y="5056632"/>
            <a:ext cx="10351008" cy="749808"/>
          </a:xfrm>
          <a:prstGeom prst="rect">
            <a:avLst/>
          </a:prstGeom>
          <a:noFill/>
          <a:ln/>
        </p:spPr>
        <p:txBody>
          <a:bodyPr wrap="square" lIns="0" tIns="0" rIns="0" bIns="0" rtlCol="0" anchor="ctr">
            <a:normAutofit/>
          </a:bodyPr>
          <a:lstStyle/>
          <a:p>
            <a:pPr algn="l" indent="0" marL="0">
              <a:buNone/>
            </a:pPr>
            <a:r>
              <a:rPr lang="en-US" sz="1560" b="1" dirty="0">
                <a:solidFill>
                  <a:srgbClr val="111E37"/>
                </a:solidFill>
                <a:latin typeface="Aptos" pitchFamily="34" charset="0"/>
                <a:ea typeface="Aptos" pitchFamily="34" charset="-122"/>
                <a:cs typeface="Aptos" pitchFamily="34" charset="-120"/>
              </a:rPr>
              <a:t>No corresponde calcular alfa de Cronbach. La tesis NO documenta una validación formal por jueces expertos ni una calibración externa: no debe afirmarse que existió.</a:t>
            </a:r>
            <a:endParaRPr lang="en-US" sz="15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Cadena de trazabilidad: del dato al resultado</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Cada inferencia se vincula con una fuente, una transformación, un instrumento y una evidencia.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14</a:t>
            </a:r>
            <a:endParaRPr lang="en-US" sz="1040" dirty="0"/>
          </a:p>
        </p:txBody>
      </p:sp>
      <p:sp>
        <p:nvSpPr>
          <p:cNvPr id="9" name="Shape 7"/>
          <p:cNvSpPr/>
          <p:nvPr/>
        </p:nvSpPr>
        <p:spPr>
          <a:xfrm>
            <a:off x="640080" y="1837944"/>
            <a:ext cx="1746504" cy="1874520"/>
          </a:xfrm>
          <a:prstGeom prst="roundRect">
            <a:avLst/>
          </a:prstGeom>
          <a:solidFill>
            <a:srgbClr val="FFFFFF"/>
          </a:solidFill>
          <a:ln w="10160">
            <a:solidFill>
              <a:srgbClr val="DBE3ED"/>
            </a:solidFill>
            <a:prstDash val="solid"/>
          </a:ln>
        </p:spPr>
      </p:sp>
      <p:sp>
        <p:nvSpPr>
          <p:cNvPr id="10" name="Text 8"/>
          <p:cNvSpPr/>
          <p:nvPr/>
        </p:nvSpPr>
        <p:spPr>
          <a:xfrm>
            <a:off x="804672"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168B91"/>
                </a:solidFill>
                <a:latin typeface="Aptos" pitchFamily="34" charset="0"/>
                <a:ea typeface="Aptos" pitchFamily="34" charset="-122"/>
                <a:cs typeface="Aptos" pitchFamily="34" charset="-120"/>
              </a:rPr>
              <a:t>01</a:t>
            </a:r>
            <a:endParaRPr lang="en-US" sz="1200" dirty="0"/>
          </a:p>
        </p:txBody>
      </p:sp>
      <p:sp>
        <p:nvSpPr>
          <p:cNvPr id="11" name="Text 9"/>
          <p:cNvSpPr/>
          <p:nvPr/>
        </p:nvSpPr>
        <p:spPr>
          <a:xfrm>
            <a:off x="795528"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Fuente primaria</a:t>
            </a:r>
            <a:endParaRPr lang="en-US" sz="1570" dirty="0"/>
          </a:p>
        </p:txBody>
      </p:sp>
      <p:sp>
        <p:nvSpPr>
          <p:cNvPr id="12" name="Text 10"/>
          <p:cNvSpPr/>
          <p:nvPr/>
        </p:nvSpPr>
        <p:spPr>
          <a:xfrm>
            <a:off x="795528"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64748B"/>
                </a:solidFill>
                <a:latin typeface="Aptos" pitchFamily="34" charset="0"/>
                <a:ea typeface="Aptos" pitchFamily="34" charset="-122"/>
                <a:cs typeface="Aptos" pitchFamily="34" charset="-120"/>
              </a:rPr>
              <a:t>90 archivos AP</a:t>
            </a:r>
            <a:endParaRPr lang="en-US" sz="1250" dirty="0"/>
          </a:p>
        </p:txBody>
      </p:sp>
      <p:sp>
        <p:nvSpPr>
          <p:cNvPr id="13" name="Shape 11"/>
          <p:cNvSpPr/>
          <p:nvPr/>
        </p:nvSpPr>
        <p:spPr>
          <a:xfrm>
            <a:off x="2404872" y="2779776"/>
            <a:ext cx="155448" cy="0"/>
          </a:xfrm>
          <a:prstGeom prst="line">
            <a:avLst/>
          </a:prstGeom>
          <a:noFill/>
          <a:ln w="17780">
            <a:solidFill>
              <a:srgbClr val="E7B755"/>
            </a:solidFill>
            <a:prstDash val="solid"/>
            <a:headEnd type="none"/>
            <a:tailEnd type="triangle"/>
          </a:ln>
        </p:spPr>
      </p:sp>
      <p:sp>
        <p:nvSpPr>
          <p:cNvPr id="14" name="Shape 12"/>
          <p:cNvSpPr/>
          <p:nvPr/>
        </p:nvSpPr>
        <p:spPr>
          <a:xfrm>
            <a:off x="2578608" y="1837944"/>
            <a:ext cx="1746504" cy="1874520"/>
          </a:xfrm>
          <a:prstGeom prst="roundRect">
            <a:avLst/>
          </a:prstGeom>
          <a:solidFill>
            <a:srgbClr val="FFFFFF"/>
          </a:solidFill>
          <a:ln w="10160">
            <a:solidFill>
              <a:srgbClr val="DBE3ED"/>
            </a:solidFill>
            <a:prstDash val="solid"/>
          </a:ln>
        </p:spPr>
      </p:sp>
      <p:sp>
        <p:nvSpPr>
          <p:cNvPr id="15" name="Text 13"/>
          <p:cNvSpPr/>
          <p:nvPr/>
        </p:nvSpPr>
        <p:spPr>
          <a:xfrm>
            <a:off x="2743200"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168B91"/>
                </a:solidFill>
                <a:latin typeface="Aptos" pitchFamily="34" charset="0"/>
                <a:ea typeface="Aptos" pitchFamily="34" charset="-122"/>
                <a:cs typeface="Aptos" pitchFamily="34" charset="-120"/>
              </a:rPr>
              <a:t>02</a:t>
            </a:r>
            <a:endParaRPr lang="en-US" sz="1200" dirty="0"/>
          </a:p>
        </p:txBody>
      </p:sp>
      <p:sp>
        <p:nvSpPr>
          <p:cNvPr id="16" name="Text 14"/>
          <p:cNvSpPr/>
          <p:nvPr/>
        </p:nvSpPr>
        <p:spPr>
          <a:xfrm>
            <a:off x="2734056"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Instrumento</a:t>
            </a:r>
            <a:endParaRPr lang="en-US" sz="1570" dirty="0"/>
          </a:p>
        </p:txBody>
      </p:sp>
      <p:sp>
        <p:nvSpPr>
          <p:cNvPr id="17" name="Text 15"/>
          <p:cNvSpPr/>
          <p:nvPr/>
        </p:nvSpPr>
        <p:spPr>
          <a:xfrm>
            <a:off x="2734056"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64748B"/>
                </a:solidFill>
                <a:latin typeface="Aptos" pitchFamily="34" charset="0"/>
                <a:ea typeface="Aptos" pitchFamily="34" charset="-122"/>
                <a:cs typeface="Aptos" pitchFamily="34" charset="-120"/>
              </a:rPr>
              <a:t>Ficha digital</a:t>
            </a:r>
            <a:endParaRPr lang="en-US" sz="1250" dirty="0"/>
          </a:p>
        </p:txBody>
      </p:sp>
      <p:sp>
        <p:nvSpPr>
          <p:cNvPr id="18" name="Shape 16"/>
          <p:cNvSpPr/>
          <p:nvPr/>
        </p:nvSpPr>
        <p:spPr>
          <a:xfrm>
            <a:off x="4343400" y="2779776"/>
            <a:ext cx="155448" cy="0"/>
          </a:xfrm>
          <a:prstGeom prst="line">
            <a:avLst/>
          </a:prstGeom>
          <a:noFill/>
          <a:ln w="17780">
            <a:solidFill>
              <a:srgbClr val="E7B755"/>
            </a:solidFill>
            <a:prstDash val="solid"/>
            <a:headEnd type="none"/>
            <a:tailEnd type="triangle"/>
          </a:ln>
        </p:spPr>
      </p:sp>
      <p:sp>
        <p:nvSpPr>
          <p:cNvPr id="19" name="Shape 17"/>
          <p:cNvSpPr/>
          <p:nvPr/>
        </p:nvSpPr>
        <p:spPr>
          <a:xfrm>
            <a:off x="4517136" y="1837944"/>
            <a:ext cx="1746504" cy="1874520"/>
          </a:xfrm>
          <a:prstGeom prst="roundRect">
            <a:avLst/>
          </a:prstGeom>
          <a:solidFill>
            <a:srgbClr val="FFFFFF"/>
          </a:solidFill>
          <a:ln w="10160">
            <a:solidFill>
              <a:srgbClr val="DBE3ED"/>
            </a:solidFill>
            <a:prstDash val="solid"/>
          </a:ln>
        </p:spPr>
      </p:sp>
      <p:sp>
        <p:nvSpPr>
          <p:cNvPr id="20" name="Text 18"/>
          <p:cNvSpPr/>
          <p:nvPr/>
        </p:nvSpPr>
        <p:spPr>
          <a:xfrm>
            <a:off x="4681728"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168B91"/>
                </a:solidFill>
                <a:latin typeface="Aptos" pitchFamily="34" charset="0"/>
                <a:ea typeface="Aptos" pitchFamily="34" charset="-122"/>
                <a:cs typeface="Aptos" pitchFamily="34" charset="-120"/>
              </a:rPr>
              <a:t>03</a:t>
            </a:r>
            <a:endParaRPr lang="en-US" sz="1200" dirty="0"/>
          </a:p>
        </p:txBody>
      </p:sp>
      <p:sp>
        <p:nvSpPr>
          <p:cNvPr id="21" name="Text 19"/>
          <p:cNvSpPr/>
          <p:nvPr/>
        </p:nvSpPr>
        <p:spPr>
          <a:xfrm>
            <a:off x="4672584"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Control</a:t>
            </a:r>
            <a:endParaRPr lang="en-US" sz="1570" dirty="0"/>
          </a:p>
        </p:txBody>
      </p:sp>
      <p:sp>
        <p:nvSpPr>
          <p:cNvPr id="22" name="Text 20"/>
          <p:cNvSpPr/>
          <p:nvPr/>
        </p:nvSpPr>
        <p:spPr>
          <a:xfrm>
            <a:off x="4672584"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64748B"/>
                </a:solidFill>
                <a:latin typeface="Aptos" pitchFamily="34" charset="0"/>
                <a:ea typeface="Aptos" pitchFamily="34" charset="-122"/>
                <a:cs typeface="Aptos" pitchFamily="34" charset="-120"/>
              </a:rPr>
              <a:t>Ficha calidad</a:t>
            </a:r>
            <a:endParaRPr lang="en-US" sz="1250" dirty="0"/>
          </a:p>
        </p:txBody>
      </p:sp>
      <p:sp>
        <p:nvSpPr>
          <p:cNvPr id="23" name="Shape 21"/>
          <p:cNvSpPr/>
          <p:nvPr/>
        </p:nvSpPr>
        <p:spPr>
          <a:xfrm>
            <a:off x="6281928" y="2779776"/>
            <a:ext cx="155448" cy="0"/>
          </a:xfrm>
          <a:prstGeom prst="line">
            <a:avLst/>
          </a:prstGeom>
          <a:noFill/>
          <a:ln w="17780">
            <a:solidFill>
              <a:srgbClr val="E7B755"/>
            </a:solidFill>
            <a:prstDash val="solid"/>
            <a:headEnd type="none"/>
            <a:tailEnd type="triangle"/>
          </a:ln>
        </p:spPr>
      </p:sp>
      <p:sp>
        <p:nvSpPr>
          <p:cNvPr id="24" name="Shape 22"/>
          <p:cNvSpPr/>
          <p:nvPr/>
        </p:nvSpPr>
        <p:spPr>
          <a:xfrm>
            <a:off x="6455664" y="1837944"/>
            <a:ext cx="1746504" cy="1874520"/>
          </a:xfrm>
          <a:prstGeom prst="roundRect">
            <a:avLst/>
          </a:prstGeom>
          <a:solidFill>
            <a:srgbClr val="FFFFFF"/>
          </a:solidFill>
          <a:ln w="10160">
            <a:solidFill>
              <a:srgbClr val="DBE3ED"/>
            </a:solidFill>
            <a:prstDash val="solid"/>
          </a:ln>
        </p:spPr>
      </p:sp>
      <p:sp>
        <p:nvSpPr>
          <p:cNvPr id="25" name="Text 23"/>
          <p:cNvSpPr/>
          <p:nvPr/>
        </p:nvSpPr>
        <p:spPr>
          <a:xfrm>
            <a:off x="6620256"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168B91"/>
                </a:solidFill>
                <a:latin typeface="Aptos" pitchFamily="34" charset="0"/>
                <a:ea typeface="Aptos" pitchFamily="34" charset="-122"/>
                <a:cs typeface="Aptos" pitchFamily="34" charset="-120"/>
              </a:rPr>
              <a:t>04</a:t>
            </a:r>
            <a:endParaRPr lang="en-US" sz="1200" dirty="0"/>
          </a:p>
        </p:txBody>
      </p:sp>
      <p:sp>
        <p:nvSpPr>
          <p:cNvPr id="26" name="Text 24"/>
          <p:cNvSpPr/>
          <p:nvPr/>
        </p:nvSpPr>
        <p:spPr>
          <a:xfrm>
            <a:off x="6611112"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Proceso</a:t>
            </a:r>
            <a:endParaRPr lang="en-US" sz="1570" dirty="0"/>
          </a:p>
        </p:txBody>
      </p:sp>
      <p:sp>
        <p:nvSpPr>
          <p:cNvPr id="27" name="Text 25"/>
          <p:cNvSpPr/>
          <p:nvPr/>
        </p:nvSpPr>
        <p:spPr>
          <a:xfrm>
            <a:off x="6611112"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64748B"/>
                </a:solidFill>
                <a:latin typeface="Aptos" pitchFamily="34" charset="0"/>
                <a:ea typeface="Aptos" pitchFamily="34" charset="-122"/>
                <a:cs typeface="Aptos" pitchFamily="34" charset="-120"/>
              </a:rPr>
              <a:t>Scripts + parámetros</a:t>
            </a:r>
            <a:endParaRPr lang="en-US" sz="1250" dirty="0"/>
          </a:p>
        </p:txBody>
      </p:sp>
      <p:sp>
        <p:nvSpPr>
          <p:cNvPr id="28" name="Shape 26"/>
          <p:cNvSpPr/>
          <p:nvPr/>
        </p:nvSpPr>
        <p:spPr>
          <a:xfrm>
            <a:off x="8220456" y="2779776"/>
            <a:ext cx="155448" cy="0"/>
          </a:xfrm>
          <a:prstGeom prst="line">
            <a:avLst/>
          </a:prstGeom>
          <a:noFill/>
          <a:ln w="17780">
            <a:solidFill>
              <a:srgbClr val="E7B755"/>
            </a:solidFill>
            <a:prstDash val="solid"/>
            <a:headEnd type="none"/>
            <a:tailEnd type="triangle"/>
          </a:ln>
        </p:spPr>
      </p:sp>
      <p:sp>
        <p:nvSpPr>
          <p:cNvPr id="29" name="Shape 27"/>
          <p:cNvSpPr/>
          <p:nvPr/>
        </p:nvSpPr>
        <p:spPr>
          <a:xfrm>
            <a:off x="8394192" y="1837944"/>
            <a:ext cx="1746504" cy="1874520"/>
          </a:xfrm>
          <a:prstGeom prst="roundRect">
            <a:avLst/>
          </a:prstGeom>
          <a:solidFill>
            <a:srgbClr val="FFFFFF"/>
          </a:solidFill>
          <a:ln w="10160">
            <a:solidFill>
              <a:srgbClr val="DBE3ED"/>
            </a:solidFill>
            <a:prstDash val="solid"/>
          </a:ln>
        </p:spPr>
      </p:sp>
      <p:sp>
        <p:nvSpPr>
          <p:cNvPr id="30" name="Text 28"/>
          <p:cNvSpPr/>
          <p:nvPr/>
        </p:nvSpPr>
        <p:spPr>
          <a:xfrm>
            <a:off x="8558784"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168B91"/>
                </a:solidFill>
                <a:latin typeface="Aptos" pitchFamily="34" charset="0"/>
                <a:ea typeface="Aptos" pitchFamily="34" charset="-122"/>
                <a:cs typeface="Aptos" pitchFamily="34" charset="-120"/>
              </a:rPr>
              <a:t>05</a:t>
            </a:r>
            <a:endParaRPr lang="en-US" sz="1200" dirty="0"/>
          </a:p>
        </p:txBody>
      </p:sp>
      <p:sp>
        <p:nvSpPr>
          <p:cNvPr id="31" name="Text 29"/>
          <p:cNvSpPr/>
          <p:nvPr/>
        </p:nvSpPr>
        <p:spPr>
          <a:xfrm>
            <a:off x="8549640"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Salida</a:t>
            </a:r>
            <a:endParaRPr lang="en-US" sz="1570" dirty="0"/>
          </a:p>
        </p:txBody>
      </p:sp>
      <p:sp>
        <p:nvSpPr>
          <p:cNvPr id="32" name="Text 30"/>
          <p:cNvSpPr/>
          <p:nvPr/>
        </p:nvSpPr>
        <p:spPr>
          <a:xfrm>
            <a:off x="8549640"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64748B"/>
                </a:solidFill>
                <a:latin typeface="Aptos" pitchFamily="34" charset="0"/>
                <a:ea typeface="Aptos" pitchFamily="34" charset="-122"/>
                <a:cs typeface="Aptos" pitchFamily="34" charset="-120"/>
              </a:rPr>
              <a:t>Matriz / figuras</a:t>
            </a:r>
            <a:endParaRPr lang="en-US" sz="1250" dirty="0"/>
          </a:p>
        </p:txBody>
      </p:sp>
      <p:sp>
        <p:nvSpPr>
          <p:cNvPr id="33" name="Shape 31"/>
          <p:cNvSpPr/>
          <p:nvPr/>
        </p:nvSpPr>
        <p:spPr>
          <a:xfrm>
            <a:off x="10158984" y="2779776"/>
            <a:ext cx="155448" cy="0"/>
          </a:xfrm>
          <a:prstGeom prst="line">
            <a:avLst/>
          </a:prstGeom>
          <a:noFill/>
          <a:ln w="17780">
            <a:solidFill>
              <a:srgbClr val="E7B755"/>
            </a:solidFill>
            <a:prstDash val="solid"/>
            <a:headEnd type="none"/>
            <a:tailEnd type="triangle"/>
          </a:ln>
        </p:spPr>
      </p:sp>
      <p:sp>
        <p:nvSpPr>
          <p:cNvPr id="34" name="Shape 32"/>
          <p:cNvSpPr/>
          <p:nvPr/>
        </p:nvSpPr>
        <p:spPr>
          <a:xfrm>
            <a:off x="10332720" y="1837944"/>
            <a:ext cx="1746504" cy="1874520"/>
          </a:xfrm>
          <a:prstGeom prst="roundRect">
            <a:avLst/>
          </a:prstGeom>
          <a:solidFill>
            <a:srgbClr val="111E37"/>
          </a:solidFill>
          <a:ln w="10160">
            <a:solidFill>
              <a:srgbClr val="DBE3ED"/>
            </a:solidFill>
            <a:prstDash val="solid"/>
          </a:ln>
        </p:spPr>
      </p:sp>
      <p:sp>
        <p:nvSpPr>
          <p:cNvPr id="35" name="Text 33"/>
          <p:cNvSpPr/>
          <p:nvPr/>
        </p:nvSpPr>
        <p:spPr>
          <a:xfrm>
            <a:off x="10497312" y="2039112"/>
            <a:ext cx="1353312" cy="246888"/>
          </a:xfrm>
          <a:prstGeom prst="rect">
            <a:avLst/>
          </a:prstGeom>
          <a:noFill/>
          <a:ln/>
        </p:spPr>
        <p:txBody>
          <a:bodyPr wrap="square" lIns="0" tIns="0" rIns="0" bIns="0" rtlCol="0" anchor="ctr">
            <a:normAutofit/>
          </a:bodyPr>
          <a:lstStyle/>
          <a:p>
            <a:pPr algn="l" indent="0" marL="0">
              <a:buNone/>
            </a:pPr>
            <a:r>
              <a:rPr lang="en-US" sz="1200" b="1" dirty="0">
                <a:solidFill>
                  <a:srgbClr val="F4CE84"/>
                </a:solidFill>
                <a:latin typeface="Aptos" pitchFamily="34" charset="0"/>
                <a:ea typeface="Aptos" pitchFamily="34" charset="-122"/>
                <a:cs typeface="Aptos" pitchFamily="34" charset="-120"/>
              </a:rPr>
              <a:t>06</a:t>
            </a:r>
            <a:endParaRPr lang="en-US" sz="1200" dirty="0"/>
          </a:p>
        </p:txBody>
      </p:sp>
      <p:sp>
        <p:nvSpPr>
          <p:cNvPr id="36" name="Text 34"/>
          <p:cNvSpPr/>
          <p:nvPr/>
        </p:nvSpPr>
        <p:spPr>
          <a:xfrm>
            <a:off x="10488168" y="2404872"/>
            <a:ext cx="1453896" cy="438912"/>
          </a:xfrm>
          <a:prstGeom prst="rect">
            <a:avLst/>
          </a:prstGeom>
          <a:noFill/>
          <a:ln/>
        </p:spPr>
        <p:txBody>
          <a:bodyPr wrap="square" lIns="0" tIns="0" rIns="0" bIns="0" rtlCol="0" anchor="ctr">
            <a:normAutofit/>
          </a:bodyPr>
          <a:lstStyle/>
          <a:p>
            <a:pPr algn="l" indent="0" marL="0">
              <a:buNone/>
            </a:pPr>
            <a:r>
              <a:rPr lang="en-US" sz="1570" b="1" dirty="0">
                <a:solidFill>
                  <a:srgbClr val="FFFFFF"/>
                </a:solidFill>
                <a:latin typeface="Aptos" pitchFamily="34" charset="0"/>
                <a:ea typeface="Aptos" pitchFamily="34" charset="-122"/>
                <a:cs typeface="Aptos" pitchFamily="34" charset="-120"/>
              </a:rPr>
              <a:t>Decisión</a:t>
            </a:r>
            <a:endParaRPr lang="en-US" sz="1570" dirty="0"/>
          </a:p>
        </p:txBody>
      </p:sp>
      <p:sp>
        <p:nvSpPr>
          <p:cNvPr id="37" name="Text 35"/>
          <p:cNvSpPr/>
          <p:nvPr/>
        </p:nvSpPr>
        <p:spPr>
          <a:xfrm>
            <a:off x="10488168" y="3017520"/>
            <a:ext cx="1444752" cy="438912"/>
          </a:xfrm>
          <a:prstGeom prst="rect">
            <a:avLst/>
          </a:prstGeom>
          <a:noFill/>
          <a:ln/>
        </p:spPr>
        <p:txBody>
          <a:bodyPr wrap="square" lIns="0" tIns="0" rIns="0" bIns="0" rtlCol="0" anchor="ctr">
            <a:normAutofit/>
          </a:bodyPr>
          <a:lstStyle/>
          <a:p>
            <a:pPr algn="l" indent="0" marL="0">
              <a:buNone/>
            </a:pPr>
            <a:r>
              <a:rPr lang="en-US" sz="1250" dirty="0">
                <a:solidFill>
                  <a:srgbClr val="C5D4E7"/>
                </a:solidFill>
                <a:latin typeface="Aptos" pitchFamily="34" charset="0"/>
                <a:ea typeface="Aptos" pitchFamily="34" charset="-122"/>
                <a:cs typeface="Aptos" pitchFamily="34" charset="-120"/>
              </a:rPr>
              <a:t>Objetivos e hipótesis</a:t>
            </a:r>
            <a:endParaRPr lang="en-US" sz="1250" dirty="0"/>
          </a:p>
        </p:txBody>
      </p:sp>
      <p:sp>
        <p:nvSpPr>
          <p:cNvPr id="38" name="Shape 36"/>
          <p:cNvSpPr/>
          <p:nvPr/>
        </p:nvSpPr>
        <p:spPr>
          <a:xfrm>
            <a:off x="731520" y="4197096"/>
            <a:ext cx="2176272" cy="265176"/>
          </a:xfrm>
          <a:prstGeom prst="roundRect">
            <a:avLst/>
          </a:prstGeom>
          <a:solidFill>
            <a:srgbClr val="E8F4F3"/>
          </a:solidFill>
          <a:ln w="12700">
            <a:solidFill>
              <a:srgbClr val="FFFFFF">
                <a:alpha val="0"/>
              </a:srgbClr>
            </a:solidFill>
            <a:prstDash val="solid"/>
          </a:ln>
        </p:spPr>
      </p:sp>
      <p:sp>
        <p:nvSpPr>
          <p:cNvPr id="39" name="Text 37"/>
          <p:cNvSpPr/>
          <p:nvPr/>
        </p:nvSpPr>
        <p:spPr>
          <a:xfrm>
            <a:off x="813816" y="4197096"/>
            <a:ext cx="201168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168B91"/>
                </a:solidFill>
                <a:latin typeface="Aptos" pitchFamily="34" charset="0"/>
                <a:ea typeface="Aptos" pitchFamily="34" charset="-122"/>
                <a:cs typeface="Aptos" pitchFamily="34" charset="-120"/>
              </a:rPr>
              <a:t>EVIDENCIA DOCUMENTADA</a:t>
            </a:r>
            <a:endParaRPr lang="en-US" sz="940" dirty="0"/>
          </a:p>
        </p:txBody>
      </p:sp>
      <p:sp>
        <p:nvSpPr>
          <p:cNvPr id="40" name="Shape 38"/>
          <p:cNvSpPr/>
          <p:nvPr/>
        </p:nvSpPr>
        <p:spPr>
          <a:xfrm>
            <a:off x="801014" y="4723790"/>
            <a:ext cx="98755" cy="98755"/>
          </a:xfrm>
          <a:prstGeom prst="ellipse">
            <a:avLst/>
          </a:prstGeom>
          <a:solidFill>
            <a:srgbClr val="168B91"/>
          </a:solidFill>
          <a:ln w="12700">
            <a:solidFill>
              <a:srgbClr val="FFFFFF">
                <a:alpha val="0"/>
              </a:srgbClr>
            </a:solidFill>
            <a:prstDash val="solid"/>
          </a:ln>
        </p:spPr>
      </p:sp>
      <p:sp>
        <p:nvSpPr>
          <p:cNvPr id="41" name="Text 39"/>
          <p:cNvSpPr/>
          <p:nvPr/>
        </p:nvSpPr>
        <p:spPr>
          <a:xfrm>
            <a:off x="1005840" y="4626864"/>
            <a:ext cx="10524744" cy="411480"/>
          </a:xfrm>
          <a:prstGeom prst="rect">
            <a:avLst/>
          </a:prstGeom>
          <a:noFill/>
          <a:ln/>
        </p:spPr>
        <p:txBody>
          <a:bodyPr wrap="square" lIns="0" tIns="0" rIns="0" bIns="0" rtlCol="0" anchor="ctr">
            <a:normAutofit/>
          </a:bodyPr>
          <a:lstStyle/>
          <a:p>
            <a:pPr algn="l" indent="0" marL="0">
              <a:buNone/>
            </a:pPr>
            <a:r>
              <a:rPr lang="en-US" sz="1490" dirty="0">
                <a:solidFill>
                  <a:srgbClr val="202B3C"/>
                </a:solidFill>
                <a:latin typeface="Aptos" pitchFamily="34" charset="0"/>
                <a:ea typeface="Aptos" pitchFamily="34" charset="-122"/>
                <a:cs typeface="Aptos" pitchFamily="34" charset="-120"/>
              </a:rPr>
              <a:t>Anexos 2–6: campos, criterios, verificaciones, resultados y alertas.</a:t>
            </a:r>
            <a:endParaRPr lang="en-US" sz="1490" dirty="0"/>
          </a:p>
        </p:txBody>
      </p:sp>
      <p:sp>
        <p:nvSpPr>
          <p:cNvPr id="42" name="Shape 40"/>
          <p:cNvSpPr/>
          <p:nvPr/>
        </p:nvSpPr>
        <p:spPr>
          <a:xfrm>
            <a:off x="801014" y="5199278"/>
            <a:ext cx="98755" cy="98755"/>
          </a:xfrm>
          <a:prstGeom prst="ellipse">
            <a:avLst/>
          </a:prstGeom>
          <a:solidFill>
            <a:srgbClr val="168B91"/>
          </a:solidFill>
          <a:ln w="12700">
            <a:solidFill>
              <a:srgbClr val="FFFFFF">
                <a:alpha val="0"/>
              </a:srgbClr>
            </a:solidFill>
            <a:prstDash val="solid"/>
          </a:ln>
        </p:spPr>
      </p:sp>
      <p:sp>
        <p:nvSpPr>
          <p:cNvPr id="43" name="Text 41"/>
          <p:cNvSpPr/>
          <p:nvPr/>
        </p:nvSpPr>
        <p:spPr>
          <a:xfrm>
            <a:off x="1005840" y="5102352"/>
            <a:ext cx="10524744" cy="411480"/>
          </a:xfrm>
          <a:prstGeom prst="rect">
            <a:avLst/>
          </a:prstGeom>
          <a:noFill/>
          <a:ln/>
        </p:spPr>
        <p:txBody>
          <a:bodyPr wrap="square" lIns="0" tIns="0" rIns="0" bIns="0" rtlCol="0" anchor="ctr">
            <a:normAutofit/>
          </a:bodyPr>
          <a:lstStyle/>
          <a:p>
            <a:pPr algn="l" indent="0" marL="0">
              <a:buNone/>
            </a:pPr>
            <a:r>
              <a:rPr lang="en-US" sz="1490" dirty="0">
                <a:solidFill>
                  <a:srgbClr val="202B3C"/>
                </a:solidFill>
                <a:latin typeface="Aptos" pitchFamily="34" charset="0"/>
                <a:ea typeface="Aptos" pitchFamily="34" charset="-122"/>
                <a:cs typeface="Aptos" pitchFamily="34" charset="-120"/>
              </a:rPr>
              <a:t>Capítulo IV: métricas, tablas, figuras y decisiones de contraste.</a:t>
            </a:r>
            <a:endParaRPr lang="en-US" sz="1490" dirty="0"/>
          </a:p>
        </p:txBody>
      </p:sp>
      <p:sp>
        <p:nvSpPr>
          <p:cNvPr id="44" name="Shape 42"/>
          <p:cNvSpPr/>
          <p:nvPr/>
        </p:nvSpPr>
        <p:spPr>
          <a:xfrm>
            <a:off x="801014" y="5674766"/>
            <a:ext cx="98755" cy="98755"/>
          </a:xfrm>
          <a:prstGeom prst="ellipse">
            <a:avLst/>
          </a:prstGeom>
          <a:solidFill>
            <a:srgbClr val="168B91"/>
          </a:solidFill>
          <a:ln w="12700">
            <a:solidFill>
              <a:srgbClr val="FFFFFF">
                <a:alpha val="0"/>
              </a:srgbClr>
            </a:solidFill>
            <a:prstDash val="solid"/>
          </a:ln>
        </p:spPr>
      </p:sp>
      <p:sp>
        <p:nvSpPr>
          <p:cNvPr id="45" name="Text 43"/>
          <p:cNvSpPr/>
          <p:nvPr/>
        </p:nvSpPr>
        <p:spPr>
          <a:xfrm>
            <a:off x="1005840" y="5577840"/>
            <a:ext cx="10524744" cy="411480"/>
          </a:xfrm>
          <a:prstGeom prst="rect">
            <a:avLst/>
          </a:prstGeom>
          <a:noFill/>
          <a:ln/>
        </p:spPr>
        <p:txBody>
          <a:bodyPr wrap="square" lIns="0" tIns="0" rIns="0" bIns="0" rtlCol="0" anchor="ctr">
            <a:normAutofit/>
          </a:bodyPr>
          <a:lstStyle/>
          <a:p>
            <a:pPr algn="l" indent="0" marL="0">
              <a:buNone/>
            </a:pPr>
            <a:r>
              <a:rPr lang="en-US" sz="1490" dirty="0">
                <a:solidFill>
                  <a:srgbClr val="202B3C"/>
                </a:solidFill>
                <a:latin typeface="Aptos" pitchFamily="34" charset="0"/>
                <a:ea typeface="Aptos" pitchFamily="34" charset="-122"/>
                <a:cs typeface="Aptos" pitchFamily="34" charset="-120"/>
              </a:rPr>
              <a:t>Repositorio público v1.0.0 citado en la tesis: código y productos reproducibles.</a:t>
            </a:r>
            <a:endParaRPr lang="en-US" sz="14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Operacionalización de variables — variable independiente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VI: sistema inteligente basado en analítica de datos temporales.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 (operacionalización); síntesis para exposición.</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15</a:t>
            </a:r>
            <a:endParaRPr lang="en-US" sz="1040" dirty="0"/>
          </a:p>
        </p:txBody>
      </p:sp>
      <p:sp>
        <p:nvSpPr>
          <p:cNvPr id="9" name="Shape 7"/>
          <p:cNvSpPr/>
          <p:nvPr/>
        </p:nvSpPr>
        <p:spPr>
          <a:xfrm>
            <a:off x="731520" y="1764792"/>
            <a:ext cx="10698480" cy="539496"/>
          </a:xfrm>
          <a:prstGeom prst="rect">
            <a:avLst/>
          </a:prstGeom>
          <a:solidFill>
            <a:srgbClr val="111E37"/>
          </a:solidFill>
          <a:ln w="12700">
            <a:solidFill>
              <a:srgbClr val="FFFFFF">
                <a:alpha val="0"/>
              </a:srgbClr>
            </a:solidFill>
            <a:prstDash val="solid"/>
          </a:ln>
        </p:spPr>
      </p:sp>
      <p:sp>
        <p:nvSpPr>
          <p:cNvPr id="10" name="Text 8"/>
          <p:cNvSpPr/>
          <p:nvPr/>
        </p:nvSpPr>
        <p:spPr>
          <a:xfrm>
            <a:off x="813816" y="1805940"/>
            <a:ext cx="2167128"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DIMENSIÓN</a:t>
            </a:r>
            <a:endParaRPr lang="en-US" sz="1200" dirty="0"/>
          </a:p>
        </p:txBody>
      </p:sp>
      <p:sp>
        <p:nvSpPr>
          <p:cNvPr id="11" name="Shape 9"/>
          <p:cNvSpPr/>
          <p:nvPr/>
        </p:nvSpPr>
        <p:spPr>
          <a:xfrm>
            <a:off x="3063240" y="1764792"/>
            <a:ext cx="0" cy="539496"/>
          </a:xfrm>
          <a:prstGeom prst="line">
            <a:avLst/>
          </a:prstGeom>
          <a:noFill/>
          <a:ln w="6985">
            <a:solidFill>
              <a:srgbClr val="506078"/>
            </a:solidFill>
            <a:prstDash val="solid"/>
          </a:ln>
        </p:spPr>
      </p:sp>
      <p:sp>
        <p:nvSpPr>
          <p:cNvPr id="12" name="Text 10"/>
          <p:cNvSpPr/>
          <p:nvPr/>
        </p:nvSpPr>
        <p:spPr>
          <a:xfrm>
            <a:off x="3145536" y="1805940"/>
            <a:ext cx="4754880"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INDICADORES OPERACIONALIZADOS</a:t>
            </a:r>
            <a:endParaRPr lang="en-US" sz="1200" dirty="0"/>
          </a:p>
        </p:txBody>
      </p:sp>
      <p:sp>
        <p:nvSpPr>
          <p:cNvPr id="13" name="Shape 11"/>
          <p:cNvSpPr/>
          <p:nvPr/>
        </p:nvSpPr>
        <p:spPr>
          <a:xfrm>
            <a:off x="7982712" y="1764792"/>
            <a:ext cx="0" cy="539496"/>
          </a:xfrm>
          <a:prstGeom prst="line">
            <a:avLst/>
          </a:prstGeom>
          <a:noFill/>
          <a:ln w="6985">
            <a:solidFill>
              <a:srgbClr val="506078"/>
            </a:solidFill>
            <a:prstDash val="solid"/>
          </a:ln>
        </p:spPr>
      </p:sp>
      <p:sp>
        <p:nvSpPr>
          <p:cNvPr id="14" name="Text 12"/>
          <p:cNvSpPr/>
          <p:nvPr/>
        </p:nvSpPr>
        <p:spPr>
          <a:xfrm>
            <a:off x="8065008" y="1805940"/>
            <a:ext cx="3282696"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INSTRUMENTO</a:t>
            </a:r>
            <a:endParaRPr lang="en-US" sz="1200" dirty="0"/>
          </a:p>
        </p:txBody>
      </p:sp>
      <p:sp>
        <p:nvSpPr>
          <p:cNvPr id="15" name="Shape 13"/>
          <p:cNvSpPr/>
          <p:nvPr/>
        </p:nvSpPr>
        <p:spPr>
          <a:xfrm>
            <a:off x="731520" y="2304288"/>
            <a:ext cx="10698480" cy="0"/>
          </a:xfrm>
          <a:prstGeom prst="line">
            <a:avLst/>
          </a:prstGeom>
          <a:noFill/>
          <a:ln w="6985">
            <a:solidFill>
              <a:srgbClr val="D6DEE8"/>
            </a:solidFill>
            <a:prstDash val="solid"/>
          </a:ln>
        </p:spPr>
      </p:sp>
      <p:sp>
        <p:nvSpPr>
          <p:cNvPr id="16" name="Shape 14"/>
          <p:cNvSpPr/>
          <p:nvPr/>
        </p:nvSpPr>
        <p:spPr>
          <a:xfrm>
            <a:off x="731520" y="2304288"/>
            <a:ext cx="10698480" cy="813816"/>
          </a:xfrm>
          <a:prstGeom prst="rect">
            <a:avLst/>
          </a:prstGeom>
          <a:solidFill>
            <a:srgbClr val="FFFFFF"/>
          </a:solidFill>
          <a:ln w="12700">
            <a:solidFill>
              <a:srgbClr val="FFFFFF">
                <a:alpha val="0"/>
              </a:srgbClr>
            </a:solidFill>
            <a:prstDash val="solid"/>
          </a:ln>
        </p:spPr>
      </p:sp>
      <p:sp>
        <p:nvSpPr>
          <p:cNvPr id="17" name="Text 15"/>
          <p:cNvSpPr/>
          <p:nvPr/>
        </p:nvSpPr>
        <p:spPr>
          <a:xfrm>
            <a:off x="813816" y="2345436"/>
            <a:ext cx="2167128"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Preparación de datos</a:t>
            </a:r>
            <a:endParaRPr lang="en-US" sz="1365" dirty="0"/>
          </a:p>
        </p:txBody>
      </p:sp>
      <p:sp>
        <p:nvSpPr>
          <p:cNvPr id="18" name="Shape 16"/>
          <p:cNvSpPr/>
          <p:nvPr/>
        </p:nvSpPr>
        <p:spPr>
          <a:xfrm>
            <a:off x="3063240" y="2304288"/>
            <a:ext cx="0" cy="813816"/>
          </a:xfrm>
          <a:prstGeom prst="line">
            <a:avLst/>
          </a:prstGeom>
          <a:noFill/>
          <a:ln w="6985">
            <a:solidFill>
              <a:srgbClr val="D6DEE8"/>
            </a:solidFill>
            <a:prstDash val="solid"/>
          </a:ln>
        </p:spPr>
      </p:sp>
      <p:sp>
        <p:nvSpPr>
          <p:cNvPr id="19" name="Text 17"/>
          <p:cNvSpPr/>
          <p:nvPr/>
        </p:nvSpPr>
        <p:spPr>
          <a:xfrm>
            <a:off x="3145536" y="2345436"/>
            <a:ext cx="4754880"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Cobertura · completitud · validez · duplicados</a:t>
            </a:r>
            <a:endParaRPr lang="en-US" sz="1365" dirty="0"/>
          </a:p>
        </p:txBody>
      </p:sp>
      <p:sp>
        <p:nvSpPr>
          <p:cNvPr id="20" name="Shape 18"/>
          <p:cNvSpPr/>
          <p:nvPr/>
        </p:nvSpPr>
        <p:spPr>
          <a:xfrm>
            <a:off x="7982712" y="2304288"/>
            <a:ext cx="0" cy="813816"/>
          </a:xfrm>
          <a:prstGeom prst="line">
            <a:avLst/>
          </a:prstGeom>
          <a:noFill/>
          <a:ln w="6985">
            <a:solidFill>
              <a:srgbClr val="D6DEE8"/>
            </a:solidFill>
            <a:prstDash val="solid"/>
          </a:ln>
        </p:spPr>
      </p:sp>
      <p:sp>
        <p:nvSpPr>
          <p:cNvPr id="21" name="Text 19"/>
          <p:cNvSpPr/>
          <p:nvPr/>
        </p:nvSpPr>
        <p:spPr>
          <a:xfrm>
            <a:off x="8065008" y="2345436"/>
            <a:ext cx="3282696"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Ficha control de calidad</a:t>
            </a:r>
            <a:endParaRPr lang="en-US" sz="1365" dirty="0"/>
          </a:p>
        </p:txBody>
      </p:sp>
      <p:sp>
        <p:nvSpPr>
          <p:cNvPr id="22" name="Shape 20"/>
          <p:cNvSpPr/>
          <p:nvPr/>
        </p:nvSpPr>
        <p:spPr>
          <a:xfrm>
            <a:off x="731520" y="3118104"/>
            <a:ext cx="10698480" cy="0"/>
          </a:xfrm>
          <a:prstGeom prst="line">
            <a:avLst/>
          </a:prstGeom>
          <a:noFill/>
          <a:ln w="6985">
            <a:solidFill>
              <a:srgbClr val="D6DEE8"/>
            </a:solidFill>
            <a:prstDash val="solid"/>
          </a:ln>
        </p:spPr>
      </p:sp>
      <p:sp>
        <p:nvSpPr>
          <p:cNvPr id="23" name="Shape 21"/>
          <p:cNvSpPr/>
          <p:nvPr/>
        </p:nvSpPr>
        <p:spPr>
          <a:xfrm>
            <a:off x="731520" y="3118104"/>
            <a:ext cx="10698480" cy="813816"/>
          </a:xfrm>
          <a:prstGeom prst="rect">
            <a:avLst/>
          </a:prstGeom>
          <a:solidFill>
            <a:srgbClr val="EDF2F8"/>
          </a:solidFill>
          <a:ln w="12700">
            <a:solidFill>
              <a:srgbClr val="FFFFFF">
                <a:alpha val="0"/>
              </a:srgbClr>
            </a:solidFill>
            <a:prstDash val="solid"/>
          </a:ln>
        </p:spPr>
      </p:sp>
      <p:sp>
        <p:nvSpPr>
          <p:cNvPr id="24" name="Text 22"/>
          <p:cNvSpPr/>
          <p:nvPr/>
        </p:nvSpPr>
        <p:spPr>
          <a:xfrm>
            <a:off x="813816" y="3159252"/>
            <a:ext cx="2167128"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Diagnóstico inteligente</a:t>
            </a:r>
            <a:endParaRPr lang="en-US" sz="1365" dirty="0"/>
          </a:p>
        </p:txBody>
      </p:sp>
      <p:sp>
        <p:nvSpPr>
          <p:cNvPr id="25" name="Shape 23"/>
          <p:cNvSpPr/>
          <p:nvPr/>
        </p:nvSpPr>
        <p:spPr>
          <a:xfrm>
            <a:off x="3063240" y="3118104"/>
            <a:ext cx="0" cy="813816"/>
          </a:xfrm>
          <a:prstGeom prst="line">
            <a:avLst/>
          </a:prstGeom>
          <a:noFill/>
          <a:ln w="6985">
            <a:solidFill>
              <a:srgbClr val="D6DEE8"/>
            </a:solidFill>
            <a:prstDash val="solid"/>
          </a:ln>
        </p:spPr>
      </p:sp>
      <p:sp>
        <p:nvSpPr>
          <p:cNvPr id="26" name="Text 24"/>
          <p:cNvSpPr/>
          <p:nvPr/>
        </p:nvSpPr>
        <p:spPr>
          <a:xfrm>
            <a:off x="3145536" y="3159252"/>
            <a:ext cx="4754880"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Estados · puntuaciones de anomalía · pruebas superadas</a:t>
            </a:r>
            <a:endParaRPr lang="en-US" sz="1365" dirty="0"/>
          </a:p>
        </p:txBody>
      </p:sp>
      <p:sp>
        <p:nvSpPr>
          <p:cNvPr id="27" name="Shape 25"/>
          <p:cNvSpPr/>
          <p:nvPr/>
        </p:nvSpPr>
        <p:spPr>
          <a:xfrm>
            <a:off x="7982712" y="3118104"/>
            <a:ext cx="0" cy="813816"/>
          </a:xfrm>
          <a:prstGeom prst="line">
            <a:avLst/>
          </a:prstGeom>
          <a:noFill/>
          <a:ln w="6985">
            <a:solidFill>
              <a:srgbClr val="D6DEE8"/>
            </a:solidFill>
            <a:prstDash val="solid"/>
          </a:ln>
        </p:spPr>
      </p:sp>
      <p:sp>
        <p:nvSpPr>
          <p:cNvPr id="28" name="Text 26"/>
          <p:cNvSpPr/>
          <p:nvPr/>
        </p:nvSpPr>
        <p:spPr>
          <a:xfrm>
            <a:off x="8065008" y="3159252"/>
            <a:ext cx="3282696"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Ficha verificación funcional</a:t>
            </a:r>
            <a:endParaRPr lang="en-US" sz="1365" dirty="0"/>
          </a:p>
        </p:txBody>
      </p:sp>
      <p:sp>
        <p:nvSpPr>
          <p:cNvPr id="29" name="Shape 27"/>
          <p:cNvSpPr/>
          <p:nvPr/>
        </p:nvSpPr>
        <p:spPr>
          <a:xfrm>
            <a:off x="731520" y="3931920"/>
            <a:ext cx="10698480" cy="0"/>
          </a:xfrm>
          <a:prstGeom prst="line">
            <a:avLst/>
          </a:prstGeom>
          <a:noFill/>
          <a:ln w="6985">
            <a:solidFill>
              <a:srgbClr val="D6DEE8"/>
            </a:solidFill>
            <a:prstDash val="solid"/>
          </a:ln>
        </p:spPr>
      </p:sp>
      <p:sp>
        <p:nvSpPr>
          <p:cNvPr id="30" name="Shape 28"/>
          <p:cNvSpPr/>
          <p:nvPr/>
        </p:nvSpPr>
        <p:spPr>
          <a:xfrm>
            <a:off x="731520" y="3931920"/>
            <a:ext cx="10698480" cy="813816"/>
          </a:xfrm>
          <a:prstGeom prst="rect">
            <a:avLst/>
          </a:prstGeom>
          <a:solidFill>
            <a:srgbClr val="FFFFFF"/>
          </a:solidFill>
          <a:ln w="12700">
            <a:solidFill>
              <a:srgbClr val="FFFFFF">
                <a:alpha val="0"/>
              </a:srgbClr>
            </a:solidFill>
            <a:prstDash val="solid"/>
          </a:ln>
        </p:spPr>
      </p:sp>
      <p:sp>
        <p:nvSpPr>
          <p:cNvPr id="31" name="Text 29"/>
          <p:cNvSpPr/>
          <p:nvPr/>
        </p:nvSpPr>
        <p:spPr>
          <a:xfrm>
            <a:off x="813816" y="3973068"/>
            <a:ext cx="2167128"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Pronóstico temporal</a:t>
            </a:r>
            <a:endParaRPr lang="en-US" sz="1365" dirty="0"/>
          </a:p>
        </p:txBody>
      </p:sp>
      <p:sp>
        <p:nvSpPr>
          <p:cNvPr id="32" name="Shape 30"/>
          <p:cNvSpPr/>
          <p:nvPr/>
        </p:nvSpPr>
        <p:spPr>
          <a:xfrm>
            <a:off x="3063240" y="3931920"/>
            <a:ext cx="0" cy="813816"/>
          </a:xfrm>
          <a:prstGeom prst="line">
            <a:avLst/>
          </a:prstGeom>
          <a:noFill/>
          <a:ln w="6985">
            <a:solidFill>
              <a:srgbClr val="D6DEE8"/>
            </a:solidFill>
            <a:prstDash val="solid"/>
          </a:ln>
        </p:spPr>
      </p:sp>
      <p:sp>
        <p:nvSpPr>
          <p:cNvPr id="33" name="Text 31"/>
          <p:cNvSpPr/>
          <p:nvPr/>
        </p:nvSpPr>
        <p:spPr>
          <a:xfrm>
            <a:off x="3145536" y="3973068"/>
            <a:ext cx="4754880"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RSSI/MCS/tasa DL; 5, 15 y 30 min</a:t>
            </a:r>
            <a:endParaRPr lang="en-US" sz="1365" dirty="0"/>
          </a:p>
        </p:txBody>
      </p:sp>
      <p:sp>
        <p:nvSpPr>
          <p:cNvPr id="34" name="Shape 32"/>
          <p:cNvSpPr/>
          <p:nvPr/>
        </p:nvSpPr>
        <p:spPr>
          <a:xfrm>
            <a:off x="7982712" y="3931920"/>
            <a:ext cx="0" cy="813816"/>
          </a:xfrm>
          <a:prstGeom prst="line">
            <a:avLst/>
          </a:prstGeom>
          <a:noFill/>
          <a:ln w="6985">
            <a:solidFill>
              <a:srgbClr val="D6DEE8"/>
            </a:solidFill>
            <a:prstDash val="solid"/>
          </a:ln>
        </p:spPr>
      </p:sp>
      <p:sp>
        <p:nvSpPr>
          <p:cNvPr id="35" name="Text 33"/>
          <p:cNvSpPr/>
          <p:nvPr/>
        </p:nvSpPr>
        <p:spPr>
          <a:xfrm>
            <a:off x="8065008" y="3973068"/>
            <a:ext cx="3282696"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Registro de ejecución de pronósticos</a:t>
            </a:r>
            <a:endParaRPr lang="en-US" sz="1365" dirty="0"/>
          </a:p>
        </p:txBody>
      </p:sp>
      <p:sp>
        <p:nvSpPr>
          <p:cNvPr id="36" name="Shape 34"/>
          <p:cNvSpPr/>
          <p:nvPr/>
        </p:nvSpPr>
        <p:spPr>
          <a:xfrm>
            <a:off x="731520" y="4745736"/>
            <a:ext cx="10698480" cy="0"/>
          </a:xfrm>
          <a:prstGeom prst="line">
            <a:avLst/>
          </a:prstGeom>
          <a:noFill/>
          <a:ln w="6985">
            <a:solidFill>
              <a:srgbClr val="D6DEE8"/>
            </a:solidFill>
            <a:prstDash val="solid"/>
          </a:ln>
        </p:spPr>
      </p:sp>
      <p:sp>
        <p:nvSpPr>
          <p:cNvPr id="37" name="Shape 35"/>
          <p:cNvSpPr/>
          <p:nvPr/>
        </p:nvSpPr>
        <p:spPr>
          <a:xfrm>
            <a:off x="731520" y="4745736"/>
            <a:ext cx="10698480" cy="813816"/>
          </a:xfrm>
          <a:prstGeom prst="rect">
            <a:avLst/>
          </a:prstGeom>
          <a:solidFill>
            <a:srgbClr val="EDF2F8"/>
          </a:solidFill>
          <a:ln w="12700">
            <a:solidFill>
              <a:srgbClr val="FFFFFF">
                <a:alpha val="0"/>
              </a:srgbClr>
            </a:solidFill>
            <a:prstDash val="solid"/>
          </a:ln>
        </p:spPr>
      </p:sp>
      <p:sp>
        <p:nvSpPr>
          <p:cNvPr id="38" name="Text 36"/>
          <p:cNvSpPr/>
          <p:nvPr/>
        </p:nvSpPr>
        <p:spPr>
          <a:xfrm>
            <a:off x="813816" y="4786884"/>
            <a:ext cx="2167128"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Explicabilidad</a:t>
            </a:r>
            <a:endParaRPr lang="en-US" sz="1365" dirty="0"/>
          </a:p>
        </p:txBody>
      </p:sp>
      <p:sp>
        <p:nvSpPr>
          <p:cNvPr id="39" name="Shape 37"/>
          <p:cNvSpPr/>
          <p:nvPr/>
        </p:nvSpPr>
        <p:spPr>
          <a:xfrm>
            <a:off x="3063240" y="4745736"/>
            <a:ext cx="0" cy="813816"/>
          </a:xfrm>
          <a:prstGeom prst="line">
            <a:avLst/>
          </a:prstGeom>
          <a:noFill/>
          <a:ln w="6985">
            <a:solidFill>
              <a:srgbClr val="D6DEE8"/>
            </a:solidFill>
            <a:prstDash val="solid"/>
          </a:ln>
        </p:spPr>
      </p:sp>
      <p:sp>
        <p:nvSpPr>
          <p:cNvPr id="40" name="Text 38"/>
          <p:cNvSpPr/>
          <p:nvPr/>
        </p:nvSpPr>
        <p:spPr>
          <a:xfrm>
            <a:off x="3145536" y="4786884"/>
            <a:ext cx="4754880"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Importancia global · consistencia de influencia</a:t>
            </a:r>
            <a:endParaRPr lang="en-US" sz="1365" dirty="0"/>
          </a:p>
        </p:txBody>
      </p:sp>
      <p:sp>
        <p:nvSpPr>
          <p:cNvPr id="41" name="Shape 39"/>
          <p:cNvSpPr/>
          <p:nvPr/>
        </p:nvSpPr>
        <p:spPr>
          <a:xfrm>
            <a:off x="7982712" y="4745736"/>
            <a:ext cx="0" cy="813816"/>
          </a:xfrm>
          <a:prstGeom prst="line">
            <a:avLst/>
          </a:prstGeom>
          <a:noFill/>
          <a:ln w="6985">
            <a:solidFill>
              <a:srgbClr val="D6DEE8"/>
            </a:solidFill>
            <a:prstDash val="solid"/>
          </a:ln>
        </p:spPr>
      </p:sp>
      <p:sp>
        <p:nvSpPr>
          <p:cNvPr id="42" name="Text 40"/>
          <p:cNvSpPr/>
          <p:nvPr/>
        </p:nvSpPr>
        <p:spPr>
          <a:xfrm>
            <a:off x="8065008" y="4786884"/>
            <a:ext cx="3282696" cy="731520"/>
          </a:xfrm>
          <a:prstGeom prst="rect">
            <a:avLst/>
          </a:prstGeom>
          <a:noFill/>
          <a:ln/>
        </p:spPr>
        <p:txBody>
          <a:bodyPr wrap="square" lIns="0" tIns="0" rIns="0" bIns="0" rtlCol="0" anchor="ctr">
            <a:normAutofit/>
          </a:bodyPr>
          <a:lstStyle/>
          <a:p>
            <a:pPr algn="l" indent="0" marL="0">
              <a:buNone/>
            </a:pPr>
            <a:r>
              <a:rPr lang="en-US" sz="1365" dirty="0">
                <a:solidFill>
                  <a:srgbClr val="202B3C"/>
                </a:solidFill>
                <a:latin typeface="Aptos" pitchFamily="34" charset="0"/>
                <a:ea typeface="Aptos" pitchFamily="34" charset="-122"/>
                <a:cs typeface="Aptos" pitchFamily="34" charset="-120"/>
              </a:rPr>
              <a:t>Reporte importancia de variables</a:t>
            </a:r>
            <a:endParaRPr lang="en-US" sz="1365" dirty="0"/>
          </a:p>
        </p:txBody>
      </p:sp>
      <p:sp>
        <p:nvSpPr>
          <p:cNvPr id="43" name="Shape 41"/>
          <p:cNvSpPr/>
          <p:nvPr/>
        </p:nvSpPr>
        <p:spPr>
          <a:xfrm>
            <a:off x="731520" y="5559552"/>
            <a:ext cx="10698480" cy="0"/>
          </a:xfrm>
          <a:prstGeom prst="line">
            <a:avLst/>
          </a:prstGeom>
          <a:noFill/>
          <a:ln w="6985">
            <a:solidFill>
              <a:srgbClr val="D6DEE8"/>
            </a:solidFill>
            <a:prstDash val="solid"/>
          </a:ln>
        </p:spPr>
      </p:sp>
      <p:sp>
        <p:nvSpPr>
          <p:cNvPr id="44" name="Shape 42"/>
          <p:cNvSpPr/>
          <p:nvPr/>
        </p:nvSpPr>
        <p:spPr>
          <a:xfrm>
            <a:off x="749808" y="5705856"/>
            <a:ext cx="10671048" cy="521208"/>
          </a:xfrm>
          <a:prstGeom prst="roundRect">
            <a:avLst/>
          </a:prstGeom>
          <a:solidFill>
            <a:srgbClr val="E8F4F3"/>
          </a:solidFill>
          <a:ln w="12700">
            <a:solidFill>
              <a:srgbClr val="FFFFFF">
                <a:alpha val="0"/>
              </a:srgbClr>
            </a:solidFill>
            <a:prstDash val="solid"/>
          </a:ln>
        </p:spPr>
      </p:sp>
      <p:sp>
        <p:nvSpPr>
          <p:cNvPr id="45" name="Shape 43"/>
          <p:cNvSpPr/>
          <p:nvPr/>
        </p:nvSpPr>
        <p:spPr>
          <a:xfrm>
            <a:off x="749808" y="5705856"/>
            <a:ext cx="73152" cy="521208"/>
          </a:xfrm>
          <a:prstGeom prst="rect">
            <a:avLst/>
          </a:prstGeom>
          <a:solidFill>
            <a:srgbClr val="168B91"/>
          </a:solidFill>
          <a:ln w="12700">
            <a:solidFill>
              <a:srgbClr val="FFFFFF">
                <a:alpha val="0"/>
              </a:srgbClr>
            </a:solidFill>
            <a:prstDash val="solid"/>
          </a:ln>
        </p:spPr>
      </p:sp>
      <p:sp>
        <p:nvSpPr>
          <p:cNvPr id="46" name="Text 44"/>
          <p:cNvSpPr/>
          <p:nvPr/>
        </p:nvSpPr>
        <p:spPr>
          <a:xfrm>
            <a:off x="941832" y="5797296"/>
            <a:ext cx="10305288" cy="356616"/>
          </a:xfrm>
          <a:prstGeom prst="rect">
            <a:avLst/>
          </a:prstGeom>
          <a:noFill/>
          <a:ln/>
        </p:spPr>
        <p:txBody>
          <a:bodyPr wrap="square" lIns="0" tIns="0" rIns="0" bIns="0" rtlCol="0" anchor="ctr">
            <a:normAutofit/>
          </a:bodyPr>
          <a:lstStyle/>
          <a:p>
            <a:pPr algn="l" indent="0" marL="0">
              <a:buNone/>
            </a:pPr>
            <a:r>
              <a:rPr lang="en-US" sz="1500" b="1" dirty="0">
                <a:solidFill>
                  <a:srgbClr val="111E37"/>
                </a:solidFill>
                <a:latin typeface="Aptos" pitchFamily="34" charset="0"/>
                <a:ea typeface="Aptos" pitchFamily="34" charset="-122"/>
                <a:cs typeface="Aptos" pitchFamily="34" charset="-120"/>
              </a:rPr>
              <a:t>Definición operacional: artefacto modular cuya implementación se verifica con pruebas funcionales y salidas observables.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Operacionalización de variables — variable dependiente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VD: desempeño del diagnóstico y pronóstico operacional.</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 (operacionalización); síntesis para exposición.</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16</a:t>
            </a:r>
            <a:endParaRPr lang="en-US" sz="1040" dirty="0"/>
          </a:p>
        </p:txBody>
      </p:sp>
      <p:sp>
        <p:nvSpPr>
          <p:cNvPr id="9" name="Shape 7"/>
          <p:cNvSpPr/>
          <p:nvPr/>
        </p:nvSpPr>
        <p:spPr>
          <a:xfrm>
            <a:off x="731520" y="1764792"/>
            <a:ext cx="10698480" cy="539496"/>
          </a:xfrm>
          <a:prstGeom prst="rect">
            <a:avLst/>
          </a:prstGeom>
          <a:solidFill>
            <a:srgbClr val="111E37"/>
          </a:solidFill>
          <a:ln w="12700">
            <a:solidFill>
              <a:srgbClr val="FFFFFF">
                <a:alpha val="0"/>
              </a:srgbClr>
            </a:solidFill>
            <a:prstDash val="solid"/>
          </a:ln>
        </p:spPr>
      </p:sp>
      <p:sp>
        <p:nvSpPr>
          <p:cNvPr id="10" name="Text 8"/>
          <p:cNvSpPr/>
          <p:nvPr/>
        </p:nvSpPr>
        <p:spPr>
          <a:xfrm>
            <a:off x="813816" y="1805940"/>
            <a:ext cx="2167128"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DIMENSIÓN</a:t>
            </a:r>
            <a:endParaRPr lang="en-US" sz="1200" dirty="0"/>
          </a:p>
        </p:txBody>
      </p:sp>
      <p:sp>
        <p:nvSpPr>
          <p:cNvPr id="11" name="Shape 9"/>
          <p:cNvSpPr/>
          <p:nvPr/>
        </p:nvSpPr>
        <p:spPr>
          <a:xfrm>
            <a:off x="3063240" y="1764792"/>
            <a:ext cx="0" cy="539496"/>
          </a:xfrm>
          <a:prstGeom prst="line">
            <a:avLst/>
          </a:prstGeom>
          <a:noFill/>
          <a:ln w="6985">
            <a:solidFill>
              <a:srgbClr val="506078"/>
            </a:solidFill>
            <a:prstDash val="solid"/>
          </a:ln>
        </p:spPr>
      </p:sp>
      <p:sp>
        <p:nvSpPr>
          <p:cNvPr id="12" name="Text 10"/>
          <p:cNvSpPr/>
          <p:nvPr/>
        </p:nvSpPr>
        <p:spPr>
          <a:xfrm>
            <a:off x="3145536" y="1805940"/>
            <a:ext cx="4754880"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INDICADORES OPERACIONALIZADOS</a:t>
            </a:r>
            <a:endParaRPr lang="en-US" sz="1200" dirty="0"/>
          </a:p>
        </p:txBody>
      </p:sp>
      <p:sp>
        <p:nvSpPr>
          <p:cNvPr id="13" name="Shape 11"/>
          <p:cNvSpPr/>
          <p:nvPr/>
        </p:nvSpPr>
        <p:spPr>
          <a:xfrm>
            <a:off x="7982712" y="1764792"/>
            <a:ext cx="0" cy="539496"/>
          </a:xfrm>
          <a:prstGeom prst="line">
            <a:avLst/>
          </a:prstGeom>
          <a:noFill/>
          <a:ln w="6985">
            <a:solidFill>
              <a:srgbClr val="506078"/>
            </a:solidFill>
            <a:prstDash val="solid"/>
          </a:ln>
        </p:spPr>
      </p:sp>
      <p:sp>
        <p:nvSpPr>
          <p:cNvPr id="14" name="Text 12"/>
          <p:cNvSpPr/>
          <p:nvPr/>
        </p:nvSpPr>
        <p:spPr>
          <a:xfrm>
            <a:off x="8065008" y="1805940"/>
            <a:ext cx="3282696" cy="45720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INSTRUMENTO</a:t>
            </a:r>
            <a:endParaRPr lang="en-US" sz="1200" dirty="0"/>
          </a:p>
        </p:txBody>
      </p:sp>
      <p:sp>
        <p:nvSpPr>
          <p:cNvPr id="15" name="Shape 13"/>
          <p:cNvSpPr/>
          <p:nvPr/>
        </p:nvSpPr>
        <p:spPr>
          <a:xfrm>
            <a:off x="731520" y="2304288"/>
            <a:ext cx="10698480" cy="0"/>
          </a:xfrm>
          <a:prstGeom prst="line">
            <a:avLst/>
          </a:prstGeom>
          <a:noFill/>
          <a:ln w="6985">
            <a:solidFill>
              <a:srgbClr val="D6DEE8"/>
            </a:solidFill>
            <a:prstDash val="solid"/>
          </a:ln>
        </p:spPr>
      </p:sp>
      <p:sp>
        <p:nvSpPr>
          <p:cNvPr id="16" name="Shape 14"/>
          <p:cNvSpPr/>
          <p:nvPr/>
        </p:nvSpPr>
        <p:spPr>
          <a:xfrm>
            <a:off x="731520" y="2304288"/>
            <a:ext cx="10698480" cy="813816"/>
          </a:xfrm>
          <a:prstGeom prst="rect">
            <a:avLst/>
          </a:prstGeom>
          <a:solidFill>
            <a:srgbClr val="FFFFFF"/>
          </a:solidFill>
          <a:ln w="12700">
            <a:solidFill>
              <a:srgbClr val="FFFFFF">
                <a:alpha val="0"/>
              </a:srgbClr>
            </a:solidFill>
            <a:prstDash val="solid"/>
          </a:ln>
        </p:spPr>
      </p:sp>
      <p:sp>
        <p:nvSpPr>
          <p:cNvPr id="17" name="Text 15"/>
          <p:cNvSpPr/>
          <p:nvPr/>
        </p:nvSpPr>
        <p:spPr>
          <a:xfrm>
            <a:off x="813816" y="2345436"/>
            <a:ext cx="2167128"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Desempeño diagnóstico</a:t>
            </a:r>
            <a:endParaRPr lang="en-US" sz="1350" dirty="0"/>
          </a:p>
        </p:txBody>
      </p:sp>
      <p:sp>
        <p:nvSpPr>
          <p:cNvPr id="18" name="Shape 16"/>
          <p:cNvSpPr/>
          <p:nvPr/>
        </p:nvSpPr>
        <p:spPr>
          <a:xfrm>
            <a:off x="3063240" y="2304288"/>
            <a:ext cx="0" cy="813816"/>
          </a:xfrm>
          <a:prstGeom prst="line">
            <a:avLst/>
          </a:prstGeom>
          <a:noFill/>
          <a:ln w="6985">
            <a:solidFill>
              <a:srgbClr val="D6DEE8"/>
            </a:solidFill>
            <a:prstDash val="solid"/>
          </a:ln>
        </p:spPr>
      </p:sp>
      <p:sp>
        <p:nvSpPr>
          <p:cNvPr id="19" name="Text 17"/>
          <p:cNvSpPr/>
          <p:nvPr/>
        </p:nvSpPr>
        <p:spPr>
          <a:xfrm>
            <a:off x="3145536" y="2345436"/>
            <a:ext cx="4754880"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Precisión · recall · F1-score · AUC · FP/FN</a:t>
            </a:r>
            <a:endParaRPr lang="en-US" sz="1350" dirty="0"/>
          </a:p>
        </p:txBody>
      </p:sp>
      <p:sp>
        <p:nvSpPr>
          <p:cNvPr id="20" name="Shape 18"/>
          <p:cNvSpPr/>
          <p:nvPr/>
        </p:nvSpPr>
        <p:spPr>
          <a:xfrm>
            <a:off x="7982712" y="2304288"/>
            <a:ext cx="0" cy="813816"/>
          </a:xfrm>
          <a:prstGeom prst="line">
            <a:avLst/>
          </a:prstGeom>
          <a:noFill/>
          <a:ln w="6985">
            <a:solidFill>
              <a:srgbClr val="D6DEE8"/>
            </a:solidFill>
            <a:prstDash val="solid"/>
          </a:ln>
        </p:spPr>
      </p:sp>
      <p:sp>
        <p:nvSpPr>
          <p:cNvPr id="21" name="Text 19"/>
          <p:cNvSpPr/>
          <p:nvPr/>
        </p:nvSpPr>
        <p:spPr>
          <a:xfrm>
            <a:off x="8065008" y="2345436"/>
            <a:ext cx="3282696"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Matriz de resultados diagnósticos</a:t>
            </a:r>
            <a:endParaRPr lang="en-US" sz="1350" dirty="0"/>
          </a:p>
        </p:txBody>
      </p:sp>
      <p:sp>
        <p:nvSpPr>
          <p:cNvPr id="22" name="Shape 20"/>
          <p:cNvSpPr/>
          <p:nvPr/>
        </p:nvSpPr>
        <p:spPr>
          <a:xfrm>
            <a:off x="731520" y="3118104"/>
            <a:ext cx="10698480" cy="0"/>
          </a:xfrm>
          <a:prstGeom prst="line">
            <a:avLst/>
          </a:prstGeom>
          <a:noFill/>
          <a:ln w="6985">
            <a:solidFill>
              <a:srgbClr val="D6DEE8"/>
            </a:solidFill>
            <a:prstDash val="solid"/>
          </a:ln>
        </p:spPr>
      </p:sp>
      <p:sp>
        <p:nvSpPr>
          <p:cNvPr id="23" name="Shape 21"/>
          <p:cNvSpPr/>
          <p:nvPr/>
        </p:nvSpPr>
        <p:spPr>
          <a:xfrm>
            <a:off x="731520" y="3118104"/>
            <a:ext cx="10698480" cy="813816"/>
          </a:xfrm>
          <a:prstGeom prst="rect">
            <a:avLst/>
          </a:prstGeom>
          <a:solidFill>
            <a:srgbClr val="EDF2F8"/>
          </a:solidFill>
          <a:ln w="12700">
            <a:solidFill>
              <a:srgbClr val="FFFFFF">
                <a:alpha val="0"/>
              </a:srgbClr>
            </a:solidFill>
            <a:prstDash val="solid"/>
          </a:ln>
        </p:spPr>
      </p:sp>
      <p:sp>
        <p:nvSpPr>
          <p:cNvPr id="24" name="Text 22"/>
          <p:cNvSpPr/>
          <p:nvPr/>
        </p:nvSpPr>
        <p:spPr>
          <a:xfrm>
            <a:off x="813816" y="3159252"/>
            <a:ext cx="2167128"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Precisión del pronóstico</a:t>
            </a:r>
            <a:endParaRPr lang="en-US" sz="1350" dirty="0"/>
          </a:p>
        </p:txBody>
      </p:sp>
      <p:sp>
        <p:nvSpPr>
          <p:cNvPr id="25" name="Shape 23"/>
          <p:cNvSpPr/>
          <p:nvPr/>
        </p:nvSpPr>
        <p:spPr>
          <a:xfrm>
            <a:off x="3063240" y="3118104"/>
            <a:ext cx="0" cy="813816"/>
          </a:xfrm>
          <a:prstGeom prst="line">
            <a:avLst/>
          </a:prstGeom>
          <a:noFill/>
          <a:ln w="6985">
            <a:solidFill>
              <a:srgbClr val="D6DEE8"/>
            </a:solidFill>
            <a:prstDash val="solid"/>
          </a:ln>
        </p:spPr>
      </p:sp>
      <p:sp>
        <p:nvSpPr>
          <p:cNvPr id="26" name="Text 24"/>
          <p:cNvSpPr/>
          <p:nvPr/>
        </p:nvSpPr>
        <p:spPr>
          <a:xfrm>
            <a:off x="3145536" y="3159252"/>
            <a:ext cx="4754880"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MAE · RMSE · MAPE, según variable y horizonte</a:t>
            </a:r>
            <a:endParaRPr lang="en-US" sz="1350" dirty="0"/>
          </a:p>
        </p:txBody>
      </p:sp>
      <p:sp>
        <p:nvSpPr>
          <p:cNvPr id="27" name="Shape 25"/>
          <p:cNvSpPr/>
          <p:nvPr/>
        </p:nvSpPr>
        <p:spPr>
          <a:xfrm>
            <a:off x="7982712" y="3118104"/>
            <a:ext cx="0" cy="813816"/>
          </a:xfrm>
          <a:prstGeom prst="line">
            <a:avLst/>
          </a:prstGeom>
          <a:noFill/>
          <a:ln w="6985">
            <a:solidFill>
              <a:srgbClr val="D6DEE8"/>
            </a:solidFill>
            <a:prstDash val="solid"/>
          </a:ln>
        </p:spPr>
      </p:sp>
      <p:sp>
        <p:nvSpPr>
          <p:cNvPr id="28" name="Text 26"/>
          <p:cNvSpPr/>
          <p:nvPr/>
        </p:nvSpPr>
        <p:spPr>
          <a:xfrm>
            <a:off x="8065008" y="3159252"/>
            <a:ext cx="3282696"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Ficha evaluación de pronósticos</a:t>
            </a:r>
            <a:endParaRPr lang="en-US" sz="1350" dirty="0"/>
          </a:p>
        </p:txBody>
      </p:sp>
      <p:sp>
        <p:nvSpPr>
          <p:cNvPr id="29" name="Shape 27"/>
          <p:cNvSpPr/>
          <p:nvPr/>
        </p:nvSpPr>
        <p:spPr>
          <a:xfrm>
            <a:off x="731520" y="3931920"/>
            <a:ext cx="10698480" cy="0"/>
          </a:xfrm>
          <a:prstGeom prst="line">
            <a:avLst/>
          </a:prstGeom>
          <a:noFill/>
          <a:ln w="6985">
            <a:solidFill>
              <a:srgbClr val="D6DEE8"/>
            </a:solidFill>
            <a:prstDash val="solid"/>
          </a:ln>
        </p:spPr>
      </p:sp>
      <p:sp>
        <p:nvSpPr>
          <p:cNvPr id="30" name="Shape 28"/>
          <p:cNvSpPr/>
          <p:nvPr/>
        </p:nvSpPr>
        <p:spPr>
          <a:xfrm>
            <a:off x="731520" y="3931920"/>
            <a:ext cx="10698480" cy="813816"/>
          </a:xfrm>
          <a:prstGeom prst="rect">
            <a:avLst/>
          </a:prstGeom>
          <a:solidFill>
            <a:srgbClr val="FFFFFF"/>
          </a:solidFill>
          <a:ln w="12700">
            <a:solidFill>
              <a:srgbClr val="FFFFFF">
                <a:alpha val="0"/>
              </a:srgbClr>
            </a:solidFill>
            <a:prstDash val="solid"/>
          </a:ln>
        </p:spPr>
      </p:sp>
      <p:sp>
        <p:nvSpPr>
          <p:cNvPr id="31" name="Text 29"/>
          <p:cNvSpPr/>
          <p:nvPr/>
        </p:nvSpPr>
        <p:spPr>
          <a:xfrm>
            <a:off x="813816" y="3973068"/>
            <a:ext cx="2167128"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Capacidad de anticipación</a:t>
            </a:r>
            <a:endParaRPr lang="en-US" sz="1350" dirty="0"/>
          </a:p>
        </p:txBody>
      </p:sp>
      <p:sp>
        <p:nvSpPr>
          <p:cNvPr id="32" name="Shape 30"/>
          <p:cNvSpPr/>
          <p:nvPr/>
        </p:nvSpPr>
        <p:spPr>
          <a:xfrm>
            <a:off x="3063240" y="3931920"/>
            <a:ext cx="0" cy="813816"/>
          </a:xfrm>
          <a:prstGeom prst="line">
            <a:avLst/>
          </a:prstGeom>
          <a:noFill/>
          <a:ln w="6985">
            <a:solidFill>
              <a:srgbClr val="D6DEE8"/>
            </a:solidFill>
            <a:prstDash val="solid"/>
          </a:ln>
        </p:spPr>
      </p:sp>
      <p:sp>
        <p:nvSpPr>
          <p:cNvPr id="33" name="Text 31"/>
          <p:cNvSpPr/>
          <p:nvPr/>
        </p:nvSpPr>
        <p:spPr>
          <a:xfrm>
            <a:off x="3145536" y="3973068"/>
            <a:ext cx="4754880"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Recall · precisión alerta · tasa falsas alertas, 15 min</a:t>
            </a:r>
            <a:endParaRPr lang="en-US" sz="1350" dirty="0"/>
          </a:p>
        </p:txBody>
      </p:sp>
      <p:sp>
        <p:nvSpPr>
          <p:cNvPr id="34" name="Shape 32"/>
          <p:cNvSpPr/>
          <p:nvPr/>
        </p:nvSpPr>
        <p:spPr>
          <a:xfrm>
            <a:off x="7982712" y="3931920"/>
            <a:ext cx="0" cy="813816"/>
          </a:xfrm>
          <a:prstGeom prst="line">
            <a:avLst/>
          </a:prstGeom>
          <a:noFill/>
          <a:ln w="6985">
            <a:solidFill>
              <a:srgbClr val="D6DEE8"/>
            </a:solidFill>
            <a:prstDash val="solid"/>
          </a:ln>
        </p:spPr>
      </p:sp>
      <p:sp>
        <p:nvSpPr>
          <p:cNvPr id="35" name="Text 33"/>
          <p:cNvSpPr/>
          <p:nvPr/>
        </p:nvSpPr>
        <p:spPr>
          <a:xfrm>
            <a:off x="8065008" y="3973068"/>
            <a:ext cx="3282696"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Ficha condiciones futuras</a:t>
            </a:r>
            <a:endParaRPr lang="en-US" sz="1350" dirty="0"/>
          </a:p>
        </p:txBody>
      </p:sp>
      <p:sp>
        <p:nvSpPr>
          <p:cNvPr id="36" name="Shape 34"/>
          <p:cNvSpPr/>
          <p:nvPr/>
        </p:nvSpPr>
        <p:spPr>
          <a:xfrm>
            <a:off x="731520" y="4745736"/>
            <a:ext cx="10698480" cy="0"/>
          </a:xfrm>
          <a:prstGeom prst="line">
            <a:avLst/>
          </a:prstGeom>
          <a:noFill/>
          <a:ln w="6985">
            <a:solidFill>
              <a:srgbClr val="D6DEE8"/>
            </a:solidFill>
            <a:prstDash val="solid"/>
          </a:ln>
        </p:spPr>
      </p:sp>
      <p:sp>
        <p:nvSpPr>
          <p:cNvPr id="37" name="Shape 35"/>
          <p:cNvSpPr/>
          <p:nvPr/>
        </p:nvSpPr>
        <p:spPr>
          <a:xfrm>
            <a:off x="731520" y="4745736"/>
            <a:ext cx="10698480" cy="813816"/>
          </a:xfrm>
          <a:prstGeom prst="rect">
            <a:avLst/>
          </a:prstGeom>
          <a:solidFill>
            <a:srgbClr val="EDF2F8"/>
          </a:solidFill>
          <a:ln w="12700">
            <a:solidFill>
              <a:srgbClr val="FFFFFF">
                <a:alpha val="0"/>
              </a:srgbClr>
            </a:solidFill>
            <a:prstDash val="solid"/>
          </a:ln>
        </p:spPr>
      </p:sp>
      <p:sp>
        <p:nvSpPr>
          <p:cNvPr id="38" name="Text 36"/>
          <p:cNvSpPr/>
          <p:nvPr/>
        </p:nvSpPr>
        <p:spPr>
          <a:xfrm>
            <a:off x="813816" y="4786884"/>
            <a:ext cx="2167128"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Interpretabilidad</a:t>
            </a:r>
            <a:endParaRPr lang="en-US" sz="1350" dirty="0"/>
          </a:p>
        </p:txBody>
      </p:sp>
      <p:sp>
        <p:nvSpPr>
          <p:cNvPr id="39" name="Shape 37"/>
          <p:cNvSpPr/>
          <p:nvPr/>
        </p:nvSpPr>
        <p:spPr>
          <a:xfrm>
            <a:off x="3063240" y="4745736"/>
            <a:ext cx="0" cy="813816"/>
          </a:xfrm>
          <a:prstGeom prst="line">
            <a:avLst/>
          </a:prstGeom>
          <a:noFill/>
          <a:ln w="6985">
            <a:solidFill>
              <a:srgbClr val="D6DEE8"/>
            </a:solidFill>
            <a:prstDash val="solid"/>
          </a:ln>
        </p:spPr>
      </p:sp>
      <p:sp>
        <p:nvSpPr>
          <p:cNvPr id="40" name="Text 38"/>
          <p:cNvSpPr/>
          <p:nvPr/>
        </p:nvSpPr>
        <p:spPr>
          <a:xfrm>
            <a:off x="3145536" y="4786884"/>
            <a:ext cx="4754880"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Importancia por permutación · estabilidad</a:t>
            </a:r>
            <a:endParaRPr lang="en-US" sz="1350" dirty="0"/>
          </a:p>
        </p:txBody>
      </p:sp>
      <p:sp>
        <p:nvSpPr>
          <p:cNvPr id="41" name="Shape 39"/>
          <p:cNvSpPr/>
          <p:nvPr/>
        </p:nvSpPr>
        <p:spPr>
          <a:xfrm>
            <a:off x="7982712" y="4745736"/>
            <a:ext cx="0" cy="813816"/>
          </a:xfrm>
          <a:prstGeom prst="line">
            <a:avLst/>
          </a:prstGeom>
          <a:noFill/>
          <a:ln w="6985">
            <a:solidFill>
              <a:srgbClr val="D6DEE8"/>
            </a:solidFill>
            <a:prstDash val="solid"/>
          </a:ln>
        </p:spPr>
      </p:sp>
      <p:sp>
        <p:nvSpPr>
          <p:cNvPr id="42" name="Text 40"/>
          <p:cNvSpPr/>
          <p:nvPr/>
        </p:nvSpPr>
        <p:spPr>
          <a:xfrm>
            <a:off x="8065008" y="4786884"/>
            <a:ext cx="3282696" cy="731520"/>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Matriz interpretación de resultados</a:t>
            </a:r>
            <a:endParaRPr lang="en-US" sz="1350" dirty="0"/>
          </a:p>
        </p:txBody>
      </p:sp>
      <p:sp>
        <p:nvSpPr>
          <p:cNvPr id="43" name="Shape 41"/>
          <p:cNvSpPr/>
          <p:nvPr/>
        </p:nvSpPr>
        <p:spPr>
          <a:xfrm>
            <a:off x="731520" y="5559552"/>
            <a:ext cx="10698480" cy="0"/>
          </a:xfrm>
          <a:prstGeom prst="line">
            <a:avLst/>
          </a:prstGeom>
          <a:noFill/>
          <a:ln w="6985">
            <a:solidFill>
              <a:srgbClr val="D6DEE8"/>
            </a:solidFill>
            <a:prstDash val="solid"/>
          </a:ln>
        </p:spPr>
      </p:sp>
      <p:sp>
        <p:nvSpPr>
          <p:cNvPr id="44" name="Shape 42"/>
          <p:cNvSpPr/>
          <p:nvPr/>
        </p:nvSpPr>
        <p:spPr>
          <a:xfrm>
            <a:off x="749808" y="5705856"/>
            <a:ext cx="10671048" cy="521208"/>
          </a:xfrm>
          <a:prstGeom prst="roundRect">
            <a:avLst/>
          </a:prstGeom>
          <a:solidFill>
            <a:srgbClr val="E8F4F3"/>
          </a:solidFill>
          <a:ln w="12700">
            <a:solidFill>
              <a:srgbClr val="FFFFFF">
                <a:alpha val="0"/>
              </a:srgbClr>
            </a:solidFill>
            <a:prstDash val="solid"/>
          </a:ln>
        </p:spPr>
      </p:sp>
      <p:sp>
        <p:nvSpPr>
          <p:cNvPr id="45" name="Shape 43"/>
          <p:cNvSpPr/>
          <p:nvPr/>
        </p:nvSpPr>
        <p:spPr>
          <a:xfrm>
            <a:off x="749808" y="5705856"/>
            <a:ext cx="73152" cy="521208"/>
          </a:xfrm>
          <a:prstGeom prst="rect">
            <a:avLst/>
          </a:prstGeom>
          <a:solidFill>
            <a:srgbClr val="168B91"/>
          </a:solidFill>
          <a:ln w="12700">
            <a:solidFill>
              <a:srgbClr val="FFFFFF">
                <a:alpha val="0"/>
              </a:srgbClr>
            </a:solidFill>
            <a:prstDash val="solid"/>
          </a:ln>
        </p:spPr>
      </p:sp>
      <p:sp>
        <p:nvSpPr>
          <p:cNvPr id="46" name="Text 44"/>
          <p:cNvSpPr/>
          <p:nvPr/>
        </p:nvSpPr>
        <p:spPr>
          <a:xfrm>
            <a:off x="941832" y="5797296"/>
            <a:ext cx="10305288" cy="356616"/>
          </a:xfrm>
          <a:prstGeom prst="rect">
            <a:avLst/>
          </a:prstGeom>
          <a:noFill/>
          <a:ln/>
        </p:spPr>
        <p:txBody>
          <a:bodyPr wrap="square" lIns="0" tIns="0" rIns="0" bIns="0" rtlCol="0" anchor="ctr">
            <a:normAutofit/>
          </a:bodyPr>
          <a:lstStyle/>
          <a:p>
            <a:pPr algn="l" indent="0" marL="0">
              <a:buNone/>
            </a:pPr>
            <a:r>
              <a:rPr lang="en-US" sz="1470" b="1" dirty="0">
                <a:solidFill>
                  <a:srgbClr val="111E37"/>
                </a:solidFill>
                <a:latin typeface="Aptos" pitchFamily="34" charset="0"/>
                <a:ea typeface="Aptos" pitchFamily="34" charset="-122"/>
                <a:cs typeface="Aptos" pitchFamily="34" charset="-120"/>
              </a:rPr>
              <a:t>La mejora no se infiere por implementación: debe observarse en métricas comparadas frente a referentes en prueba temporal.</a:t>
            </a:r>
            <a:endParaRPr lang="en-US" sz="14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METODOLOGÍA</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Matriz de consistencia — lectura funcional</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Correspondencia explícita: problema específico → objetivo → hipótesis → indicador → evidencia.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VIII; matriz íntegra reconstruida en el apéndice.</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17</a:t>
            </a:r>
            <a:endParaRPr lang="en-US" sz="1040" dirty="0"/>
          </a:p>
        </p:txBody>
      </p:sp>
      <p:sp>
        <p:nvSpPr>
          <p:cNvPr id="9" name="Shape 7"/>
          <p:cNvSpPr/>
          <p:nvPr/>
        </p:nvSpPr>
        <p:spPr>
          <a:xfrm>
            <a:off x="667512" y="1691640"/>
            <a:ext cx="10863072" cy="557784"/>
          </a:xfrm>
          <a:prstGeom prst="rect">
            <a:avLst/>
          </a:prstGeom>
          <a:solidFill>
            <a:srgbClr val="111E37"/>
          </a:solidFill>
          <a:ln w="12700">
            <a:solidFill>
              <a:srgbClr val="FFFFFF">
                <a:alpha val="0"/>
              </a:srgbClr>
            </a:solidFill>
            <a:prstDash val="solid"/>
          </a:ln>
        </p:spPr>
      </p:sp>
      <p:sp>
        <p:nvSpPr>
          <p:cNvPr id="10" name="Text 8"/>
          <p:cNvSpPr/>
          <p:nvPr/>
        </p:nvSpPr>
        <p:spPr>
          <a:xfrm>
            <a:off x="749808" y="1732788"/>
            <a:ext cx="1773936" cy="475488"/>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PREGUNTA</a:t>
            </a:r>
            <a:endParaRPr lang="en-US" sz="1160" dirty="0"/>
          </a:p>
        </p:txBody>
      </p:sp>
      <p:sp>
        <p:nvSpPr>
          <p:cNvPr id="11" name="Shape 9"/>
          <p:cNvSpPr/>
          <p:nvPr/>
        </p:nvSpPr>
        <p:spPr>
          <a:xfrm>
            <a:off x="2606040" y="1691640"/>
            <a:ext cx="0" cy="557784"/>
          </a:xfrm>
          <a:prstGeom prst="line">
            <a:avLst/>
          </a:prstGeom>
          <a:noFill/>
          <a:ln w="6985">
            <a:solidFill>
              <a:srgbClr val="506078"/>
            </a:solidFill>
            <a:prstDash val="solid"/>
          </a:ln>
        </p:spPr>
      </p:sp>
      <p:sp>
        <p:nvSpPr>
          <p:cNvPr id="12" name="Text 10"/>
          <p:cNvSpPr/>
          <p:nvPr/>
        </p:nvSpPr>
        <p:spPr>
          <a:xfrm>
            <a:off x="2688336" y="1732788"/>
            <a:ext cx="2029968" cy="475488"/>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OBJETIVO</a:t>
            </a:r>
            <a:endParaRPr lang="en-US" sz="1160" dirty="0"/>
          </a:p>
        </p:txBody>
      </p:sp>
      <p:sp>
        <p:nvSpPr>
          <p:cNvPr id="13" name="Shape 11"/>
          <p:cNvSpPr/>
          <p:nvPr/>
        </p:nvSpPr>
        <p:spPr>
          <a:xfrm>
            <a:off x="4800600" y="1691640"/>
            <a:ext cx="0" cy="557784"/>
          </a:xfrm>
          <a:prstGeom prst="line">
            <a:avLst/>
          </a:prstGeom>
          <a:noFill/>
          <a:ln w="6985">
            <a:solidFill>
              <a:srgbClr val="506078"/>
            </a:solidFill>
            <a:prstDash val="solid"/>
          </a:ln>
        </p:spPr>
      </p:sp>
      <p:sp>
        <p:nvSpPr>
          <p:cNvPr id="14" name="Text 12"/>
          <p:cNvSpPr/>
          <p:nvPr/>
        </p:nvSpPr>
        <p:spPr>
          <a:xfrm>
            <a:off x="4882896" y="1732788"/>
            <a:ext cx="2276856" cy="475488"/>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HIPÓTESIS</a:t>
            </a:r>
            <a:endParaRPr lang="en-US" sz="1160" dirty="0"/>
          </a:p>
        </p:txBody>
      </p:sp>
      <p:sp>
        <p:nvSpPr>
          <p:cNvPr id="15" name="Shape 13"/>
          <p:cNvSpPr/>
          <p:nvPr/>
        </p:nvSpPr>
        <p:spPr>
          <a:xfrm>
            <a:off x="7242048" y="1691640"/>
            <a:ext cx="0" cy="557784"/>
          </a:xfrm>
          <a:prstGeom prst="line">
            <a:avLst/>
          </a:prstGeom>
          <a:noFill/>
          <a:ln w="6985">
            <a:solidFill>
              <a:srgbClr val="506078"/>
            </a:solidFill>
            <a:prstDash val="solid"/>
          </a:ln>
        </p:spPr>
      </p:sp>
      <p:sp>
        <p:nvSpPr>
          <p:cNvPr id="16" name="Text 14"/>
          <p:cNvSpPr/>
          <p:nvPr/>
        </p:nvSpPr>
        <p:spPr>
          <a:xfrm>
            <a:off x="7324344" y="1732788"/>
            <a:ext cx="4123944" cy="475488"/>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EVIDENCIA</a:t>
            </a:r>
            <a:endParaRPr lang="en-US" sz="1160" dirty="0"/>
          </a:p>
        </p:txBody>
      </p:sp>
      <p:sp>
        <p:nvSpPr>
          <p:cNvPr id="17" name="Shape 15"/>
          <p:cNvSpPr/>
          <p:nvPr/>
        </p:nvSpPr>
        <p:spPr>
          <a:xfrm>
            <a:off x="667512" y="2249424"/>
            <a:ext cx="10863072" cy="0"/>
          </a:xfrm>
          <a:prstGeom prst="line">
            <a:avLst/>
          </a:prstGeom>
          <a:noFill/>
          <a:ln w="6985">
            <a:solidFill>
              <a:srgbClr val="D6DEE8"/>
            </a:solidFill>
            <a:prstDash val="solid"/>
          </a:ln>
        </p:spPr>
      </p:sp>
      <p:sp>
        <p:nvSpPr>
          <p:cNvPr id="18" name="Shape 16"/>
          <p:cNvSpPr/>
          <p:nvPr/>
        </p:nvSpPr>
        <p:spPr>
          <a:xfrm>
            <a:off x="667512" y="2249424"/>
            <a:ext cx="10863072" cy="813816"/>
          </a:xfrm>
          <a:prstGeom prst="rect">
            <a:avLst/>
          </a:prstGeom>
          <a:solidFill>
            <a:srgbClr val="FFFFFF"/>
          </a:solidFill>
          <a:ln w="12700">
            <a:solidFill>
              <a:srgbClr val="FFFFFF">
                <a:alpha val="0"/>
              </a:srgbClr>
            </a:solidFill>
            <a:prstDash val="solid"/>
          </a:ln>
        </p:spPr>
      </p:sp>
      <p:sp>
        <p:nvSpPr>
          <p:cNvPr id="19" name="Text 17"/>
          <p:cNvSpPr/>
          <p:nvPr/>
        </p:nvSpPr>
        <p:spPr>
          <a:xfrm>
            <a:off x="749808" y="2290572"/>
            <a:ext cx="177393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P1 · Calidad</a:t>
            </a:r>
            <a:endParaRPr lang="en-US" sz="1325" dirty="0"/>
          </a:p>
        </p:txBody>
      </p:sp>
      <p:sp>
        <p:nvSpPr>
          <p:cNvPr id="20" name="Shape 18"/>
          <p:cNvSpPr/>
          <p:nvPr/>
        </p:nvSpPr>
        <p:spPr>
          <a:xfrm>
            <a:off x="2606040" y="2249424"/>
            <a:ext cx="0" cy="813816"/>
          </a:xfrm>
          <a:prstGeom prst="line">
            <a:avLst/>
          </a:prstGeom>
          <a:noFill/>
          <a:ln w="6985">
            <a:solidFill>
              <a:srgbClr val="D6DEE8"/>
            </a:solidFill>
            <a:prstDash val="solid"/>
          </a:ln>
        </p:spPr>
      </p:sp>
      <p:sp>
        <p:nvSpPr>
          <p:cNvPr id="21" name="Text 19"/>
          <p:cNvSpPr/>
          <p:nvPr/>
        </p:nvSpPr>
        <p:spPr>
          <a:xfrm>
            <a:off x="2688336" y="2290572"/>
            <a:ext cx="2029968"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OE1 · Construir base</a:t>
            </a:r>
            <a:endParaRPr lang="en-US" sz="1325" dirty="0"/>
          </a:p>
        </p:txBody>
      </p:sp>
      <p:sp>
        <p:nvSpPr>
          <p:cNvPr id="22" name="Shape 20"/>
          <p:cNvSpPr/>
          <p:nvPr/>
        </p:nvSpPr>
        <p:spPr>
          <a:xfrm>
            <a:off x="4800600" y="2249424"/>
            <a:ext cx="0" cy="813816"/>
          </a:xfrm>
          <a:prstGeom prst="line">
            <a:avLst/>
          </a:prstGeom>
          <a:noFill/>
          <a:ln w="6985">
            <a:solidFill>
              <a:srgbClr val="D6DEE8"/>
            </a:solidFill>
            <a:prstDash val="solid"/>
          </a:ln>
        </p:spPr>
      </p:sp>
      <p:sp>
        <p:nvSpPr>
          <p:cNvPr id="23" name="Text 21"/>
          <p:cNvSpPr/>
          <p:nvPr/>
        </p:nvSpPr>
        <p:spPr>
          <a:xfrm>
            <a:off x="4882896" y="2290572"/>
            <a:ext cx="227685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HE1 · Calidad y trazabilidad</a:t>
            </a:r>
            <a:endParaRPr lang="en-US" sz="1325" dirty="0"/>
          </a:p>
        </p:txBody>
      </p:sp>
      <p:sp>
        <p:nvSpPr>
          <p:cNvPr id="24" name="Shape 22"/>
          <p:cNvSpPr/>
          <p:nvPr/>
        </p:nvSpPr>
        <p:spPr>
          <a:xfrm>
            <a:off x="7242048" y="2249424"/>
            <a:ext cx="0" cy="813816"/>
          </a:xfrm>
          <a:prstGeom prst="line">
            <a:avLst/>
          </a:prstGeom>
          <a:noFill/>
          <a:ln w="6985">
            <a:solidFill>
              <a:srgbClr val="D6DEE8"/>
            </a:solidFill>
            <a:prstDash val="solid"/>
          </a:ln>
        </p:spPr>
      </p:sp>
      <p:sp>
        <p:nvSpPr>
          <p:cNvPr id="25" name="Text 23"/>
          <p:cNvSpPr/>
          <p:nvPr/>
        </p:nvSpPr>
        <p:spPr>
          <a:xfrm>
            <a:off x="7324344" y="2290572"/>
            <a:ext cx="4123944"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Cobertura 65,80 % · completitud 99,54 %</a:t>
            </a:r>
            <a:endParaRPr lang="en-US" sz="1325" dirty="0"/>
          </a:p>
        </p:txBody>
      </p:sp>
      <p:sp>
        <p:nvSpPr>
          <p:cNvPr id="26" name="Shape 24"/>
          <p:cNvSpPr/>
          <p:nvPr/>
        </p:nvSpPr>
        <p:spPr>
          <a:xfrm>
            <a:off x="667512" y="3063240"/>
            <a:ext cx="10863072" cy="0"/>
          </a:xfrm>
          <a:prstGeom prst="line">
            <a:avLst/>
          </a:prstGeom>
          <a:noFill/>
          <a:ln w="6985">
            <a:solidFill>
              <a:srgbClr val="D6DEE8"/>
            </a:solidFill>
            <a:prstDash val="solid"/>
          </a:ln>
        </p:spPr>
      </p:sp>
      <p:sp>
        <p:nvSpPr>
          <p:cNvPr id="27" name="Shape 25"/>
          <p:cNvSpPr/>
          <p:nvPr/>
        </p:nvSpPr>
        <p:spPr>
          <a:xfrm>
            <a:off x="667512" y="3063240"/>
            <a:ext cx="10863072" cy="813816"/>
          </a:xfrm>
          <a:prstGeom prst="rect">
            <a:avLst/>
          </a:prstGeom>
          <a:solidFill>
            <a:srgbClr val="EDF2F8"/>
          </a:solidFill>
          <a:ln w="12700">
            <a:solidFill>
              <a:srgbClr val="FFFFFF">
                <a:alpha val="0"/>
              </a:srgbClr>
            </a:solidFill>
            <a:prstDash val="solid"/>
          </a:ln>
        </p:spPr>
      </p:sp>
      <p:sp>
        <p:nvSpPr>
          <p:cNvPr id="28" name="Text 26"/>
          <p:cNvSpPr/>
          <p:nvPr/>
        </p:nvSpPr>
        <p:spPr>
          <a:xfrm>
            <a:off x="749808" y="3104388"/>
            <a:ext cx="177393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P2 · Integración</a:t>
            </a:r>
            <a:endParaRPr lang="en-US" sz="1325" dirty="0"/>
          </a:p>
        </p:txBody>
      </p:sp>
      <p:sp>
        <p:nvSpPr>
          <p:cNvPr id="29" name="Shape 27"/>
          <p:cNvSpPr/>
          <p:nvPr/>
        </p:nvSpPr>
        <p:spPr>
          <a:xfrm>
            <a:off x="2606040" y="3063240"/>
            <a:ext cx="0" cy="813816"/>
          </a:xfrm>
          <a:prstGeom prst="line">
            <a:avLst/>
          </a:prstGeom>
          <a:noFill/>
          <a:ln w="6985">
            <a:solidFill>
              <a:srgbClr val="D6DEE8"/>
            </a:solidFill>
            <a:prstDash val="solid"/>
          </a:ln>
        </p:spPr>
      </p:sp>
      <p:sp>
        <p:nvSpPr>
          <p:cNvPr id="30" name="Text 28"/>
          <p:cNvSpPr/>
          <p:nvPr/>
        </p:nvSpPr>
        <p:spPr>
          <a:xfrm>
            <a:off x="2688336" y="3104388"/>
            <a:ext cx="2029968"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OE2 · Diseñar sistema</a:t>
            </a:r>
            <a:endParaRPr lang="en-US" sz="1325" dirty="0"/>
          </a:p>
        </p:txBody>
      </p:sp>
      <p:sp>
        <p:nvSpPr>
          <p:cNvPr id="31" name="Shape 29"/>
          <p:cNvSpPr/>
          <p:nvPr/>
        </p:nvSpPr>
        <p:spPr>
          <a:xfrm>
            <a:off x="4800600" y="3063240"/>
            <a:ext cx="0" cy="813816"/>
          </a:xfrm>
          <a:prstGeom prst="line">
            <a:avLst/>
          </a:prstGeom>
          <a:noFill/>
          <a:ln w="6985">
            <a:solidFill>
              <a:srgbClr val="D6DEE8"/>
            </a:solidFill>
            <a:prstDash val="solid"/>
          </a:ln>
        </p:spPr>
      </p:sp>
      <p:sp>
        <p:nvSpPr>
          <p:cNvPr id="32" name="Text 30"/>
          <p:cNvSpPr/>
          <p:nvPr/>
        </p:nvSpPr>
        <p:spPr>
          <a:xfrm>
            <a:off x="4882896" y="3104388"/>
            <a:ext cx="227685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HE2 · Integración modular</a:t>
            </a:r>
            <a:endParaRPr lang="en-US" sz="1325" dirty="0"/>
          </a:p>
        </p:txBody>
      </p:sp>
      <p:sp>
        <p:nvSpPr>
          <p:cNvPr id="33" name="Shape 31"/>
          <p:cNvSpPr/>
          <p:nvPr/>
        </p:nvSpPr>
        <p:spPr>
          <a:xfrm>
            <a:off x="7242048" y="3063240"/>
            <a:ext cx="0" cy="813816"/>
          </a:xfrm>
          <a:prstGeom prst="line">
            <a:avLst/>
          </a:prstGeom>
          <a:noFill/>
          <a:ln w="6985">
            <a:solidFill>
              <a:srgbClr val="D6DEE8"/>
            </a:solidFill>
            <a:prstDash val="solid"/>
          </a:ln>
        </p:spPr>
      </p:sp>
      <p:sp>
        <p:nvSpPr>
          <p:cNvPr id="34" name="Text 32"/>
          <p:cNvSpPr/>
          <p:nvPr/>
        </p:nvSpPr>
        <p:spPr>
          <a:xfrm>
            <a:off x="7324344" y="3104388"/>
            <a:ext cx="4123944"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Pruebas funcionales satisfactorias</a:t>
            </a:r>
            <a:endParaRPr lang="en-US" sz="1325" dirty="0"/>
          </a:p>
        </p:txBody>
      </p:sp>
      <p:sp>
        <p:nvSpPr>
          <p:cNvPr id="35" name="Shape 33"/>
          <p:cNvSpPr/>
          <p:nvPr/>
        </p:nvSpPr>
        <p:spPr>
          <a:xfrm>
            <a:off x="667512" y="3877056"/>
            <a:ext cx="10863072" cy="0"/>
          </a:xfrm>
          <a:prstGeom prst="line">
            <a:avLst/>
          </a:prstGeom>
          <a:noFill/>
          <a:ln w="6985">
            <a:solidFill>
              <a:srgbClr val="D6DEE8"/>
            </a:solidFill>
            <a:prstDash val="solid"/>
          </a:ln>
        </p:spPr>
      </p:sp>
      <p:sp>
        <p:nvSpPr>
          <p:cNvPr id="36" name="Shape 34"/>
          <p:cNvSpPr/>
          <p:nvPr/>
        </p:nvSpPr>
        <p:spPr>
          <a:xfrm>
            <a:off x="667512" y="3877056"/>
            <a:ext cx="10863072" cy="813816"/>
          </a:xfrm>
          <a:prstGeom prst="rect">
            <a:avLst/>
          </a:prstGeom>
          <a:solidFill>
            <a:srgbClr val="FFFFFF"/>
          </a:solidFill>
          <a:ln w="12700">
            <a:solidFill>
              <a:srgbClr val="FFFFFF">
                <a:alpha val="0"/>
              </a:srgbClr>
            </a:solidFill>
            <a:prstDash val="solid"/>
          </a:ln>
        </p:spPr>
      </p:sp>
      <p:sp>
        <p:nvSpPr>
          <p:cNvPr id="37" name="Text 35"/>
          <p:cNvSpPr/>
          <p:nvPr/>
        </p:nvSpPr>
        <p:spPr>
          <a:xfrm>
            <a:off x="749808" y="3918204"/>
            <a:ext cx="177393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P3 · Desempeño</a:t>
            </a:r>
            <a:endParaRPr lang="en-US" sz="1325" dirty="0"/>
          </a:p>
        </p:txBody>
      </p:sp>
      <p:sp>
        <p:nvSpPr>
          <p:cNvPr id="38" name="Shape 36"/>
          <p:cNvSpPr/>
          <p:nvPr/>
        </p:nvSpPr>
        <p:spPr>
          <a:xfrm>
            <a:off x="2606040" y="3877056"/>
            <a:ext cx="0" cy="813816"/>
          </a:xfrm>
          <a:prstGeom prst="line">
            <a:avLst/>
          </a:prstGeom>
          <a:noFill/>
          <a:ln w="6985">
            <a:solidFill>
              <a:srgbClr val="D6DEE8"/>
            </a:solidFill>
            <a:prstDash val="solid"/>
          </a:ln>
        </p:spPr>
      </p:sp>
      <p:sp>
        <p:nvSpPr>
          <p:cNvPr id="39" name="Text 37"/>
          <p:cNvSpPr/>
          <p:nvPr/>
        </p:nvSpPr>
        <p:spPr>
          <a:xfrm>
            <a:off x="2688336" y="3918204"/>
            <a:ext cx="2029968"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OE3 · Comparar</a:t>
            </a:r>
            <a:endParaRPr lang="en-US" sz="1325" dirty="0"/>
          </a:p>
        </p:txBody>
      </p:sp>
      <p:sp>
        <p:nvSpPr>
          <p:cNvPr id="40" name="Shape 38"/>
          <p:cNvSpPr/>
          <p:nvPr/>
        </p:nvSpPr>
        <p:spPr>
          <a:xfrm>
            <a:off x="4800600" y="3877056"/>
            <a:ext cx="0" cy="813816"/>
          </a:xfrm>
          <a:prstGeom prst="line">
            <a:avLst/>
          </a:prstGeom>
          <a:noFill/>
          <a:ln w="6985">
            <a:solidFill>
              <a:srgbClr val="D6DEE8"/>
            </a:solidFill>
            <a:prstDash val="solid"/>
          </a:ln>
        </p:spPr>
      </p:sp>
      <p:sp>
        <p:nvSpPr>
          <p:cNvPr id="41" name="Text 39"/>
          <p:cNvSpPr/>
          <p:nvPr/>
        </p:nvSpPr>
        <p:spPr>
          <a:xfrm>
            <a:off x="4882896" y="3918204"/>
            <a:ext cx="227685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HE3 · Superar referentes</a:t>
            </a:r>
            <a:endParaRPr lang="en-US" sz="1325" dirty="0"/>
          </a:p>
        </p:txBody>
      </p:sp>
      <p:sp>
        <p:nvSpPr>
          <p:cNvPr id="42" name="Shape 40"/>
          <p:cNvSpPr/>
          <p:nvPr/>
        </p:nvSpPr>
        <p:spPr>
          <a:xfrm>
            <a:off x="7242048" y="3877056"/>
            <a:ext cx="0" cy="813816"/>
          </a:xfrm>
          <a:prstGeom prst="line">
            <a:avLst/>
          </a:prstGeom>
          <a:noFill/>
          <a:ln w="6985">
            <a:solidFill>
              <a:srgbClr val="D6DEE8"/>
            </a:solidFill>
            <a:prstDash val="solid"/>
          </a:ln>
        </p:spPr>
      </p:sp>
      <p:sp>
        <p:nvSpPr>
          <p:cNvPr id="43" name="Text 41"/>
          <p:cNvSpPr/>
          <p:nvPr/>
        </p:nvSpPr>
        <p:spPr>
          <a:xfrm>
            <a:off x="7324344" y="3918204"/>
            <a:ext cx="4123944"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F1, AUC, MAE, RMSE, IC 95 %</a:t>
            </a:r>
            <a:endParaRPr lang="en-US" sz="1325" dirty="0"/>
          </a:p>
        </p:txBody>
      </p:sp>
      <p:sp>
        <p:nvSpPr>
          <p:cNvPr id="44" name="Shape 42"/>
          <p:cNvSpPr/>
          <p:nvPr/>
        </p:nvSpPr>
        <p:spPr>
          <a:xfrm>
            <a:off x="667512" y="4690872"/>
            <a:ext cx="10863072" cy="0"/>
          </a:xfrm>
          <a:prstGeom prst="line">
            <a:avLst/>
          </a:prstGeom>
          <a:noFill/>
          <a:ln w="6985">
            <a:solidFill>
              <a:srgbClr val="D6DEE8"/>
            </a:solidFill>
            <a:prstDash val="solid"/>
          </a:ln>
        </p:spPr>
      </p:sp>
      <p:sp>
        <p:nvSpPr>
          <p:cNvPr id="45" name="Shape 43"/>
          <p:cNvSpPr/>
          <p:nvPr/>
        </p:nvSpPr>
        <p:spPr>
          <a:xfrm>
            <a:off x="667512" y="4690872"/>
            <a:ext cx="10863072" cy="813816"/>
          </a:xfrm>
          <a:prstGeom prst="rect">
            <a:avLst/>
          </a:prstGeom>
          <a:solidFill>
            <a:srgbClr val="EDF2F8"/>
          </a:solidFill>
          <a:ln w="12700">
            <a:solidFill>
              <a:srgbClr val="FFFFFF">
                <a:alpha val="0"/>
              </a:srgbClr>
            </a:solidFill>
            <a:prstDash val="solid"/>
          </a:ln>
        </p:spPr>
      </p:sp>
      <p:sp>
        <p:nvSpPr>
          <p:cNvPr id="46" name="Text 44"/>
          <p:cNvSpPr/>
          <p:nvPr/>
        </p:nvSpPr>
        <p:spPr>
          <a:xfrm>
            <a:off x="749808" y="4732020"/>
            <a:ext cx="177393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P4 · Anticipación</a:t>
            </a:r>
            <a:endParaRPr lang="en-US" sz="1325" dirty="0"/>
          </a:p>
        </p:txBody>
      </p:sp>
      <p:sp>
        <p:nvSpPr>
          <p:cNvPr id="47" name="Shape 45"/>
          <p:cNvSpPr/>
          <p:nvPr/>
        </p:nvSpPr>
        <p:spPr>
          <a:xfrm>
            <a:off x="2606040" y="4690872"/>
            <a:ext cx="0" cy="813816"/>
          </a:xfrm>
          <a:prstGeom prst="line">
            <a:avLst/>
          </a:prstGeom>
          <a:noFill/>
          <a:ln w="6985">
            <a:solidFill>
              <a:srgbClr val="D6DEE8"/>
            </a:solidFill>
            <a:prstDash val="solid"/>
          </a:ln>
        </p:spPr>
      </p:sp>
      <p:sp>
        <p:nvSpPr>
          <p:cNvPr id="48" name="Text 46"/>
          <p:cNvSpPr/>
          <p:nvPr/>
        </p:nvSpPr>
        <p:spPr>
          <a:xfrm>
            <a:off x="2688336" y="4732020"/>
            <a:ext cx="2029968"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OE4 · Explicar</a:t>
            </a:r>
            <a:endParaRPr lang="en-US" sz="1325" dirty="0"/>
          </a:p>
        </p:txBody>
      </p:sp>
      <p:sp>
        <p:nvSpPr>
          <p:cNvPr id="49" name="Shape 47"/>
          <p:cNvSpPr/>
          <p:nvPr/>
        </p:nvSpPr>
        <p:spPr>
          <a:xfrm>
            <a:off x="4800600" y="4690872"/>
            <a:ext cx="0" cy="813816"/>
          </a:xfrm>
          <a:prstGeom prst="line">
            <a:avLst/>
          </a:prstGeom>
          <a:noFill/>
          <a:ln w="6985">
            <a:solidFill>
              <a:srgbClr val="D6DEE8"/>
            </a:solidFill>
            <a:prstDash val="solid"/>
          </a:ln>
        </p:spPr>
      </p:sp>
      <p:sp>
        <p:nvSpPr>
          <p:cNvPr id="50" name="Text 48"/>
          <p:cNvSpPr/>
          <p:nvPr/>
        </p:nvSpPr>
        <p:spPr>
          <a:xfrm>
            <a:off x="4882896" y="4732020"/>
            <a:ext cx="2276856"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HE4 · Mayor recall y variables</a:t>
            </a:r>
            <a:endParaRPr lang="en-US" sz="1325" dirty="0"/>
          </a:p>
        </p:txBody>
      </p:sp>
      <p:sp>
        <p:nvSpPr>
          <p:cNvPr id="51" name="Shape 49"/>
          <p:cNvSpPr/>
          <p:nvPr/>
        </p:nvSpPr>
        <p:spPr>
          <a:xfrm>
            <a:off x="7242048" y="4690872"/>
            <a:ext cx="0" cy="813816"/>
          </a:xfrm>
          <a:prstGeom prst="line">
            <a:avLst/>
          </a:prstGeom>
          <a:noFill/>
          <a:ln w="6985">
            <a:solidFill>
              <a:srgbClr val="D6DEE8"/>
            </a:solidFill>
            <a:prstDash val="solid"/>
          </a:ln>
        </p:spPr>
      </p:sp>
      <p:sp>
        <p:nvSpPr>
          <p:cNvPr id="52" name="Text 50"/>
          <p:cNvSpPr/>
          <p:nvPr/>
        </p:nvSpPr>
        <p:spPr>
          <a:xfrm>
            <a:off x="7324344" y="4732020"/>
            <a:ext cx="4123944" cy="731520"/>
          </a:xfrm>
          <a:prstGeom prst="rect">
            <a:avLst/>
          </a:prstGeom>
          <a:noFill/>
          <a:ln/>
        </p:spPr>
        <p:txBody>
          <a:bodyPr wrap="square" lIns="0" tIns="0" rIns="0" bIns="0" rtlCol="0" anchor="ctr">
            <a:normAutofit/>
          </a:bodyPr>
          <a:lstStyle/>
          <a:p>
            <a:pPr algn="l" indent="0" marL="0">
              <a:buNone/>
            </a:pPr>
            <a:r>
              <a:rPr lang="en-US" sz="1325" dirty="0">
                <a:solidFill>
                  <a:srgbClr val="202B3C"/>
                </a:solidFill>
                <a:latin typeface="Aptos" pitchFamily="34" charset="0"/>
                <a:ea typeface="Aptos" pitchFamily="34" charset="-122"/>
                <a:cs typeface="Aptos" pitchFamily="34" charset="-120"/>
              </a:rPr>
              <a:t>Alertas a 15 min + permutación</a:t>
            </a:r>
            <a:endParaRPr lang="en-US" sz="1325" dirty="0"/>
          </a:p>
        </p:txBody>
      </p:sp>
      <p:sp>
        <p:nvSpPr>
          <p:cNvPr id="53" name="Shape 51"/>
          <p:cNvSpPr/>
          <p:nvPr/>
        </p:nvSpPr>
        <p:spPr>
          <a:xfrm>
            <a:off x="667512" y="5504688"/>
            <a:ext cx="10863072" cy="0"/>
          </a:xfrm>
          <a:prstGeom prst="line">
            <a:avLst/>
          </a:prstGeom>
          <a:noFill/>
          <a:ln w="6985">
            <a:solidFill>
              <a:srgbClr val="D6DEE8"/>
            </a:solidFill>
            <a:prstDash val="solid"/>
          </a:ln>
        </p:spPr>
      </p:sp>
      <p:sp>
        <p:nvSpPr>
          <p:cNvPr id="54" name="Shape 52"/>
          <p:cNvSpPr/>
          <p:nvPr/>
        </p:nvSpPr>
        <p:spPr>
          <a:xfrm>
            <a:off x="713232" y="5650992"/>
            <a:ext cx="10744200" cy="521208"/>
          </a:xfrm>
          <a:prstGeom prst="roundRect">
            <a:avLst/>
          </a:prstGeom>
          <a:solidFill>
            <a:srgbClr val="E8F4F3"/>
          </a:solidFill>
          <a:ln w="12700">
            <a:solidFill>
              <a:srgbClr val="FFFFFF">
                <a:alpha val="0"/>
              </a:srgbClr>
            </a:solidFill>
            <a:prstDash val="solid"/>
          </a:ln>
        </p:spPr>
      </p:sp>
      <p:sp>
        <p:nvSpPr>
          <p:cNvPr id="55" name="Shape 53"/>
          <p:cNvSpPr/>
          <p:nvPr/>
        </p:nvSpPr>
        <p:spPr>
          <a:xfrm>
            <a:off x="713232" y="5650992"/>
            <a:ext cx="73152" cy="521208"/>
          </a:xfrm>
          <a:prstGeom prst="rect">
            <a:avLst/>
          </a:prstGeom>
          <a:solidFill>
            <a:srgbClr val="168B91"/>
          </a:solidFill>
          <a:ln w="12700">
            <a:solidFill>
              <a:srgbClr val="FFFFFF">
                <a:alpha val="0"/>
              </a:srgbClr>
            </a:solidFill>
            <a:prstDash val="solid"/>
          </a:ln>
        </p:spPr>
      </p:sp>
      <p:sp>
        <p:nvSpPr>
          <p:cNvPr id="56" name="Text 54"/>
          <p:cNvSpPr/>
          <p:nvPr/>
        </p:nvSpPr>
        <p:spPr>
          <a:xfrm>
            <a:off x="905256" y="5742432"/>
            <a:ext cx="10378440" cy="356616"/>
          </a:xfrm>
          <a:prstGeom prst="rect">
            <a:avLst/>
          </a:prstGeom>
          <a:noFill/>
          <a:ln/>
        </p:spPr>
        <p:txBody>
          <a:bodyPr wrap="square" lIns="0" tIns="0" rIns="0" bIns="0" rtlCol="0" anchor="ctr">
            <a:normAutofit/>
          </a:bodyPr>
          <a:lstStyle/>
          <a:p>
            <a:pPr algn="l" indent="0" marL="0">
              <a:buNone/>
            </a:pPr>
            <a:r>
              <a:rPr lang="en-US" sz="1460" b="1" dirty="0">
                <a:solidFill>
                  <a:srgbClr val="111E37"/>
                </a:solidFill>
                <a:latin typeface="Aptos" pitchFamily="34" charset="0"/>
                <a:ea typeface="Aptos" pitchFamily="34" charset="-122"/>
                <a:cs typeface="Aptos" pitchFamily="34" charset="-120"/>
              </a:rPr>
              <a:t>La pregunta general y el objetivo general se evalúan mediante la síntesis de las cuatro decisiones específicas.</a:t>
            </a:r>
            <a:endParaRPr lang="en-US" sz="14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E37"/>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7B755"/>
          </a:solidFill>
          <a:ln w="12700">
            <a:solidFill>
              <a:srgbClr val="FFFFFF">
                <a:alpha val="0"/>
              </a:srgbClr>
            </a:solidFill>
            <a:prstDash val="solid"/>
          </a:ln>
        </p:spPr>
      </p:sp>
      <p:sp>
        <p:nvSpPr>
          <p:cNvPr id="3" name="Shape 1"/>
          <p:cNvSpPr/>
          <p:nvPr/>
        </p:nvSpPr>
        <p:spPr>
          <a:xfrm>
            <a:off x="7498080" y="0"/>
            <a:ext cx="4206240" cy="6858000"/>
          </a:xfrm>
          <a:prstGeom prst="line">
            <a:avLst/>
          </a:prstGeom>
          <a:noFill/>
          <a:ln w="6350">
            <a:solidFill>
              <a:srgbClr val="293C59"/>
            </a:solidFill>
            <a:prstDash val="solid"/>
          </a:ln>
        </p:spPr>
      </p:sp>
      <p:sp>
        <p:nvSpPr>
          <p:cNvPr id="4" name="Shape 2"/>
          <p:cNvSpPr/>
          <p:nvPr/>
        </p:nvSpPr>
        <p:spPr>
          <a:xfrm>
            <a:off x="7991856" y="0"/>
            <a:ext cx="3913632" cy="6858000"/>
          </a:xfrm>
          <a:prstGeom prst="line">
            <a:avLst/>
          </a:prstGeom>
          <a:noFill/>
          <a:ln w="6350">
            <a:solidFill>
              <a:srgbClr val="293C59"/>
            </a:solidFill>
            <a:prstDash val="solid"/>
          </a:ln>
        </p:spPr>
      </p:sp>
      <p:sp>
        <p:nvSpPr>
          <p:cNvPr id="5" name="Shape 3"/>
          <p:cNvSpPr/>
          <p:nvPr/>
        </p:nvSpPr>
        <p:spPr>
          <a:xfrm>
            <a:off x="8485632" y="0"/>
            <a:ext cx="3621024" cy="6858000"/>
          </a:xfrm>
          <a:prstGeom prst="line">
            <a:avLst/>
          </a:prstGeom>
          <a:noFill/>
          <a:ln w="6350">
            <a:solidFill>
              <a:srgbClr val="293C59"/>
            </a:solidFill>
            <a:prstDash val="solid"/>
          </a:ln>
        </p:spPr>
      </p:sp>
      <p:sp>
        <p:nvSpPr>
          <p:cNvPr id="6" name="Shape 4"/>
          <p:cNvSpPr/>
          <p:nvPr/>
        </p:nvSpPr>
        <p:spPr>
          <a:xfrm>
            <a:off x="8979408" y="0"/>
            <a:ext cx="3328416" cy="6858000"/>
          </a:xfrm>
          <a:prstGeom prst="line">
            <a:avLst/>
          </a:prstGeom>
          <a:noFill/>
          <a:ln w="6350">
            <a:solidFill>
              <a:srgbClr val="293C59"/>
            </a:solidFill>
            <a:prstDash val="solid"/>
          </a:ln>
        </p:spPr>
      </p:sp>
      <p:sp>
        <p:nvSpPr>
          <p:cNvPr id="7" name="Shape 5"/>
          <p:cNvSpPr/>
          <p:nvPr/>
        </p:nvSpPr>
        <p:spPr>
          <a:xfrm>
            <a:off x="9473184" y="0"/>
            <a:ext cx="3035808" cy="6858000"/>
          </a:xfrm>
          <a:prstGeom prst="line">
            <a:avLst/>
          </a:prstGeom>
          <a:noFill/>
          <a:ln w="6350">
            <a:solidFill>
              <a:srgbClr val="293C59"/>
            </a:solidFill>
            <a:prstDash val="solid"/>
          </a:ln>
        </p:spPr>
      </p:sp>
      <p:sp>
        <p:nvSpPr>
          <p:cNvPr id="8" name="Shape 6"/>
          <p:cNvSpPr/>
          <p:nvPr/>
        </p:nvSpPr>
        <p:spPr>
          <a:xfrm>
            <a:off x="9966960" y="0"/>
            <a:ext cx="2743200" cy="6858000"/>
          </a:xfrm>
          <a:prstGeom prst="line">
            <a:avLst/>
          </a:prstGeom>
          <a:noFill/>
          <a:ln w="6350">
            <a:solidFill>
              <a:srgbClr val="293C59"/>
            </a:solidFill>
            <a:prstDash val="solid"/>
          </a:ln>
        </p:spPr>
      </p:sp>
      <p:sp>
        <p:nvSpPr>
          <p:cNvPr id="9" name="Shape 7"/>
          <p:cNvSpPr/>
          <p:nvPr/>
        </p:nvSpPr>
        <p:spPr>
          <a:xfrm>
            <a:off x="10460736" y="0"/>
            <a:ext cx="2450592" cy="6858000"/>
          </a:xfrm>
          <a:prstGeom prst="line">
            <a:avLst/>
          </a:prstGeom>
          <a:noFill/>
          <a:ln w="6350">
            <a:solidFill>
              <a:srgbClr val="293C59"/>
            </a:solidFill>
            <a:prstDash val="solid"/>
          </a:ln>
        </p:spPr>
      </p:sp>
      <p:sp>
        <p:nvSpPr>
          <p:cNvPr id="10" name="Shape 8"/>
          <p:cNvSpPr/>
          <p:nvPr/>
        </p:nvSpPr>
        <p:spPr>
          <a:xfrm>
            <a:off x="603504" y="649224"/>
            <a:ext cx="1984248"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685800" y="649224"/>
            <a:ext cx="1819656"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EJE CENTRAL 02</a:t>
            </a:r>
            <a:endParaRPr lang="en-US" sz="940" dirty="0"/>
          </a:p>
        </p:txBody>
      </p:sp>
      <p:sp>
        <p:nvSpPr>
          <p:cNvPr id="12" name="Text 10"/>
          <p:cNvSpPr/>
          <p:nvPr/>
        </p:nvSpPr>
        <p:spPr>
          <a:xfrm>
            <a:off x="594360" y="1371600"/>
            <a:ext cx="10744200" cy="1325880"/>
          </a:xfrm>
          <a:prstGeom prst="rect">
            <a:avLst/>
          </a:prstGeom>
          <a:noFill/>
          <a:ln/>
        </p:spPr>
        <p:txBody>
          <a:bodyPr wrap="square" lIns="0" tIns="0" rIns="0" bIns="0" rtlCol="0" anchor="ctr">
            <a:normAutofit/>
          </a:bodyPr>
          <a:lstStyle/>
          <a:p>
            <a:pPr algn="l" indent="0" marL="0">
              <a:buNone/>
            </a:pPr>
            <a:r>
              <a:rPr lang="en-US" sz="3900" b="1" dirty="0">
                <a:solidFill>
                  <a:srgbClr val="FFFFFF"/>
                </a:solidFill>
                <a:latin typeface="Aptos Display" pitchFamily="34" charset="0"/>
                <a:ea typeface="Aptos Display" pitchFamily="34" charset="-122"/>
                <a:cs typeface="Aptos Display" pitchFamily="34" charset="-120"/>
              </a:rPr>
              <a:t>Resultados y contrastación</a:t>
            </a:r>
            <a:endParaRPr lang="en-US" sz="3900" dirty="0"/>
          </a:p>
        </p:txBody>
      </p:sp>
      <p:sp>
        <p:nvSpPr>
          <p:cNvPr id="13" name="Text 11"/>
          <p:cNvSpPr/>
          <p:nvPr/>
        </p:nvSpPr>
        <p:spPr>
          <a:xfrm>
            <a:off x="630936" y="2971800"/>
            <a:ext cx="9235440" cy="914400"/>
          </a:xfrm>
          <a:prstGeom prst="rect">
            <a:avLst/>
          </a:prstGeom>
          <a:noFill/>
          <a:ln/>
        </p:spPr>
        <p:txBody>
          <a:bodyPr wrap="square" lIns="0" tIns="0" rIns="0" bIns="0" rtlCol="0" anchor="ctr">
            <a:normAutofit/>
          </a:bodyPr>
          <a:lstStyle/>
          <a:p>
            <a:pPr algn="l" indent="0" marL="0">
              <a:buNone/>
            </a:pPr>
            <a:r>
              <a:rPr lang="en-US" sz="1900" dirty="0">
                <a:solidFill>
                  <a:srgbClr val="BDCDDF"/>
                </a:solidFill>
                <a:latin typeface="Aptos" pitchFamily="34" charset="0"/>
                <a:ea typeface="Aptos" pitchFamily="34" charset="-122"/>
                <a:cs typeface="Aptos" pitchFamily="34" charset="-120"/>
              </a:rPr>
              <a:t>Cada resultado se presenta con su objetivo, su pregunta y su decisión inferencial.</a:t>
            </a:r>
            <a:endParaRPr lang="en-US" sz="1900" dirty="0"/>
          </a:p>
        </p:txBody>
      </p:sp>
      <p:sp>
        <p:nvSpPr>
          <p:cNvPr id="14" name="Shape 12"/>
          <p:cNvSpPr/>
          <p:nvPr/>
        </p:nvSpPr>
        <p:spPr>
          <a:xfrm>
            <a:off x="621792" y="6153912"/>
            <a:ext cx="10899648" cy="0"/>
          </a:xfrm>
          <a:prstGeom prst="line">
            <a:avLst/>
          </a:prstGeom>
          <a:noFill/>
          <a:ln w="8890">
            <a:solidFill>
              <a:srgbClr val="62708C"/>
            </a:solidFill>
            <a:prstDash val="solid"/>
          </a:ln>
        </p:spPr>
      </p:sp>
      <p:sp>
        <p:nvSpPr>
          <p:cNvPr id="15" name="Text 13"/>
          <p:cNvSpPr/>
          <p:nvPr/>
        </p:nvSpPr>
        <p:spPr>
          <a:xfrm>
            <a:off x="621792" y="6281928"/>
            <a:ext cx="10058400" cy="228600"/>
          </a:xfrm>
          <a:prstGeom prst="rect">
            <a:avLst/>
          </a:prstGeom>
          <a:noFill/>
          <a:ln/>
        </p:spPr>
        <p:txBody>
          <a:bodyPr wrap="square" lIns="0" tIns="0" rIns="0" bIns="0" rtlCol="0" anchor="ctr">
            <a:normAutofit/>
          </a:bodyPr>
          <a:lstStyle/>
          <a:p>
            <a:pPr algn="l" indent="0" marL="0">
              <a:buNone/>
            </a:pPr>
            <a:r>
              <a:rPr lang="en-US" sz="1010" b="1" spc="100" kern="0" dirty="0">
                <a:solidFill>
                  <a:srgbClr val="BDCDDF"/>
                </a:solidFill>
                <a:latin typeface="Aptos" pitchFamily="34" charset="0"/>
                <a:ea typeface="Aptos" pitchFamily="34" charset="-122"/>
                <a:cs typeface="Aptos" pitchFamily="34" charset="-120"/>
              </a:rPr>
              <a:t>UNIVERSIDAD NACIONAL DE CAJAMARCA · INGENIERÍA DE SISTEMAS</a:t>
            </a:r>
            <a:endParaRPr lang="en-US" sz="1010" dirty="0"/>
          </a:p>
        </p:txBody>
      </p:sp>
      <p:sp>
        <p:nvSpPr>
          <p:cNvPr id="16" name="Text 14"/>
          <p:cNvSpPr/>
          <p:nvPr/>
        </p:nvSpPr>
        <p:spPr>
          <a:xfrm>
            <a:off x="11201400" y="6254496"/>
            <a:ext cx="292608" cy="228600"/>
          </a:xfrm>
          <a:prstGeom prst="rect">
            <a:avLst/>
          </a:prstGeom>
          <a:noFill/>
          <a:ln/>
        </p:spPr>
        <p:txBody>
          <a:bodyPr wrap="square" lIns="0" tIns="0" rIns="0" bIns="0" rtlCol="0" anchor="ctr">
            <a:normAutofit/>
          </a:bodyPr>
          <a:lstStyle/>
          <a:p>
            <a:pPr algn="r" indent="0" marL="0">
              <a:buNone/>
            </a:pPr>
            <a:r>
              <a:rPr lang="en-US" sz="1000" b="1" dirty="0">
                <a:solidFill>
                  <a:srgbClr val="F4CE84"/>
                </a:solidFill>
                <a:latin typeface="Aptos" pitchFamily="34" charset="0"/>
                <a:ea typeface="Aptos" pitchFamily="34" charset="-122"/>
                <a:cs typeface="Aptos"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OE1</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Calidad del conjunto: qué se recuperó y cuánto se conservó</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OE1: construir un conjunto temporal depurado, sincronizado y trazable.</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tablas IX–X y sección 4.1.</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19</a:t>
            </a:r>
            <a:endParaRPr lang="en-US" sz="1040" dirty="0"/>
          </a:p>
        </p:txBody>
      </p:sp>
      <p:sp>
        <p:nvSpPr>
          <p:cNvPr id="9" name="Shape 7"/>
          <p:cNvSpPr/>
          <p:nvPr/>
        </p:nvSpPr>
        <p:spPr>
          <a:xfrm>
            <a:off x="704088" y="1655064"/>
            <a:ext cx="3410712" cy="1261872"/>
          </a:xfrm>
          <a:prstGeom prst="roundRect">
            <a:avLst/>
          </a:prstGeom>
          <a:solidFill>
            <a:srgbClr val="FFFFFF"/>
          </a:solidFill>
          <a:ln w="10160">
            <a:solidFill>
              <a:srgbClr val="DBE3ED"/>
            </a:solidFill>
            <a:prstDash val="solid"/>
          </a:ln>
        </p:spPr>
      </p:sp>
      <p:sp>
        <p:nvSpPr>
          <p:cNvPr id="10" name="Shape 8"/>
          <p:cNvSpPr/>
          <p:nvPr/>
        </p:nvSpPr>
        <p:spPr>
          <a:xfrm>
            <a:off x="704088" y="1655064"/>
            <a:ext cx="59436" cy="1261872"/>
          </a:xfrm>
          <a:prstGeom prst="rect">
            <a:avLst/>
          </a:prstGeom>
          <a:solidFill>
            <a:srgbClr val="2861A1"/>
          </a:solidFill>
          <a:ln w="12700">
            <a:solidFill>
              <a:srgbClr val="FFFFFF">
                <a:alpha val="0"/>
              </a:srgbClr>
            </a:solidFill>
            <a:prstDash val="solid"/>
          </a:ln>
        </p:spPr>
      </p:sp>
      <p:sp>
        <p:nvSpPr>
          <p:cNvPr id="11" name="Text 9"/>
          <p:cNvSpPr/>
          <p:nvPr/>
        </p:nvSpPr>
        <p:spPr>
          <a:xfrm>
            <a:off x="868680" y="1810512"/>
            <a:ext cx="3145536" cy="438912"/>
          </a:xfrm>
          <a:prstGeom prst="rect">
            <a:avLst/>
          </a:prstGeom>
          <a:noFill/>
          <a:ln/>
        </p:spPr>
        <p:txBody>
          <a:bodyPr wrap="square" lIns="0" tIns="0" rIns="0" bIns="0" rtlCol="0" anchor="ctr">
            <a:normAutofit/>
          </a:bodyPr>
          <a:lstStyle/>
          <a:p>
            <a:pPr algn="l" indent="0" marL="0">
              <a:buNone/>
            </a:pPr>
            <a:r>
              <a:rPr lang="en-US" sz="2800" b="1" dirty="0">
                <a:solidFill>
                  <a:srgbClr val="2861A1"/>
                </a:solidFill>
                <a:latin typeface="Aptos" pitchFamily="34" charset="0"/>
                <a:ea typeface="Aptos" pitchFamily="34" charset="-122"/>
                <a:cs typeface="Aptos" pitchFamily="34" charset="-120"/>
              </a:rPr>
              <a:t>10</a:t>
            </a:r>
            <a:endParaRPr lang="en-US" sz="2800" dirty="0"/>
          </a:p>
        </p:txBody>
      </p:sp>
      <p:sp>
        <p:nvSpPr>
          <p:cNvPr id="12" name="Text 10"/>
          <p:cNvSpPr/>
          <p:nvPr/>
        </p:nvSpPr>
        <p:spPr>
          <a:xfrm>
            <a:off x="868680" y="2359152"/>
            <a:ext cx="3136392"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marcas temporales duplicadas eliminadas</a:t>
            </a:r>
            <a:endParaRPr lang="en-US" sz="1280" dirty="0"/>
          </a:p>
        </p:txBody>
      </p:sp>
      <p:sp>
        <p:nvSpPr>
          <p:cNvPr id="13" name="Shape 11"/>
          <p:cNvSpPr/>
          <p:nvPr/>
        </p:nvSpPr>
        <p:spPr>
          <a:xfrm>
            <a:off x="4370832" y="1655064"/>
            <a:ext cx="3410712" cy="1261872"/>
          </a:xfrm>
          <a:prstGeom prst="roundRect">
            <a:avLst/>
          </a:prstGeom>
          <a:solidFill>
            <a:srgbClr val="FFFFFF"/>
          </a:solidFill>
          <a:ln w="10160">
            <a:solidFill>
              <a:srgbClr val="DBE3ED"/>
            </a:solidFill>
            <a:prstDash val="solid"/>
          </a:ln>
        </p:spPr>
      </p:sp>
      <p:sp>
        <p:nvSpPr>
          <p:cNvPr id="14" name="Shape 12"/>
          <p:cNvSpPr/>
          <p:nvPr/>
        </p:nvSpPr>
        <p:spPr>
          <a:xfrm>
            <a:off x="4370832" y="1655064"/>
            <a:ext cx="59436" cy="1261872"/>
          </a:xfrm>
          <a:prstGeom prst="rect">
            <a:avLst/>
          </a:prstGeom>
          <a:solidFill>
            <a:srgbClr val="168B91"/>
          </a:solidFill>
          <a:ln w="12700">
            <a:solidFill>
              <a:srgbClr val="FFFFFF">
                <a:alpha val="0"/>
              </a:srgbClr>
            </a:solidFill>
            <a:prstDash val="solid"/>
          </a:ln>
        </p:spPr>
      </p:sp>
      <p:sp>
        <p:nvSpPr>
          <p:cNvPr id="15" name="Text 13"/>
          <p:cNvSpPr/>
          <p:nvPr/>
        </p:nvSpPr>
        <p:spPr>
          <a:xfrm>
            <a:off x="4535424" y="1810512"/>
            <a:ext cx="3145536" cy="438912"/>
          </a:xfrm>
          <a:prstGeom prst="rect">
            <a:avLst/>
          </a:prstGeom>
          <a:noFill/>
          <a:ln/>
        </p:spPr>
        <p:txBody>
          <a:bodyPr wrap="square" lIns="0" tIns="0" rIns="0" bIns="0" rtlCol="0" anchor="ctr">
            <a:normAutofit/>
          </a:bodyPr>
          <a:lstStyle/>
          <a:p>
            <a:pPr algn="l" indent="0" marL="0">
              <a:buNone/>
            </a:pPr>
            <a:r>
              <a:rPr lang="en-US" sz="2800" b="1" dirty="0">
                <a:solidFill>
                  <a:srgbClr val="168B91"/>
                </a:solidFill>
                <a:latin typeface="Aptos" pitchFamily="34" charset="0"/>
                <a:ea typeface="Aptos" pitchFamily="34" charset="-122"/>
                <a:cs typeface="Aptos" pitchFamily="34" charset="-120"/>
              </a:rPr>
              <a:t>776</a:t>
            </a:r>
            <a:endParaRPr lang="en-US" sz="2800" dirty="0"/>
          </a:p>
        </p:txBody>
      </p:sp>
      <p:sp>
        <p:nvSpPr>
          <p:cNvPr id="16" name="Text 14"/>
          <p:cNvSpPr/>
          <p:nvPr/>
        </p:nvSpPr>
        <p:spPr>
          <a:xfrm>
            <a:off x="4535424" y="2359152"/>
            <a:ext cx="3136392"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lecturas centinela RSSI/SNR tratadas</a:t>
            </a:r>
            <a:endParaRPr lang="en-US" sz="1280" dirty="0"/>
          </a:p>
        </p:txBody>
      </p:sp>
      <p:sp>
        <p:nvSpPr>
          <p:cNvPr id="17" name="Shape 15"/>
          <p:cNvSpPr/>
          <p:nvPr/>
        </p:nvSpPr>
        <p:spPr>
          <a:xfrm>
            <a:off x="8028432" y="1655064"/>
            <a:ext cx="3410712" cy="1261872"/>
          </a:xfrm>
          <a:prstGeom prst="roundRect">
            <a:avLst/>
          </a:prstGeom>
          <a:solidFill>
            <a:srgbClr val="FFFFFF"/>
          </a:solidFill>
          <a:ln w="10160">
            <a:solidFill>
              <a:srgbClr val="DBE3ED"/>
            </a:solidFill>
            <a:prstDash val="solid"/>
          </a:ln>
        </p:spPr>
      </p:sp>
      <p:sp>
        <p:nvSpPr>
          <p:cNvPr id="18" name="Shape 16"/>
          <p:cNvSpPr/>
          <p:nvPr/>
        </p:nvSpPr>
        <p:spPr>
          <a:xfrm>
            <a:off x="8028432" y="1655064"/>
            <a:ext cx="59436" cy="1261872"/>
          </a:xfrm>
          <a:prstGeom prst="rect">
            <a:avLst/>
          </a:prstGeom>
          <a:solidFill>
            <a:srgbClr val="1B3154"/>
          </a:solidFill>
          <a:ln w="12700">
            <a:solidFill>
              <a:srgbClr val="FFFFFF">
                <a:alpha val="0"/>
              </a:srgbClr>
            </a:solidFill>
            <a:prstDash val="solid"/>
          </a:ln>
        </p:spPr>
      </p:sp>
      <p:sp>
        <p:nvSpPr>
          <p:cNvPr id="19" name="Text 17"/>
          <p:cNvSpPr/>
          <p:nvPr/>
        </p:nvSpPr>
        <p:spPr>
          <a:xfrm>
            <a:off x="8193024" y="1810512"/>
            <a:ext cx="3145536" cy="438912"/>
          </a:xfrm>
          <a:prstGeom prst="rect">
            <a:avLst/>
          </a:prstGeom>
          <a:noFill/>
          <a:ln/>
        </p:spPr>
        <p:txBody>
          <a:bodyPr wrap="square" lIns="0" tIns="0" rIns="0" bIns="0" rtlCol="0" anchor="ctr">
            <a:normAutofit/>
          </a:bodyPr>
          <a:lstStyle/>
          <a:p>
            <a:pPr algn="l" indent="0" marL="0">
              <a:buNone/>
            </a:pPr>
            <a:r>
              <a:rPr lang="en-US" sz="2800" b="1" dirty="0">
                <a:solidFill>
                  <a:srgbClr val="1B3154"/>
                </a:solidFill>
                <a:latin typeface="Aptos" pitchFamily="34" charset="0"/>
                <a:ea typeface="Aptos" pitchFamily="34" charset="-122"/>
                <a:cs typeface="Aptos" pitchFamily="34" charset="-120"/>
              </a:rPr>
              <a:t>117 911</a:t>
            </a:r>
            <a:endParaRPr lang="en-US" sz="2800" dirty="0"/>
          </a:p>
        </p:txBody>
      </p:sp>
      <p:sp>
        <p:nvSpPr>
          <p:cNvPr id="20" name="Text 18"/>
          <p:cNvSpPr/>
          <p:nvPr/>
        </p:nvSpPr>
        <p:spPr>
          <a:xfrm>
            <a:off x="8193024" y="2359152"/>
            <a:ext cx="3136392"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minutos multivariables completos</a:t>
            </a:r>
            <a:endParaRPr lang="en-US" sz="1280" dirty="0"/>
          </a:p>
        </p:txBody>
      </p:sp>
      <p:sp>
        <p:nvSpPr>
          <p:cNvPr id="21" name="Text 19"/>
          <p:cNvSpPr/>
          <p:nvPr/>
        </p:nvSpPr>
        <p:spPr>
          <a:xfrm>
            <a:off x="777240" y="3310128"/>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EVALUACIÓN CORRECTA DEL DENOMINADOR</a:t>
            </a:r>
            <a:endParaRPr lang="en-US" sz="1100" dirty="0"/>
          </a:p>
        </p:txBody>
      </p:sp>
      <p:sp>
        <p:nvSpPr>
          <p:cNvPr id="22" name="Shape 20"/>
          <p:cNvSpPr/>
          <p:nvPr/>
        </p:nvSpPr>
        <p:spPr>
          <a:xfrm>
            <a:off x="813816" y="3712464"/>
            <a:ext cx="10469880" cy="429768"/>
          </a:xfrm>
          <a:prstGeom prst="rect">
            <a:avLst/>
          </a:prstGeom>
          <a:solidFill>
            <a:srgbClr val="E5EAF1"/>
          </a:solidFill>
          <a:ln w="12700">
            <a:solidFill>
              <a:srgbClr val="FFFFFF">
                <a:alpha val="0"/>
              </a:srgbClr>
            </a:solidFill>
            <a:prstDash val="solid"/>
          </a:ln>
        </p:spPr>
      </p:sp>
      <p:sp>
        <p:nvSpPr>
          <p:cNvPr id="23" name="Shape 21"/>
          <p:cNvSpPr/>
          <p:nvPr/>
        </p:nvSpPr>
        <p:spPr>
          <a:xfrm>
            <a:off x="813816" y="3712464"/>
            <a:ext cx="6889181" cy="429768"/>
          </a:xfrm>
          <a:prstGeom prst="rect">
            <a:avLst/>
          </a:prstGeom>
          <a:solidFill>
            <a:srgbClr val="2861A1"/>
          </a:solidFill>
          <a:ln w="12700">
            <a:solidFill>
              <a:srgbClr val="FFFFFF">
                <a:alpha val="0"/>
              </a:srgbClr>
            </a:solidFill>
            <a:prstDash val="solid"/>
          </a:ln>
        </p:spPr>
      </p:sp>
      <p:sp>
        <p:nvSpPr>
          <p:cNvPr id="24" name="Text 22"/>
          <p:cNvSpPr/>
          <p:nvPr/>
        </p:nvSpPr>
        <p:spPr>
          <a:xfrm>
            <a:off x="923544" y="3785616"/>
            <a:ext cx="4078224" cy="246888"/>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65,80 % observado</a:t>
            </a:r>
            <a:endParaRPr lang="en-US" sz="1400" dirty="0"/>
          </a:p>
        </p:txBody>
      </p:sp>
      <p:sp>
        <p:nvSpPr>
          <p:cNvPr id="25" name="Shape 23"/>
          <p:cNvSpPr/>
          <p:nvPr/>
        </p:nvSpPr>
        <p:spPr>
          <a:xfrm>
            <a:off x="813816" y="4425696"/>
            <a:ext cx="10469880" cy="429768"/>
          </a:xfrm>
          <a:prstGeom prst="rect">
            <a:avLst/>
          </a:prstGeom>
          <a:solidFill>
            <a:srgbClr val="E5EAF1"/>
          </a:solidFill>
          <a:ln w="12700">
            <a:solidFill>
              <a:srgbClr val="FFFFFF">
                <a:alpha val="0"/>
              </a:srgbClr>
            </a:solidFill>
            <a:prstDash val="solid"/>
          </a:ln>
        </p:spPr>
      </p:sp>
      <p:sp>
        <p:nvSpPr>
          <p:cNvPr id="26" name="Shape 24"/>
          <p:cNvSpPr/>
          <p:nvPr/>
        </p:nvSpPr>
        <p:spPr>
          <a:xfrm>
            <a:off x="813816" y="4425696"/>
            <a:ext cx="10421719" cy="429768"/>
          </a:xfrm>
          <a:prstGeom prst="rect">
            <a:avLst/>
          </a:prstGeom>
          <a:solidFill>
            <a:srgbClr val="168B91"/>
          </a:solidFill>
          <a:ln w="12700">
            <a:solidFill>
              <a:srgbClr val="FFFFFF">
                <a:alpha val="0"/>
              </a:srgbClr>
            </a:solidFill>
            <a:prstDash val="solid"/>
          </a:ln>
        </p:spPr>
      </p:sp>
      <p:sp>
        <p:nvSpPr>
          <p:cNvPr id="27" name="Text 25"/>
          <p:cNvSpPr/>
          <p:nvPr/>
        </p:nvSpPr>
        <p:spPr>
          <a:xfrm>
            <a:off x="923544" y="4498848"/>
            <a:ext cx="6967728" cy="246888"/>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99,54 % completo entre observados</a:t>
            </a:r>
            <a:endParaRPr lang="en-US" sz="1400" dirty="0"/>
          </a:p>
        </p:txBody>
      </p:sp>
      <p:sp>
        <p:nvSpPr>
          <p:cNvPr id="28" name="Shape 26"/>
          <p:cNvSpPr/>
          <p:nvPr/>
        </p:nvSpPr>
        <p:spPr>
          <a:xfrm>
            <a:off x="795528" y="5230368"/>
            <a:ext cx="10506456" cy="768096"/>
          </a:xfrm>
          <a:prstGeom prst="roundRect">
            <a:avLst/>
          </a:prstGeom>
          <a:solidFill>
            <a:srgbClr val="E8F4F3"/>
          </a:solidFill>
          <a:ln w="12700">
            <a:solidFill>
              <a:srgbClr val="FFFFFF">
                <a:alpha val="0"/>
              </a:srgbClr>
            </a:solidFill>
            <a:prstDash val="solid"/>
          </a:ln>
        </p:spPr>
      </p:sp>
      <p:sp>
        <p:nvSpPr>
          <p:cNvPr id="29" name="Shape 27"/>
          <p:cNvSpPr/>
          <p:nvPr/>
        </p:nvSpPr>
        <p:spPr>
          <a:xfrm>
            <a:off x="795528" y="5230368"/>
            <a:ext cx="73152" cy="768096"/>
          </a:xfrm>
          <a:prstGeom prst="rect">
            <a:avLst/>
          </a:prstGeom>
          <a:solidFill>
            <a:srgbClr val="168B91"/>
          </a:solidFill>
          <a:ln w="12700">
            <a:solidFill>
              <a:srgbClr val="FFFFFF">
                <a:alpha val="0"/>
              </a:srgbClr>
            </a:solidFill>
            <a:prstDash val="solid"/>
          </a:ln>
        </p:spPr>
      </p:sp>
      <p:sp>
        <p:nvSpPr>
          <p:cNvPr id="30" name="Text 28"/>
          <p:cNvSpPr/>
          <p:nvPr/>
        </p:nvSpPr>
        <p:spPr>
          <a:xfrm>
            <a:off x="987552" y="5321808"/>
            <a:ext cx="10140696" cy="603504"/>
          </a:xfrm>
          <a:prstGeom prst="rect">
            <a:avLst/>
          </a:prstGeom>
          <a:noFill/>
          <a:ln/>
        </p:spPr>
        <p:txBody>
          <a:bodyPr wrap="square" lIns="0" tIns="0" rIns="0" bIns="0" rtlCol="0" anchor="ctr">
            <a:normAutofit/>
          </a:bodyPr>
          <a:lstStyle/>
          <a:p>
            <a:pPr algn="l" indent="0" marL="0">
              <a:buNone/>
            </a:pPr>
            <a:r>
              <a:rPr lang="en-US" sz="1650" b="1" dirty="0">
                <a:solidFill>
                  <a:srgbClr val="111E37"/>
                </a:solidFill>
                <a:latin typeface="Aptos" pitchFamily="34" charset="0"/>
                <a:ea typeface="Aptos" pitchFamily="34" charset="-122"/>
                <a:cs typeface="Aptos" pitchFamily="34" charset="-120"/>
              </a:rPr>
              <a:t>P1 contestada: base técnicamente analizable y trazable, pero con interrupciones de adquisición; no es una serie continua.</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OE1</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Caracterización del enlace: la señal no cuenta toda la historia</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 telemetría permite observar potencia, ruido, adaptación de modulación y tasa negociada.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 y sección 4.1.2.</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20</a:t>
            </a:r>
            <a:endParaRPr lang="en-US" sz="1040" dirty="0"/>
          </a:p>
        </p:txBody>
      </p:sp>
      <p:sp>
        <p:nvSpPr>
          <p:cNvPr id="9" name="Shape 7"/>
          <p:cNvSpPr/>
          <p:nvPr/>
        </p:nvSpPr>
        <p:spPr>
          <a:xfrm>
            <a:off x="768096" y="1700784"/>
            <a:ext cx="10579608" cy="521208"/>
          </a:xfrm>
          <a:prstGeom prst="rect">
            <a:avLst/>
          </a:prstGeom>
          <a:solidFill>
            <a:srgbClr val="111E37"/>
          </a:solidFill>
          <a:ln w="12700">
            <a:solidFill>
              <a:srgbClr val="FFFFFF">
                <a:alpha val="0"/>
              </a:srgbClr>
            </a:solidFill>
            <a:prstDash val="solid"/>
          </a:ln>
        </p:spPr>
      </p:sp>
      <p:sp>
        <p:nvSpPr>
          <p:cNvPr id="10" name="Text 8"/>
          <p:cNvSpPr/>
          <p:nvPr/>
        </p:nvSpPr>
        <p:spPr>
          <a:xfrm>
            <a:off x="850392" y="1741932"/>
            <a:ext cx="2139696" cy="43891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INDICADOR</a:t>
            </a:r>
            <a:endParaRPr lang="en-US" sz="1250" dirty="0"/>
          </a:p>
        </p:txBody>
      </p:sp>
      <p:sp>
        <p:nvSpPr>
          <p:cNvPr id="11" name="Shape 9"/>
          <p:cNvSpPr/>
          <p:nvPr/>
        </p:nvSpPr>
        <p:spPr>
          <a:xfrm>
            <a:off x="3072384" y="1700784"/>
            <a:ext cx="0" cy="521208"/>
          </a:xfrm>
          <a:prstGeom prst="line">
            <a:avLst/>
          </a:prstGeom>
          <a:noFill/>
          <a:ln w="6985">
            <a:solidFill>
              <a:srgbClr val="506078"/>
            </a:solidFill>
            <a:prstDash val="solid"/>
          </a:ln>
        </p:spPr>
      </p:sp>
      <p:sp>
        <p:nvSpPr>
          <p:cNvPr id="12" name="Text 10"/>
          <p:cNvSpPr/>
          <p:nvPr/>
        </p:nvSpPr>
        <p:spPr>
          <a:xfrm>
            <a:off x="3154680" y="1741932"/>
            <a:ext cx="1847088" cy="43891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MEDIA</a:t>
            </a:r>
            <a:endParaRPr lang="en-US" sz="1250" dirty="0"/>
          </a:p>
        </p:txBody>
      </p:sp>
      <p:sp>
        <p:nvSpPr>
          <p:cNvPr id="13" name="Shape 11"/>
          <p:cNvSpPr/>
          <p:nvPr/>
        </p:nvSpPr>
        <p:spPr>
          <a:xfrm>
            <a:off x="5084064" y="1700784"/>
            <a:ext cx="0" cy="521208"/>
          </a:xfrm>
          <a:prstGeom prst="line">
            <a:avLst/>
          </a:prstGeom>
          <a:noFill/>
          <a:ln w="6985">
            <a:solidFill>
              <a:srgbClr val="506078"/>
            </a:solidFill>
            <a:prstDash val="solid"/>
          </a:ln>
        </p:spPr>
      </p:sp>
      <p:sp>
        <p:nvSpPr>
          <p:cNvPr id="14" name="Text 12"/>
          <p:cNvSpPr/>
          <p:nvPr/>
        </p:nvSpPr>
        <p:spPr>
          <a:xfrm>
            <a:off x="5166360" y="1741932"/>
            <a:ext cx="2761488" cy="43891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DESVIACIÓN ESTÁNDAR</a:t>
            </a:r>
            <a:endParaRPr lang="en-US" sz="1250" dirty="0"/>
          </a:p>
        </p:txBody>
      </p:sp>
      <p:sp>
        <p:nvSpPr>
          <p:cNvPr id="15" name="Shape 13"/>
          <p:cNvSpPr/>
          <p:nvPr/>
        </p:nvSpPr>
        <p:spPr>
          <a:xfrm>
            <a:off x="8010144" y="1700784"/>
            <a:ext cx="0" cy="521208"/>
          </a:xfrm>
          <a:prstGeom prst="line">
            <a:avLst/>
          </a:prstGeom>
          <a:noFill/>
          <a:ln w="6985">
            <a:solidFill>
              <a:srgbClr val="506078"/>
            </a:solidFill>
            <a:prstDash val="solid"/>
          </a:ln>
        </p:spPr>
      </p:sp>
      <p:sp>
        <p:nvSpPr>
          <p:cNvPr id="16" name="Text 14"/>
          <p:cNvSpPr/>
          <p:nvPr/>
        </p:nvSpPr>
        <p:spPr>
          <a:xfrm>
            <a:off x="8092440" y="1741932"/>
            <a:ext cx="3172968" cy="438912"/>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RANGO</a:t>
            </a:r>
            <a:endParaRPr lang="en-US" sz="1250" dirty="0"/>
          </a:p>
        </p:txBody>
      </p:sp>
      <p:sp>
        <p:nvSpPr>
          <p:cNvPr id="17" name="Shape 15"/>
          <p:cNvSpPr/>
          <p:nvPr/>
        </p:nvSpPr>
        <p:spPr>
          <a:xfrm>
            <a:off x="768096" y="2221992"/>
            <a:ext cx="10579608" cy="0"/>
          </a:xfrm>
          <a:prstGeom prst="line">
            <a:avLst/>
          </a:prstGeom>
          <a:noFill/>
          <a:ln w="6985">
            <a:solidFill>
              <a:srgbClr val="D6DEE8"/>
            </a:solidFill>
            <a:prstDash val="solid"/>
          </a:ln>
        </p:spPr>
      </p:sp>
      <p:sp>
        <p:nvSpPr>
          <p:cNvPr id="18" name="Shape 16"/>
          <p:cNvSpPr/>
          <p:nvPr/>
        </p:nvSpPr>
        <p:spPr>
          <a:xfrm>
            <a:off x="768096" y="2221992"/>
            <a:ext cx="10579608" cy="749808"/>
          </a:xfrm>
          <a:prstGeom prst="rect">
            <a:avLst/>
          </a:prstGeom>
          <a:solidFill>
            <a:srgbClr val="FFFFFF"/>
          </a:solidFill>
          <a:ln w="12700">
            <a:solidFill>
              <a:srgbClr val="FFFFFF">
                <a:alpha val="0"/>
              </a:srgbClr>
            </a:solidFill>
            <a:prstDash val="solid"/>
          </a:ln>
        </p:spPr>
      </p:sp>
      <p:sp>
        <p:nvSpPr>
          <p:cNvPr id="19" name="Text 17"/>
          <p:cNvSpPr/>
          <p:nvPr/>
        </p:nvSpPr>
        <p:spPr>
          <a:xfrm>
            <a:off x="850392" y="2263140"/>
            <a:ext cx="2139696"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RSSI DL</a:t>
            </a:r>
            <a:endParaRPr lang="en-US" sz="1450" dirty="0"/>
          </a:p>
        </p:txBody>
      </p:sp>
      <p:sp>
        <p:nvSpPr>
          <p:cNvPr id="20" name="Shape 18"/>
          <p:cNvSpPr/>
          <p:nvPr/>
        </p:nvSpPr>
        <p:spPr>
          <a:xfrm>
            <a:off x="3072384" y="2221992"/>
            <a:ext cx="0" cy="749808"/>
          </a:xfrm>
          <a:prstGeom prst="line">
            <a:avLst/>
          </a:prstGeom>
          <a:noFill/>
          <a:ln w="6985">
            <a:solidFill>
              <a:srgbClr val="D6DEE8"/>
            </a:solidFill>
            <a:prstDash val="solid"/>
          </a:ln>
        </p:spPr>
      </p:sp>
      <p:sp>
        <p:nvSpPr>
          <p:cNvPr id="21" name="Text 19"/>
          <p:cNvSpPr/>
          <p:nvPr/>
        </p:nvSpPr>
        <p:spPr>
          <a:xfrm>
            <a:off x="3154680" y="2263140"/>
            <a:ext cx="18470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−75,95 dBm</a:t>
            </a:r>
            <a:endParaRPr lang="en-US" sz="1450" dirty="0"/>
          </a:p>
        </p:txBody>
      </p:sp>
      <p:sp>
        <p:nvSpPr>
          <p:cNvPr id="22" name="Shape 20"/>
          <p:cNvSpPr/>
          <p:nvPr/>
        </p:nvSpPr>
        <p:spPr>
          <a:xfrm>
            <a:off x="5084064" y="2221992"/>
            <a:ext cx="0" cy="749808"/>
          </a:xfrm>
          <a:prstGeom prst="line">
            <a:avLst/>
          </a:prstGeom>
          <a:noFill/>
          <a:ln w="6985">
            <a:solidFill>
              <a:srgbClr val="D6DEE8"/>
            </a:solidFill>
            <a:prstDash val="solid"/>
          </a:ln>
        </p:spPr>
      </p:sp>
      <p:sp>
        <p:nvSpPr>
          <p:cNvPr id="23" name="Text 21"/>
          <p:cNvSpPr/>
          <p:nvPr/>
        </p:nvSpPr>
        <p:spPr>
          <a:xfrm>
            <a:off x="5166360" y="2263140"/>
            <a:ext cx="27614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1,23 dB</a:t>
            </a:r>
            <a:endParaRPr lang="en-US" sz="1450" dirty="0"/>
          </a:p>
        </p:txBody>
      </p:sp>
      <p:sp>
        <p:nvSpPr>
          <p:cNvPr id="24" name="Shape 22"/>
          <p:cNvSpPr/>
          <p:nvPr/>
        </p:nvSpPr>
        <p:spPr>
          <a:xfrm>
            <a:off x="8010144" y="2221992"/>
            <a:ext cx="0" cy="749808"/>
          </a:xfrm>
          <a:prstGeom prst="line">
            <a:avLst/>
          </a:prstGeom>
          <a:noFill/>
          <a:ln w="6985">
            <a:solidFill>
              <a:srgbClr val="D6DEE8"/>
            </a:solidFill>
            <a:prstDash val="solid"/>
          </a:ln>
        </p:spPr>
      </p:sp>
      <p:sp>
        <p:nvSpPr>
          <p:cNvPr id="25" name="Text 23"/>
          <p:cNvSpPr/>
          <p:nvPr/>
        </p:nvSpPr>
        <p:spPr>
          <a:xfrm>
            <a:off x="8092440" y="2263140"/>
            <a:ext cx="317296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−95 a −71 dBm</a:t>
            </a:r>
            <a:endParaRPr lang="en-US" sz="1450" dirty="0"/>
          </a:p>
        </p:txBody>
      </p:sp>
      <p:sp>
        <p:nvSpPr>
          <p:cNvPr id="26" name="Shape 24"/>
          <p:cNvSpPr/>
          <p:nvPr/>
        </p:nvSpPr>
        <p:spPr>
          <a:xfrm>
            <a:off x="768096" y="2971800"/>
            <a:ext cx="10579608" cy="0"/>
          </a:xfrm>
          <a:prstGeom prst="line">
            <a:avLst/>
          </a:prstGeom>
          <a:noFill/>
          <a:ln w="6985">
            <a:solidFill>
              <a:srgbClr val="D6DEE8"/>
            </a:solidFill>
            <a:prstDash val="solid"/>
          </a:ln>
        </p:spPr>
      </p:sp>
      <p:sp>
        <p:nvSpPr>
          <p:cNvPr id="27" name="Shape 25"/>
          <p:cNvSpPr/>
          <p:nvPr/>
        </p:nvSpPr>
        <p:spPr>
          <a:xfrm>
            <a:off x="768096" y="2971800"/>
            <a:ext cx="10579608" cy="749808"/>
          </a:xfrm>
          <a:prstGeom prst="rect">
            <a:avLst/>
          </a:prstGeom>
          <a:solidFill>
            <a:srgbClr val="EDF2F8"/>
          </a:solidFill>
          <a:ln w="12700">
            <a:solidFill>
              <a:srgbClr val="FFFFFF">
                <a:alpha val="0"/>
              </a:srgbClr>
            </a:solidFill>
            <a:prstDash val="solid"/>
          </a:ln>
        </p:spPr>
      </p:sp>
      <p:sp>
        <p:nvSpPr>
          <p:cNvPr id="28" name="Text 26"/>
          <p:cNvSpPr/>
          <p:nvPr/>
        </p:nvSpPr>
        <p:spPr>
          <a:xfrm>
            <a:off x="850392" y="3012948"/>
            <a:ext cx="2139696"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SNR DL</a:t>
            </a:r>
            <a:endParaRPr lang="en-US" sz="1450" dirty="0"/>
          </a:p>
        </p:txBody>
      </p:sp>
      <p:sp>
        <p:nvSpPr>
          <p:cNvPr id="29" name="Shape 27"/>
          <p:cNvSpPr/>
          <p:nvPr/>
        </p:nvSpPr>
        <p:spPr>
          <a:xfrm>
            <a:off x="3072384" y="2971800"/>
            <a:ext cx="0" cy="749808"/>
          </a:xfrm>
          <a:prstGeom prst="line">
            <a:avLst/>
          </a:prstGeom>
          <a:noFill/>
          <a:ln w="6985">
            <a:solidFill>
              <a:srgbClr val="D6DEE8"/>
            </a:solidFill>
            <a:prstDash val="solid"/>
          </a:ln>
        </p:spPr>
      </p:sp>
      <p:sp>
        <p:nvSpPr>
          <p:cNvPr id="30" name="Text 28"/>
          <p:cNvSpPr/>
          <p:nvPr/>
        </p:nvSpPr>
        <p:spPr>
          <a:xfrm>
            <a:off x="3154680" y="3012948"/>
            <a:ext cx="18470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20,76 dB</a:t>
            </a:r>
            <a:endParaRPr lang="en-US" sz="1450" dirty="0"/>
          </a:p>
        </p:txBody>
      </p:sp>
      <p:sp>
        <p:nvSpPr>
          <p:cNvPr id="31" name="Shape 29"/>
          <p:cNvSpPr/>
          <p:nvPr/>
        </p:nvSpPr>
        <p:spPr>
          <a:xfrm>
            <a:off x="5084064" y="2971800"/>
            <a:ext cx="0" cy="749808"/>
          </a:xfrm>
          <a:prstGeom prst="line">
            <a:avLst/>
          </a:prstGeom>
          <a:noFill/>
          <a:ln w="6985">
            <a:solidFill>
              <a:srgbClr val="D6DEE8"/>
            </a:solidFill>
            <a:prstDash val="solid"/>
          </a:ln>
        </p:spPr>
      </p:sp>
      <p:sp>
        <p:nvSpPr>
          <p:cNvPr id="32" name="Text 30"/>
          <p:cNvSpPr/>
          <p:nvPr/>
        </p:nvSpPr>
        <p:spPr>
          <a:xfrm>
            <a:off x="5166360" y="3012948"/>
            <a:ext cx="27614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1,03 dB</a:t>
            </a:r>
            <a:endParaRPr lang="en-US" sz="1450" dirty="0"/>
          </a:p>
        </p:txBody>
      </p:sp>
      <p:sp>
        <p:nvSpPr>
          <p:cNvPr id="33" name="Shape 31"/>
          <p:cNvSpPr/>
          <p:nvPr/>
        </p:nvSpPr>
        <p:spPr>
          <a:xfrm>
            <a:off x="8010144" y="2971800"/>
            <a:ext cx="0" cy="749808"/>
          </a:xfrm>
          <a:prstGeom prst="line">
            <a:avLst/>
          </a:prstGeom>
          <a:noFill/>
          <a:ln w="6985">
            <a:solidFill>
              <a:srgbClr val="D6DEE8"/>
            </a:solidFill>
            <a:prstDash val="solid"/>
          </a:ln>
        </p:spPr>
      </p:sp>
      <p:sp>
        <p:nvSpPr>
          <p:cNvPr id="34" name="Text 32"/>
          <p:cNvSpPr/>
          <p:nvPr/>
        </p:nvSpPr>
        <p:spPr>
          <a:xfrm>
            <a:off x="8092440" y="3012948"/>
            <a:ext cx="317296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3 a 25 dB</a:t>
            </a:r>
            <a:endParaRPr lang="en-US" sz="1450" dirty="0"/>
          </a:p>
        </p:txBody>
      </p:sp>
      <p:sp>
        <p:nvSpPr>
          <p:cNvPr id="35" name="Shape 33"/>
          <p:cNvSpPr/>
          <p:nvPr/>
        </p:nvSpPr>
        <p:spPr>
          <a:xfrm>
            <a:off x="768096" y="3721608"/>
            <a:ext cx="10579608" cy="0"/>
          </a:xfrm>
          <a:prstGeom prst="line">
            <a:avLst/>
          </a:prstGeom>
          <a:noFill/>
          <a:ln w="6985">
            <a:solidFill>
              <a:srgbClr val="D6DEE8"/>
            </a:solidFill>
            <a:prstDash val="solid"/>
          </a:ln>
        </p:spPr>
      </p:sp>
      <p:sp>
        <p:nvSpPr>
          <p:cNvPr id="36" name="Shape 34"/>
          <p:cNvSpPr/>
          <p:nvPr/>
        </p:nvSpPr>
        <p:spPr>
          <a:xfrm>
            <a:off x="768096" y="3721608"/>
            <a:ext cx="10579608" cy="749808"/>
          </a:xfrm>
          <a:prstGeom prst="rect">
            <a:avLst/>
          </a:prstGeom>
          <a:solidFill>
            <a:srgbClr val="FFFFFF"/>
          </a:solidFill>
          <a:ln w="12700">
            <a:solidFill>
              <a:srgbClr val="FFFFFF">
                <a:alpha val="0"/>
              </a:srgbClr>
            </a:solidFill>
            <a:prstDash val="solid"/>
          </a:ln>
        </p:spPr>
      </p:sp>
      <p:sp>
        <p:nvSpPr>
          <p:cNvPr id="37" name="Text 35"/>
          <p:cNvSpPr/>
          <p:nvPr/>
        </p:nvSpPr>
        <p:spPr>
          <a:xfrm>
            <a:off x="850392" y="3762756"/>
            <a:ext cx="2139696"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MCS DL</a:t>
            </a:r>
            <a:endParaRPr lang="en-US" sz="1450" dirty="0"/>
          </a:p>
        </p:txBody>
      </p:sp>
      <p:sp>
        <p:nvSpPr>
          <p:cNvPr id="38" name="Shape 36"/>
          <p:cNvSpPr/>
          <p:nvPr/>
        </p:nvSpPr>
        <p:spPr>
          <a:xfrm>
            <a:off x="3072384" y="3721608"/>
            <a:ext cx="0" cy="749808"/>
          </a:xfrm>
          <a:prstGeom prst="line">
            <a:avLst/>
          </a:prstGeom>
          <a:noFill/>
          <a:ln w="6985">
            <a:solidFill>
              <a:srgbClr val="D6DEE8"/>
            </a:solidFill>
            <a:prstDash val="solid"/>
          </a:ln>
        </p:spPr>
      </p:sp>
      <p:sp>
        <p:nvSpPr>
          <p:cNvPr id="39" name="Text 37"/>
          <p:cNvSpPr/>
          <p:nvPr/>
        </p:nvSpPr>
        <p:spPr>
          <a:xfrm>
            <a:off x="3154680" y="3762756"/>
            <a:ext cx="18470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104,54</a:t>
            </a:r>
            <a:endParaRPr lang="en-US" sz="1450" dirty="0"/>
          </a:p>
        </p:txBody>
      </p:sp>
      <p:sp>
        <p:nvSpPr>
          <p:cNvPr id="40" name="Shape 38"/>
          <p:cNvSpPr/>
          <p:nvPr/>
        </p:nvSpPr>
        <p:spPr>
          <a:xfrm>
            <a:off x="5084064" y="3721608"/>
            <a:ext cx="0" cy="749808"/>
          </a:xfrm>
          <a:prstGeom prst="line">
            <a:avLst/>
          </a:prstGeom>
          <a:noFill/>
          <a:ln w="6985">
            <a:solidFill>
              <a:srgbClr val="D6DEE8"/>
            </a:solidFill>
            <a:prstDash val="solid"/>
          </a:ln>
        </p:spPr>
      </p:sp>
      <p:sp>
        <p:nvSpPr>
          <p:cNvPr id="41" name="Text 39"/>
          <p:cNvSpPr/>
          <p:nvPr/>
        </p:nvSpPr>
        <p:spPr>
          <a:xfrm>
            <a:off x="5166360" y="3762756"/>
            <a:ext cx="27614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4,50</a:t>
            </a:r>
            <a:endParaRPr lang="en-US" sz="1450" dirty="0"/>
          </a:p>
        </p:txBody>
      </p:sp>
      <p:sp>
        <p:nvSpPr>
          <p:cNvPr id="42" name="Shape 40"/>
          <p:cNvSpPr/>
          <p:nvPr/>
        </p:nvSpPr>
        <p:spPr>
          <a:xfrm>
            <a:off x="8010144" y="3721608"/>
            <a:ext cx="0" cy="749808"/>
          </a:xfrm>
          <a:prstGeom prst="line">
            <a:avLst/>
          </a:prstGeom>
          <a:noFill/>
          <a:ln w="6985">
            <a:solidFill>
              <a:srgbClr val="D6DEE8"/>
            </a:solidFill>
            <a:prstDash val="solid"/>
          </a:ln>
        </p:spPr>
      </p:sp>
      <p:sp>
        <p:nvSpPr>
          <p:cNvPr id="43" name="Text 41"/>
          <p:cNvSpPr/>
          <p:nvPr/>
        </p:nvSpPr>
        <p:spPr>
          <a:xfrm>
            <a:off x="8092440" y="3762756"/>
            <a:ext cx="317296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100 a 206</a:t>
            </a:r>
            <a:endParaRPr lang="en-US" sz="1450" dirty="0"/>
          </a:p>
        </p:txBody>
      </p:sp>
      <p:sp>
        <p:nvSpPr>
          <p:cNvPr id="44" name="Shape 42"/>
          <p:cNvSpPr/>
          <p:nvPr/>
        </p:nvSpPr>
        <p:spPr>
          <a:xfrm>
            <a:off x="768096" y="4471416"/>
            <a:ext cx="10579608" cy="0"/>
          </a:xfrm>
          <a:prstGeom prst="line">
            <a:avLst/>
          </a:prstGeom>
          <a:noFill/>
          <a:ln w="6985">
            <a:solidFill>
              <a:srgbClr val="D6DEE8"/>
            </a:solidFill>
            <a:prstDash val="solid"/>
          </a:ln>
        </p:spPr>
      </p:sp>
      <p:sp>
        <p:nvSpPr>
          <p:cNvPr id="45" name="Shape 43"/>
          <p:cNvSpPr/>
          <p:nvPr/>
        </p:nvSpPr>
        <p:spPr>
          <a:xfrm>
            <a:off x="768096" y="4471416"/>
            <a:ext cx="10579608" cy="749808"/>
          </a:xfrm>
          <a:prstGeom prst="rect">
            <a:avLst/>
          </a:prstGeom>
          <a:solidFill>
            <a:srgbClr val="EDF2F8"/>
          </a:solidFill>
          <a:ln w="12700">
            <a:solidFill>
              <a:srgbClr val="FFFFFF">
                <a:alpha val="0"/>
              </a:srgbClr>
            </a:solidFill>
            <a:prstDash val="solid"/>
          </a:ln>
        </p:spPr>
      </p:sp>
      <p:sp>
        <p:nvSpPr>
          <p:cNvPr id="46" name="Text 44"/>
          <p:cNvSpPr/>
          <p:nvPr/>
        </p:nvSpPr>
        <p:spPr>
          <a:xfrm>
            <a:off x="850392" y="4512564"/>
            <a:ext cx="2139696"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Tasa DL</a:t>
            </a:r>
            <a:endParaRPr lang="en-US" sz="1450" dirty="0"/>
          </a:p>
        </p:txBody>
      </p:sp>
      <p:sp>
        <p:nvSpPr>
          <p:cNvPr id="47" name="Shape 45"/>
          <p:cNvSpPr/>
          <p:nvPr/>
        </p:nvSpPr>
        <p:spPr>
          <a:xfrm>
            <a:off x="3072384" y="4471416"/>
            <a:ext cx="0" cy="749808"/>
          </a:xfrm>
          <a:prstGeom prst="line">
            <a:avLst/>
          </a:prstGeom>
          <a:noFill/>
          <a:ln w="6985">
            <a:solidFill>
              <a:srgbClr val="D6DEE8"/>
            </a:solidFill>
            <a:prstDash val="solid"/>
          </a:ln>
        </p:spPr>
      </p:sp>
      <p:sp>
        <p:nvSpPr>
          <p:cNvPr id="48" name="Text 46"/>
          <p:cNvSpPr/>
          <p:nvPr/>
        </p:nvSpPr>
        <p:spPr>
          <a:xfrm>
            <a:off x="3154680" y="4512564"/>
            <a:ext cx="18470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126,66 Mbps</a:t>
            </a:r>
            <a:endParaRPr lang="en-US" sz="1450" dirty="0"/>
          </a:p>
        </p:txBody>
      </p:sp>
      <p:sp>
        <p:nvSpPr>
          <p:cNvPr id="49" name="Shape 47"/>
          <p:cNvSpPr/>
          <p:nvPr/>
        </p:nvSpPr>
        <p:spPr>
          <a:xfrm>
            <a:off x="5084064" y="4471416"/>
            <a:ext cx="0" cy="749808"/>
          </a:xfrm>
          <a:prstGeom prst="line">
            <a:avLst/>
          </a:prstGeom>
          <a:noFill/>
          <a:ln w="6985">
            <a:solidFill>
              <a:srgbClr val="D6DEE8"/>
            </a:solidFill>
            <a:prstDash val="solid"/>
          </a:ln>
        </p:spPr>
      </p:sp>
      <p:sp>
        <p:nvSpPr>
          <p:cNvPr id="50" name="Text 48"/>
          <p:cNvSpPr/>
          <p:nvPr/>
        </p:nvSpPr>
        <p:spPr>
          <a:xfrm>
            <a:off x="5166360" y="4512564"/>
            <a:ext cx="276148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31,97 Mbps</a:t>
            </a:r>
            <a:endParaRPr lang="en-US" sz="1450" dirty="0"/>
          </a:p>
        </p:txBody>
      </p:sp>
      <p:sp>
        <p:nvSpPr>
          <p:cNvPr id="51" name="Shape 49"/>
          <p:cNvSpPr/>
          <p:nvPr/>
        </p:nvSpPr>
        <p:spPr>
          <a:xfrm>
            <a:off x="8010144" y="4471416"/>
            <a:ext cx="0" cy="749808"/>
          </a:xfrm>
          <a:prstGeom prst="line">
            <a:avLst/>
          </a:prstGeom>
          <a:noFill/>
          <a:ln w="6985">
            <a:solidFill>
              <a:srgbClr val="D6DEE8"/>
            </a:solidFill>
            <a:prstDash val="solid"/>
          </a:ln>
        </p:spPr>
      </p:sp>
      <p:sp>
        <p:nvSpPr>
          <p:cNvPr id="52" name="Text 50"/>
          <p:cNvSpPr/>
          <p:nvPr/>
        </p:nvSpPr>
        <p:spPr>
          <a:xfrm>
            <a:off x="8092440" y="4512564"/>
            <a:ext cx="3172968" cy="667512"/>
          </a:xfrm>
          <a:prstGeom prst="rect">
            <a:avLst/>
          </a:prstGeom>
          <a:noFill/>
          <a:ln/>
        </p:spPr>
        <p:txBody>
          <a:bodyPr wrap="square" lIns="0" tIns="0" rIns="0" bIns="0" rtlCol="0" anchor="ctr">
            <a:normAutofit/>
          </a:bodyPr>
          <a:lstStyle/>
          <a:p>
            <a:pPr algn="l" indent="0" marL="0">
              <a:buNone/>
            </a:pPr>
            <a:r>
              <a:rPr lang="en-US" sz="1450" dirty="0">
                <a:solidFill>
                  <a:srgbClr val="202B3C"/>
                </a:solidFill>
                <a:latin typeface="Aptos" pitchFamily="34" charset="0"/>
                <a:ea typeface="Aptos" pitchFamily="34" charset="-122"/>
                <a:cs typeface="Aptos" pitchFamily="34" charset="-120"/>
              </a:rPr>
              <a:t>6 a 288 Mbps</a:t>
            </a:r>
            <a:endParaRPr lang="en-US" sz="1450" dirty="0"/>
          </a:p>
        </p:txBody>
      </p:sp>
      <p:sp>
        <p:nvSpPr>
          <p:cNvPr id="53" name="Shape 51"/>
          <p:cNvSpPr/>
          <p:nvPr/>
        </p:nvSpPr>
        <p:spPr>
          <a:xfrm>
            <a:off x="768096" y="5221224"/>
            <a:ext cx="10579608" cy="0"/>
          </a:xfrm>
          <a:prstGeom prst="line">
            <a:avLst/>
          </a:prstGeom>
          <a:noFill/>
          <a:ln w="6985">
            <a:solidFill>
              <a:srgbClr val="D6DEE8"/>
            </a:solidFill>
            <a:prstDash val="solid"/>
          </a:ln>
        </p:spPr>
      </p:sp>
      <p:sp>
        <p:nvSpPr>
          <p:cNvPr id="54" name="Shape 52"/>
          <p:cNvSpPr/>
          <p:nvPr/>
        </p:nvSpPr>
        <p:spPr>
          <a:xfrm>
            <a:off x="786384" y="5468112"/>
            <a:ext cx="10515600" cy="685800"/>
          </a:xfrm>
          <a:prstGeom prst="roundRect">
            <a:avLst/>
          </a:prstGeom>
          <a:solidFill>
            <a:srgbClr val="E8F4F3"/>
          </a:solidFill>
          <a:ln w="12700">
            <a:solidFill>
              <a:srgbClr val="FFFFFF">
                <a:alpha val="0"/>
              </a:srgbClr>
            </a:solidFill>
            <a:prstDash val="solid"/>
          </a:ln>
        </p:spPr>
      </p:sp>
      <p:sp>
        <p:nvSpPr>
          <p:cNvPr id="55" name="Shape 53"/>
          <p:cNvSpPr/>
          <p:nvPr/>
        </p:nvSpPr>
        <p:spPr>
          <a:xfrm>
            <a:off x="786384" y="5468112"/>
            <a:ext cx="73152" cy="685800"/>
          </a:xfrm>
          <a:prstGeom prst="rect">
            <a:avLst/>
          </a:prstGeom>
          <a:solidFill>
            <a:srgbClr val="168B91"/>
          </a:solidFill>
          <a:ln w="12700">
            <a:solidFill>
              <a:srgbClr val="FFFFFF">
                <a:alpha val="0"/>
              </a:srgbClr>
            </a:solidFill>
            <a:prstDash val="solid"/>
          </a:ln>
        </p:spPr>
      </p:sp>
      <p:sp>
        <p:nvSpPr>
          <p:cNvPr id="56" name="Text 54"/>
          <p:cNvSpPr/>
          <p:nvPr/>
        </p:nvSpPr>
        <p:spPr>
          <a:xfrm>
            <a:off x="978408" y="5559552"/>
            <a:ext cx="10149840" cy="521208"/>
          </a:xfrm>
          <a:prstGeom prst="rect">
            <a:avLst/>
          </a:prstGeom>
          <a:noFill/>
          <a:ln/>
        </p:spPr>
        <p:txBody>
          <a:bodyPr wrap="square" lIns="0" tIns="0" rIns="0" bIns="0" rtlCol="0" anchor="ctr">
            <a:normAutofit/>
          </a:bodyPr>
          <a:lstStyle/>
          <a:p>
            <a:pPr algn="l" indent="0" marL="0">
              <a:buNone/>
            </a:pPr>
            <a:r>
              <a:rPr lang="en-US" sz="1410" b="1" dirty="0">
                <a:solidFill>
                  <a:srgbClr val="111E37"/>
                </a:solidFill>
                <a:latin typeface="Aptos" pitchFamily="34" charset="0"/>
                <a:ea typeface="Aptos" pitchFamily="34" charset="-122"/>
                <a:cs typeface="Aptos" pitchFamily="34" charset="-120"/>
              </a:rPr>
              <a:t>Lectura técnica: RSSI relativamente estable; MCS y tasa DL presentan variaciones que justifican el modelado temporal.</a:t>
            </a:r>
            <a:endParaRPr lang="en-US" sz="14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OE2</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Implementación verificada: un sistema, cinco funciones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OE2: integrar los módulos en un flujo reproducible y operativamente interpretable.</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XI; sección 4.2.</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21</a:t>
            </a:r>
            <a:endParaRPr lang="en-US" sz="1040" dirty="0"/>
          </a:p>
        </p:txBody>
      </p:sp>
      <p:sp>
        <p:nvSpPr>
          <p:cNvPr id="9" name="Shape 7"/>
          <p:cNvSpPr/>
          <p:nvPr/>
        </p:nvSpPr>
        <p:spPr>
          <a:xfrm>
            <a:off x="740664" y="1636776"/>
            <a:ext cx="10661904" cy="658368"/>
          </a:xfrm>
          <a:prstGeom prst="roundRect">
            <a:avLst/>
          </a:prstGeom>
          <a:solidFill>
            <a:srgbClr val="EAF2F6"/>
          </a:solidFill>
          <a:ln w="12700">
            <a:solidFill>
              <a:srgbClr val="FFFFFF">
                <a:alpha val="0"/>
              </a:srgbClr>
            </a:solidFill>
            <a:prstDash val="solid"/>
          </a:ln>
        </p:spPr>
      </p:sp>
      <p:sp>
        <p:nvSpPr>
          <p:cNvPr id="10" name="Shape 8"/>
          <p:cNvSpPr/>
          <p:nvPr/>
        </p:nvSpPr>
        <p:spPr>
          <a:xfrm>
            <a:off x="914400" y="1874520"/>
            <a:ext cx="182880" cy="182880"/>
          </a:xfrm>
          <a:prstGeom prst="ellipse">
            <a:avLst/>
          </a:prstGeom>
          <a:solidFill>
            <a:srgbClr val="17896D"/>
          </a:solidFill>
          <a:ln w="12700">
            <a:solidFill>
              <a:srgbClr val="FFFFFF">
                <a:alpha val="0"/>
              </a:srgbClr>
            </a:solidFill>
            <a:prstDash val="solid"/>
          </a:ln>
        </p:spPr>
      </p:sp>
      <p:sp>
        <p:nvSpPr>
          <p:cNvPr id="11" name="Text 9"/>
          <p:cNvSpPr/>
          <p:nvPr/>
        </p:nvSpPr>
        <p:spPr>
          <a:xfrm>
            <a:off x="939089" y="1819656"/>
            <a:ext cx="164592" cy="2834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12" name="Text 10"/>
          <p:cNvSpPr/>
          <p:nvPr/>
        </p:nvSpPr>
        <p:spPr>
          <a:xfrm>
            <a:off x="1289304" y="1792224"/>
            <a:ext cx="2926080" cy="32918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Preparación</a:t>
            </a:r>
            <a:endParaRPr lang="en-US" sz="1600" dirty="0"/>
          </a:p>
        </p:txBody>
      </p:sp>
      <p:sp>
        <p:nvSpPr>
          <p:cNvPr id="13" name="Text 11"/>
          <p:cNvSpPr/>
          <p:nvPr/>
        </p:nvSpPr>
        <p:spPr>
          <a:xfrm>
            <a:off x="4178808" y="1792224"/>
            <a:ext cx="6757416" cy="310896"/>
          </a:xfrm>
          <a:prstGeom prst="rect">
            <a:avLst/>
          </a:prstGeom>
          <a:noFill/>
          <a:ln/>
        </p:spPr>
        <p:txBody>
          <a:bodyPr wrap="square" lIns="0" tIns="0" rIns="0" bIns="0" rtlCol="0" anchor="ctr">
            <a:normAutofit/>
          </a:bodyPr>
          <a:lstStyle/>
          <a:p>
            <a:pPr algn="l" indent="0" marL="0">
              <a:buNone/>
            </a:pPr>
            <a:r>
              <a:rPr lang="en-US" sz="1480" dirty="0">
                <a:solidFill>
                  <a:srgbClr val="64748B"/>
                </a:solidFill>
                <a:latin typeface="Aptos" pitchFamily="34" charset="0"/>
                <a:ea typeface="Aptos" pitchFamily="34" charset="-122"/>
                <a:cs typeface="Aptos" pitchFamily="34" charset="-120"/>
              </a:rPr>
              <a:t>Conjunto maestro depurado</a:t>
            </a:r>
            <a:endParaRPr lang="en-US" sz="1480" dirty="0"/>
          </a:p>
        </p:txBody>
      </p:sp>
      <p:sp>
        <p:nvSpPr>
          <p:cNvPr id="14" name="Shape 12"/>
          <p:cNvSpPr/>
          <p:nvPr/>
        </p:nvSpPr>
        <p:spPr>
          <a:xfrm>
            <a:off x="740664" y="2395728"/>
            <a:ext cx="10661904" cy="658368"/>
          </a:xfrm>
          <a:prstGeom prst="roundRect">
            <a:avLst/>
          </a:prstGeom>
          <a:solidFill>
            <a:srgbClr val="FFFFFF"/>
          </a:solidFill>
          <a:ln w="12700">
            <a:solidFill>
              <a:srgbClr val="FFFFFF">
                <a:alpha val="0"/>
              </a:srgbClr>
            </a:solidFill>
            <a:prstDash val="solid"/>
          </a:ln>
        </p:spPr>
      </p:sp>
      <p:sp>
        <p:nvSpPr>
          <p:cNvPr id="15" name="Shape 13"/>
          <p:cNvSpPr/>
          <p:nvPr/>
        </p:nvSpPr>
        <p:spPr>
          <a:xfrm>
            <a:off x="914400" y="2633472"/>
            <a:ext cx="182880" cy="182880"/>
          </a:xfrm>
          <a:prstGeom prst="ellipse">
            <a:avLst/>
          </a:prstGeom>
          <a:solidFill>
            <a:srgbClr val="17896D"/>
          </a:solidFill>
          <a:ln w="12700">
            <a:solidFill>
              <a:srgbClr val="FFFFFF">
                <a:alpha val="0"/>
              </a:srgbClr>
            </a:solidFill>
            <a:prstDash val="solid"/>
          </a:ln>
        </p:spPr>
      </p:sp>
      <p:sp>
        <p:nvSpPr>
          <p:cNvPr id="16" name="Text 14"/>
          <p:cNvSpPr/>
          <p:nvPr/>
        </p:nvSpPr>
        <p:spPr>
          <a:xfrm>
            <a:off x="939089" y="2578608"/>
            <a:ext cx="164592" cy="2834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289304" y="2551176"/>
            <a:ext cx="2926080" cy="32918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Clasificación</a:t>
            </a:r>
            <a:endParaRPr lang="en-US" sz="1600" dirty="0"/>
          </a:p>
        </p:txBody>
      </p:sp>
      <p:sp>
        <p:nvSpPr>
          <p:cNvPr id="18" name="Text 16"/>
          <p:cNvSpPr/>
          <p:nvPr/>
        </p:nvSpPr>
        <p:spPr>
          <a:xfrm>
            <a:off x="4178808" y="2551176"/>
            <a:ext cx="6757416" cy="310896"/>
          </a:xfrm>
          <a:prstGeom prst="rect">
            <a:avLst/>
          </a:prstGeom>
          <a:noFill/>
          <a:ln/>
        </p:spPr>
        <p:txBody>
          <a:bodyPr wrap="square" lIns="0" tIns="0" rIns="0" bIns="0" rtlCol="0" anchor="ctr">
            <a:normAutofit/>
          </a:bodyPr>
          <a:lstStyle/>
          <a:p>
            <a:pPr algn="l" indent="0" marL="0">
              <a:buNone/>
            </a:pPr>
            <a:r>
              <a:rPr lang="en-US" sz="1480" dirty="0">
                <a:solidFill>
                  <a:srgbClr val="64748B"/>
                </a:solidFill>
                <a:latin typeface="Aptos" pitchFamily="34" charset="0"/>
                <a:ea typeface="Aptos" pitchFamily="34" charset="-122"/>
                <a:cs typeface="Aptos" pitchFamily="34" charset="-120"/>
              </a:rPr>
              <a:t>Estados y probabilidades</a:t>
            </a:r>
            <a:endParaRPr lang="en-US" sz="1480" dirty="0"/>
          </a:p>
        </p:txBody>
      </p:sp>
      <p:sp>
        <p:nvSpPr>
          <p:cNvPr id="19" name="Shape 17"/>
          <p:cNvSpPr/>
          <p:nvPr/>
        </p:nvSpPr>
        <p:spPr>
          <a:xfrm>
            <a:off x="740664" y="3154680"/>
            <a:ext cx="10661904" cy="658368"/>
          </a:xfrm>
          <a:prstGeom prst="roundRect">
            <a:avLst/>
          </a:prstGeom>
          <a:solidFill>
            <a:srgbClr val="EAF2F6"/>
          </a:solidFill>
          <a:ln w="12700">
            <a:solidFill>
              <a:srgbClr val="FFFFFF">
                <a:alpha val="0"/>
              </a:srgbClr>
            </a:solidFill>
            <a:prstDash val="solid"/>
          </a:ln>
        </p:spPr>
      </p:sp>
      <p:sp>
        <p:nvSpPr>
          <p:cNvPr id="20" name="Shape 18"/>
          <p:cNvSpPr/>
          <p:nvPr/>
        </p:nvSpPr>
        <p:spPr>
          <a:xfrm>
            <a:off x="914400" y="3392424"/>
            <a:ext cx="182880" cy="182880"/>
          </a:xfrm>
          <a:prstGeom prst="ellipse">
            <a:avLst/>
          </a:prstGeom>
          <a:solidFill>
            <a:srgbClr val="17896D"/>
          </a:solidFill>
          <a:ln w="12700">
            <a:solidFill>
              <a:srgbClr val="FFFFFF">
                <a:alpha val="0"/>
              </a:srgbClr>
            </a:solidFill>
            <a:prstDash val="solid"/>
          </a:ln>
        </p:spPr>
      </p:sp>
      <p:sp>
        <p:nvSpPr>
          <p:cNvPr id="21" name="Text 19"/>
          <p:cNvSpPr/>
          <p:nvPr/>
        </p:nvSpPr>
        <p:spPr>
          <a:xfrm>
            <a:off x="939089" y="3337560"/>
            <a:ext cx="164592" cy="2834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289304" y="3310128"/>
            <a:ext cx="2926080" cy="32918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Anomalías</a:t>
            </a:r>
            <a:endParaRPr lang="en-US" sz="1600" dirty="0"/>
          </a:p>
        </p:txBody>
      </p:sp>
      <p:sp>
        <p:nvSpPr>
          <p:cNvPr id="23" name="Text 21"/>
          <p:cNvSpPr/>
          <p:nvPr/>
        </p:nvSpPr>
        <p:spPr>
          <a:xfrm>
            <a:off x="4178808" y="3310128"/>
            <a:ext cx="6757416" cy="310896"/>
          </a:xfrm>
          <a:prstGeom prst="rect">
            <a:avLst/>
          </a:prstGeom>
          <a:noFill/>
          <a:ln/>
        </p:spPr>
        <p:txBody>
          <a:bodyPr wrap="square" lIns="0" tIns="0" rIns="0" bIns="0" rtlCol="0" anchor="ctr">
            <a:normAutofit/>
          </a:bodyPr>
          <a:lstStyle/>
          <a:p>
            <a:pPr algn="l" indent="0" marL="0">
              <a:buNone/>
            </a:pPr>
            <a:r>
              <a:rPr lang="en-US" sz="1480" dirty="0">
                <a:solidFill>
                  <a:srgbClr val="64748B"/>
                </a:solidFill>
                <a:latin typeface="Aptos" pitchFamily="34" charset="0"/>
                <a:ea typeface="Aptos" pitchFamily="34" charset="-122"/>
                <a:cs typeface="Aptos" pitchFamily="34" charset="-120"/>
              </a:rPr>
              <a:t>Puntuación y marca binaria</a:t>
            </a:r>
            <a:endParaRPr lang="en-US" sz="1480" dirty="0"/>
          </a:p>
        </p:txBody>
      </p:sp>
      <p:sp>
        <p:nvSpPr>
          <p:cNvPr id="24" name="Shape 22"/>
          <p:cNvSpPr/>
          <p:nvPr/>
        </p:nvSpPr>
        <p:spPr>
          <a:xfrm>
            <a:off x="740664" y="3913632"/>
            <a:ext cx="10661904" cy="658368"/>
          </a:xfrm>
          <a:prstGeom prst="roundRect">
            <a:avLst/>
          </a:prstGeom>
          <a:solidFill>
            <a:srgbClr val="FFFFFF"/>
          </a:solidFill>
          <a:ln w="12700">
            <a:solidFill>
              <a:srgbClr val="FFFFFF">
                <a:alpha val="0"/>
              </a:srgbClr>
            </a:solidFill>
            <a:prstDash val="solid"/>
          </a:ln>
        </p:spPr>
      </p:sp>
      <p:sp>
        <p:nvSpPr>
          <p:cNvPr id="25" name="Shape 23"/>
          <p:cNvSpPr/>
          <p:nvPr/>
        </p:nvSpPr>
        <p:spPr>
          <a:xfrm>
            <a:off x="914400" y="4151376"/>
            <a:ext cx="182880" cy="182880"/>
          </a:xfrm>
          <a:prstGeom prst="ellipse">
            <a:avLst/>
          </a:prstGeom>
          <a:solidFill>
            <a:srgbClr val="17896D"/>
          </a:solidFill>
          <a:ln w="12700">
            <a:solidFill>
              <a:srgbClr val="FFFFFF">
                <a:alpha val="0"/>
              </a:srgbClr>
            </a:solidFill>
            <a:prstDash val="solid"/>
          </a:ln>
        </p:spPr>
      </p:sp>
      <p:sp>
        <p:nvSpPr>
          <p:cNvPr id="26" name="Text 24"/>
          <p:cNvSpPr/>
          <p:nvPr/>
        </p:nvSpPr>
        <p:spPr>
          <a:xfrm>
            <a:off x="939089" y="4096512"/>
            <a:ext cx="164592" cy="2834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27" name="Text 25"/>
          <p:cNvSpPr/>
          <p:nvPr/>
        </p:nvSpPr>
        <p:spPr>
          <a:xfrm>
            <a:off x="1289304" y="4069080"/>
            <a:ext cx="2926080" cy="32918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Pronóstico</a:t>
            </a:r>
            <a:endParaRPr lang="en-US" sz="1600" dirty="0"/>
          </a:p>
        </p:txBody>
      </p:sp>
      <p:sp>
        <p:nvSpPr>
          <p:cNvPr id="28" name="Text 26"/>
          <p:cNvSpPr/>
          <p:nvPr/>
        </p:nvSpPr>
        <p:spPr>
          <a:xfrm>
            <a:off x="4178808" y="4069080"/>
            <a:ext cx="6757416" cy="310896"/>
          </a:xfrm>
          <a:prstGeom prst="rect">
            <a:avLst/>
          </a:prstGeom>
          <a:noFill/>
          <a:ln/>
        </p:spPr>
        <p:txBody>
          <a:bodyPr wrap="square" lIns="0" tIns="0" rIns="0" bIns="0" rtlCol="0" anchor="ctr">
            <a:normAutofit/>
          </a:bodyPr>
          <a:lstStyle/>
          <a:p>
            <a:pPr algn="l" indent="0" marL="0">
              <a:buNone/>
            </a:pPr>
            <a:r>
              <a:rPr lang="en-US" sz="1480" dirty="0">
                <a:solidFill>
                  <a:srgbClr val="64748B"/>
                </a:solidFill>
                <a:latin typeface="Aptos" pitchFamily="34" charset="0"/>
                <a:ea typeface="Aptos" pitchFamily="34" charset="-122"/>
                <a:cs typeface="Aptos" pitchFamily="34" charset="-120"/>
              </a:rPr>
              <a:t>Valores a 5, 15 y 30 minutos</a:t>
            </a:r>
            <a:endParaRPr lang="en-US" sz="1480" dirty="0"/>
          </a:p>
        </p:txBody>
      </p:sp>
      <p:sp>
        <p:nvSpPr>
          <p:cNvPr id="29" name="Shape 27"/>
          <p:cNvSpPr/>
          <p:nvPr/>
        </p:nvSpPr>
        <p:spPr>
          <a:xfrm>
            <a:off x="740664" y="4672584"/>
            <a:ext cx="10661904" cy="658368"/>
          </a:xfrm>
          <a:prstGeom prst="roundRect">
            <a:avLst/>
          </a:prstGeom>
          <a:solidFill>
            <a:srgbClr val="EAF2F6"/>
          </a:solidFill>
          <a:ln w="12700">
            <a:solidFill>
              <a:srgbClr val="FFFFFF">
                <a:alpha val="0"/>
              </a:srgbClr>
            </a:solidFill>
            <a:prstDash val="solid"/>
          </a:ln>
        </p:spPr>
      </p:sp>
      <p:sp>
        <p:nvSpPr>
          <p:cNvPr id="30" name="Shape 28"/>
          <p:cNvSpPr/>
          <p:nvPr/>
        </p:nvSpPr>
        <p:spPr>
          <a:xfrm>
            <a:off x="914400" y="4910328"/>
            <a:ext cx="182880" cy="182880"/>
          </a:xfrm>
          <a:prstGeom prst="ellipse">
            <a:avLst/>
          </a:prstGeom>
          <a:solidFill>
            <a:srgbClr val="17896D"/>
          </a:solidFill>
          <a:ln w="12700">
            <a:solidFill>
              <a:srgbClr val="FFFFFF">
                <a:alpha val="0"/>
              </a:srgbClr>
            </a:solidFill>
            <a:prstDash val="solid"/>
          </a:ln>
        </p:spPr>
      </p:sp>
      <p:sp>
        <p:nvSpPr>
          <p:cNvPr id="31" name="Text 29"/>
          <p:cNvSpPr/>
          <p:nvPr/>
        </p:nvSpPr>
        <p:spPr>
          <a:xfrm>
            <a:off x="939089" y="4855464"/>
            <a:ext cx="164592" cy="2834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a:t>
            </a:r>
            <a:endParaRPr lang="en-US" sz="1600" dirty="0"/>
          </a:p>
        </p:txBody>
      </p:sp>
      <p:sp>
        <p:nvSpPr>
          <p:cNvPr id="32" name="Text 30"/>
          <p:cNvSpPr/>
          <p:nvPr/>
        </p:nvSpPr>
        <p:spPr>
          <a:xfrm>
            <a:off x="1289304" y="4828032"/>
            <a:ext cx="2926080" cy="32918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Evaluación</a:t>
            </a:r>
            <a:endParaRPr lang="en-US" sz="1600" dirty="0"/>
          </a:p>
        </p:txBody>
      </p:sp>
      <p:sp>
        <p:nvSpPr>
          <p:cNvPr id="33" name="Text 31"/>
          <p:cNvSpPr/>
          <p:nvPr/>
        </p:nvSpPr>
        <p:spPr>
          <a:xfrm>
            <a:off x="4178808" y="4828032"/>
            <a:ext cx="6757416" cy="310896"/>
          </a:xfrm>
          <a:prstGeom prst="rect">
            <a:avLst/>
          </a:prstGeom>
          <a:noFill/>
          <a:ln/>
        </p:spPr>
        <p:txBody>
          <a:bodyPr wrap="square" lIns="0" tIns="0" rIns="0" bIns="0" rtlCol="0" anchor="ctr">
            <a:normAutofit/>
          </a:bodyPr>
          <a:lstStyle/>
          <a:p>
            <a:pPr algn="l" indent="0" marL="0">
              <a:buNone/>
            </a:pPr>
            <a:r>
              <a:rPr lang="en-US" sz="1480" dirty="0">
                <a:solidFill>
                  <a:srgbClr val="64748B"/>
                </a:solidFill>
                <a:latin typeface="Aptos" pitchFamily="34" charset="0"/>
                <a:ea typeface="Aptos" pitchFamily="34" charset="-122"/>
                <a:cs typeface="Aptos" pitchFamily="34" charset="-120"/>
              </a:rPr>
              <a:t>Métricas, intervalos, importancia</a:t>
            </a:r>
            <a:endParaRPr lang="en-US" sz="1480" dirty="0"/>
          </a:p>
        </p:txBody>
      </p:sp>
      <p:sp>
        <p:nvSpPr>
          <p:cNvPr id="34" name="Shape 32"/>
          <p:cNvSpPr/>
          <p:nvPr/>
        </p:nvSpPr>
        <p:spPr>
          <a:xfrm>
            <a:off x="749808" y="5715000"/>
            <a:ext cx="10652760" cy="621792"/>
          </a:xfrm>
          <a:prstGeom prst="roundRect">
            <a:avLst/>
          </a:prstGeom>
          <a:solidFill>
            <a:srgbClr val="E8F4F3"/>
          </a:solidFill>
          <a:ln w="12700">
            <a:solidFill>
              <a:srgbClr val="FFFFFF">
                <a:alpha val="0"/>
              </a:srgbClr>
            </a:solidFill>
            <a:prstDash val="solid"/>
          </a:ln>
        </p:spPr>
      </p:sp>
      <p:sp>
        <p:nvSpPr>
          <p:cNvPr id="35" name="Shape 33"/>
          <p:cNvSpPr/>
          <p:nvPr/>
        </p:nvSpPr>
        <p:spPr>
          <a:xfrm>
            <a:off x="749808" y="5715000"/>
            <a:ext cx="73152" cy="621792"/>
          </a:xfrm>
          <a:prstGeom prst="rect">
            <a:avLst/>
          </a:prstGeom>
          <a:solidFill>
            <a:srgbClr val="168B91"/>
          </a:solidFill>
          <a:ln w="12700">
            <a:solidFill>
              <a:srgbClr val="FFFFFF">
                <a:alpha val="0"/>
              </a:srgbClr>
            </a:solidFill>
            <a:prstDash val="solid"/>
          </a:ln>
        </p:spPr>
      </p:sp>
      <p:sp>
        <p:nvSpPr>
          <p:cNvPr id="36" name="Text 34"/>
          <p:cNvSpPr/>
          <p:nvPr/>
        </p:nvSpPr>
        <p:spPr>
          <a:xfrm>
            <a:off x="941832" y="5806440"/>
            <a:ext cx="10287000" cy="457200"/>
          </a:xfrm>
          <a:prstGeom prst="rect">
            <a:avLst/>
          </a:prstGeom>
          <a:noFill/>
          <a:ln/>
        </p:spPr>
        <p:txBody>
          <a:bodyPr wrap="square" lIns="0" tIns="0" rIns="0" bIns="0" rtlCol="0" anchor="ctr">
            <a:normAutofit/>
          </a:bodyPr>
          <a:lstStyle/>
          <a:p>
            <a:pPr algn="l" indent="0" marL="0">
              <a:buNone/>
            </a:pPr>
            <a:r>
              <a:rPr lang="en-US" sz="1510" b="1" dirty="0">
                <a:solidFill>
                  <a:srgbClr val="111E37"/>
                </a:solidFill>
                <a:latin typeface="Aptos" pitchFamily="34" charset="0"/>
                <a:ea typeface="Aptos" pitchFamily="34" charset="-122"/>
                <a:cs typeface="Aptos" pitchFamily="34" charset="-120"/>
              </a:rPr>
              <a:t>P2 contestada: integración funcional satisfactoria. Una ejecución correcta no equivale a demostrar superioridad estadística.</a:t>
            </a:r>
            <a:endParaRPr lang="en-US" sz="151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Diagnóstico a 15 minutos: mejora descriptiva, no concluyente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Clasificación del estado futuro (normal, degradado o crítico), frente a persistencia.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XIV y sección 4.3.2.</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22</a:t>
            </a:r>
            <a:endParaRPr lang="en-US" sz="1040" dirty="0"/>
          </a:p>
        </p:txBody>
      </p:sp>
      <p:sp>
        <p:nvSpPr>
          <p:cNvPr id="9" name="Text 7"/>
          <p:cNvSpPr/>
          <p:nvPr/>
        </p:nvSpPr>
        <p:spPr>
          <a:xfrm>
            <a:off x="768096" y="1627632"/>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F1-MACRO — MAYOR ES MEJOR</a:t>
            </a:r>
            <a:endParaRPr lang="en-US" sz="1100" dirty="0"/>
          </a:p>
        </p:txBody>
      </p:sp>
      <p:sp>
        <p:nvSpPr>
          <p:cNvPr id="10" name="Text 8"/>
          <p:cNvSpPr/>
          <p:nvPr/>
        </p:nvSpPr>
        <p:spPr>
          <a:xfrm>
            <a:off x="768096" y="2020824"/>
            <a:ext cx="2706624" cy="507492"/>
          </a:xfrm>
          <a:prstGeom prst="rect">
            <a:avLst/>
          </a:prstGeom>
          <a:noFill/>
          <a:ln/>
        </p:spPr>
        <p:txBody>
          <a:bodyPr wrap="square" lIns="0" tIns="0" rIns="0" bIns="0" rtlCol="0" anchor="ctr">
            <a:normAutofit/>
          </a:bodyPr>
          <a:lstStyle/>
          <a:p>
            <a:pPr algn="l" indent="0" marL="0">
              <a:buNone/>
            </a:pPr>
            <a:r>
              <a:rPr lang="en-US" sz="1500" dirty="0">
                <a:solidFill>
                  <a:srgbClr val="202B3C"/>
                </a:solidFill>
                <a:latin typeface="Aptos" pitchFamily="34" charset="0"/>
                <a:ea typeface="Aptos" pitchFamily="34" charset="-122"/>
                <a:cs typeface="Aptos" pitchFamily="34" charset="-120"/>
              </a:rPr>
              <a:t>Persistencia</a:t>
            </a:r>
            <a:endParaRPr lang="en-US" sz="1500" dirty="0"/>
          </a:p>
        </p:txBody>
      </p:sp>
      <p:sp>
        <p:nvSpPr>
          <p:cNvPr id="11" name="Shape 9"/>
          <p:cNvSpPr/>
          <p:nvPr/>
        </p:nvSpPr>
        <p:spPr>
          <a:xfrm>
            <a:off x="3538728" y="2130552"/>
            <a:ext cx="6812280" cy="201168"/>
          </a:xfrm>
          <a:prstGeom prst="rect">
            <a:avLst/>
          </a:prstGeom>
          <a:solidFill>
            <a:srgbClr val="E0E8F0"/>
          </a:solidFill>
          <a:ln w="12700">
            <a:solidFill>
              <a:srgbClr val="FFFFFF">
                <a:alpha val="0"/>
              </a:srgbClr>
            </a:solidFill>
            <a:prstDash val="solid"/>
          </a:ln>
        </p:spPr>
      </p:sp>
      <p:sp>
        <p:nvSpPr>
          <p:cNvPr id="12" name="Shape 10"/>
          <p:cNvSpPr/>
          <p:nvPr/>
        </p:nvSpPr>
        <p:spPr>
          <a:xfrm>
            <a:off x="3538728" y="2130552"/>
            <a:ext cx="5323310" cy="201168"/>
          </a:xfrm>
          <a:prstGeom prst="rect">
            <a:avLst/>
          </a:prstGeom>
          <a:solidFill>
            <a:srgbClr val="8792A4"/>
          </a:solidFill>
          <a:ln w="12700">
            <a:solidFill>
              <a:srgbClr val="FFFFFF">
                <a:alpha val="0"/>
              </a:srgbClr>
            </a:solidFill>
            <a:prstDash val="solid"/>
          </a:ln>
        </p:spPr>
      </p:sp>
      <p:sp>
        <p:nvSpPr>
          <p:cNvPr id="13" name="Text 11"/>
          <p:cNvSpPr/>
          <p:nvPr/>
        </p:nvSpPr>
        <p:spPr>
          <a:xfrm>
            <a:off x="10415016" y="2020824"/>
            <a:ext cx="566928" cy="507492"/>
          </a:xfrm>
          <a:prstGeom prst="rect">
            <a:avLst/>
          </a:prstGeom>
          <a:noFill/>
          <a:ln/>
        </p:spPr>
        <p:txBody>
          <a:bodyPr wrap="square" lIns="0" tIns="0" rIns="0" bIns="0" rtlCol="0" anchor="ctr">
            <a:normAutofit/>
          </a:bodyPr>
          <a:lstStyle/>
          <a:p>
            <a:pPr algn="r" indent="0" marL="0">
              <a:buNone/>
            </a:pPr>
            <a:r>
              <a:rPr lang="en-US" sz="1500" b="1" dirty="0">
                <a:solidFill>
                  <a:srgbClr val="111E37"/>
                </a:solidFill>
                <a:latin typeface="Aptos" pitchFamily="34" charset="0"/>
                <a:ea typeface="Aptos" pitchFamily="34" charset="-122"/>
                <a:cs typeface="Aptos" pitchFamily="34" charset="-120"/>
              </a:rPr>
              <a:t>0.547</a:t>
            </a:r>
            <a:endParaRPr lang="en-US" sz="1500" dirty="0"/>
          </a:p>
        </p:txBody>
      </p:sp>
      <p:sp>
        <p:nvSpPr>
          <p:cNvPr id="14" name="Text 12"/>
          <p:cNvSpPr/>
          <p:nvPr/>
        </p:nvSpPr>
        <p:spPr>
          <a:xfrm>
            <a:off x="768096" y="2619756"/>
            <a:ext cx="2706624" cy="507492"/>
          </a:xfrm>
          <a:prstGeom prst="rect">
            <a:avLst/>
          </a:prstGeom>
          <a:noFill/>
          <a:ln/>
        </p:spPr>
        <p:txBody>
          <a:bodyPr wrap="square" lIns="0" tIns="0" rIns="0" bIns="0" rtlCol="0" anchor="ctr">
            <a:normAutofit/>
          </a:bodyPr>
          <a:lstStyle/>
          <a:p>
            <a:pPr algn="l" indent="0" marL="0">
              <a:buNone/>
            </a:pPr>
            <a:r>
              <a:rPr lang="en-US" sz="1500" dirty="0">
                <a:solidFill>
                  <a:srgbClr val="202B3C"/>
                </a:solidFill>
                <a:latin typeface="Aptos" pitchFamily="34" charset="0"/>
                <a:ea typeface="Aptos" pitchFamily="34" charset="-122"/>
                <a:cs typeface="Aptos" pitchFamily="34" charset="-120"/>
              </a:rPr>
              <a:t>HistGradientBoosting</a:t>
            </a:r>
            <a:endParaRPr lang="en-US" sz="1500" dirty="0"/>
          </a:p>
        </p:txBody>
      </p:sp>
      <p:sp>
        <p:nvSpPr>
          <p:cNvPr id="15" name="Shape 13"/>
          <p:cNvSpPr/>
          <p:nvPr/>
        </p:nvSpPr>
        <p:spPr>
          <a:xfrm>
            <a:off x="3538728" y="2729484"/>
            <a:ext cx="6812280" cy="201168"/>
          </a:xfrm>
          <a:prstGeom prst="rect">
            <a:avLst/>
          </a:prstGeom>
          <a:solidFill>
            <a:srgbClr val="E0E8F0"/>
          </a:solidFill>
          <a:ln w="12700">
            <a:solidFill>
              <a:srgbClr val="FFFFFF">
                <a:alpha val="0"/>
              </a:srgbClr>
            </a:solidFill>
            <a:prstDash val="solid"/>
          </a:ln>
        </p:spPr>
      </p:sp>
      <p:sp>
        <p:nvSpPr>
          <p:cNvPr id="16" name="Shape 14"/>
          <p:cNvSpPr/>
          <p:nvPr/>
        </p:nvSpPr>
        <p:spPr>
          <a:xfrm>
            <a:off x="3538728" y="2729484"/>
            <a:ext cx="5595801" cy="201168"/>
          </a:xfrm>
          <a:prstGeom prst="rect">
            <a:avLst/>
          </a:prstGeom>
          <a:solidFill>
            <a:srgbClr val="168B91"/>
          </a:solidFill>
          <a:ln w="12700">
            <a:solidFill>
              <a:srgbClr val="FFFFFF">
                <a:alpha val="0"/>
              </a:srgbClr>
            </a:solidFill>
            <a:prstDash val="solid"/>
          </a:ln>
        </p:spPr>
      </p:sp>
      <p:sp>
        <p:nvSpPr>
          <p:cNvPr id="17" name="Text 15"/>
          <p:cNvSpPr/>
          <p:nvPr/>
        </p:nvSpPr>
        <p:spPr>
          <a:xfrm>
            <a:off x="10415016" y="2619756"/>
            <a:ext cx="566928" cy="507492"/>
          </a:xfrm>
          <a:prstGeom prst="rect">
            <a:avLst/>
          </a:prstGeom>
          <a:noFill/>
          <a:ln/>
        </p:spPr>
        <p:txBody>
          <a:bodyPr wrap="square" lIns="0" tIns="0" rIns="0" bIns="0" rtlCol="0" anchor="ctr">
            <a:normAutofit/>
          </a:bodyPr>
          <a:lstStyle/>
          <a:p>
            <a:pPr algn="r" indent="0" marL="0">
              <a:buNone/>
            </a:pPr>
            <a:r>
              <a:rPr lang="en-US" sz="1500" b="1" dirty="0">
                <a:solidFill>
                  <a:srgbClr val="111E37"/>
                </a:solidFill>
                <a:latin typeface="Aptos" pitchFamily="34" charset="0"/>
                <a:ea typeface="Aptos" pitchFamily="34" charset="-122"/>
                <a:cs typeface="Aptos" pitchFamily="34" charset="-120"/>
              </a:rPr>
              <a:t>0.575</a:t>
            </a:r>
            <a:endParaRPr lang="en-US" sz="1500" dirty="0"/>
          </a:p>
        </p:txBody>
      </p:sp>
      <p:sp>
        <p:nvSpPr>
          <p:cNvPr id="18" name="Shape 16"/>
          <p:cNvSpPr/>
          <p:nvPr/>
        </p:nvSpPr>
        <p:spPr>
          <a:xfrm>
            <a:off x="786384" y="3575304"/>
            <a:ext cx="3246120" cy="1261872"/>
          </a:xfrm>
          <a:prstGeom prst="roundRect">
            <a:avLst/>
          </a:prstGeom>
          <a:solidFill>
            <a:srgbClr val="FFFFFF"/>
          </a:solidFill>
          <a:ln w="10160">
            <a:solidFill>
              <a:srgbClr val="DBE3ED"/>
            </a:solidFill>
            <a:prstDash val="solid"/>
          </a:ln>
        </p:spPr>
      </p:sp>
      <p:sp>
        <p:nvSpPr>
          <p:cNvPr id="19" name="Shape 17"/>
          <p:cNvSpPr/>
          <p:nvPr/>
        </p:nvSpPr>
        <p:spPr>
          <a:xfrm>
            <a:off x="786384" y="3575304"/>
            <a:ext cx="59436" cy="1261872"/>
          </a:xfrm>
          <a:prstGeom prst="rect">
            <a:avLst/>
          </a:prstGeom>
          <a:solidFill>
            <a:srgbClr val="2861A1"/>
          </a:solidFill>
          <a:ln w="12700">
            <a:solidFill>
              <a:srgbClr val="FFFFFF">
                <a:alpha val="0"/>
              </a:srgbClr>
            </a:solidFill>
            <a:prstDash val="solid"/>
          </a:ln>
        </p:spPr>
      </p:sp>
      <p:sp>
        <p:nvSpPr>
          <p:cNvPr id="20" name="Text 18"/>
          <p:cNvSpPr/>
          <p:nvPr/>
        </p:nvSpPr>
        <p:spPr>
          <a:xfrm>
            <a:off x="950976" y="3730752"/>
            <a:ext cx="2980944" cy="438912"/>
          </a:xfrm>
          <a:prstGeom prst="rect">
            <a:avLst/>
          </a:prstGeom>
          <a:noFill/>
          <a:ln/>
        </p:spPr>
        <p:txBody>
          <a:bodyPr wrap="square" lIns="0" tIns="0" rIns="0" bIns="0" rtlCol="0" anchor="ctr">
            <a:normAutofit/>
          </a:bodyPr>
          <a:lstStyle/>
          <a:p>
            <a:pPr algn="l" indent="0" marL="0">
              <a:buNone/>
            </a:pPr>
            <a:r>
              <a:rPr lang="en-US" sz="2800" b="1" dirty="0">
                <a:solidFill>
                  <a:srgbClr val="2861A1"/>
                </a:solidFill>
                <a:latin typeface="Aptos" pitchFamily="34" charset="0"/>
                <a:ea typeface="Aptos" pitchFamily="34" charset="-122"/>
                <a:cs typeface="Aptos" pitchFamily="34" charset="-120"/>
              </a:rPr>
              <a:t>0,794</a:t>
            </a:r>
            <a:endParaRPr lang="en-US" sz="2800" dirty="0"/>
          </a:p>
        </p:txBody>
      </p:sp>
      <p:sp>
        <p:nvSpPr>
          <p:cNvPr id="21" name="Text 19"/>
          <p:cNvSpPr/>
          <p:nvPr/>
        </p:nvSpPr>
        <p:spPr>
          <a:xfrm>
            <a:off x="950976" y="4279392"/>
            <a:ext cx="2971800"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AUC multiclase del HGB</a:t>
            </a:r>
            <a:endParaRPr lang="en-US" sz="1280" dirty="0"/>
          </a:p>
        </p:txBody>
      </p:sp>
      <p:sp>
        <p:nvSpPr>
          <p:cNvPr id="22" name="Shape 20"/>
          <p:cNvSpPr/>
          <p:nvPr/>
        </p:nvSpPr>
        <p:spPr>
          <a:xfrm>
            <a:off x="4325112" y="3575304"/>
            <a:ext cx="3255264" cy="1261872"/>
          </a:xfrm>
          <a:prstGeom prst="roundRect">
            <a:avLst/>
          </a:prstGeom>
          <a:solidFill>
            <a:srgbClr val="FFFFFF"/>
          </a:solidFill>
          <a:ln w="10160">
            <a:solidFill>
              <a:srgbClr val="DBE3ED"/>
            </a:solidFill>
            <a:prstDash val="solid"/>
          </a:ln>
        </p:spPr>
      </p:sp>
      <p:sp>
        <p:nvSpPr>
          <p:cNvPr id="23" name="Shape 21"/>
          <p:cNvSpPr/>
          <p:nvPr/>
        </p:nvSpPr>
        <p:spPr>
          <a:xfrm>
            <a:off x="4325112" y="3575304"/>
            <a:ext cx="59436" cy="1261872"/>
          </a:xfrm>
          <a:prstGeom prst="rect">
            <a:avLst/>
          </a:prstGeom>
          <a:solidFill>
            <a:srgbClr val="168B91"/>
          </a:solidFill>
          <a:ln w="12700">
            <a:solidFill>
              <a:srgbClr val="FFFFFF">
                <a:alpha val="0"/>
              </a:srgbClr>
            </a:solidFill>
            <a:prstDash val="solid"/>
          </a:ln>
        </p:spPr>
      </p:sp>
      <p:sp>
        <p:nvSpPr>
          <p:cNvPr id="24" name="Text 22"/>
          <p:cNvSpPr/>
          <p:nvPr/>
        </p:nvSpPr>
        <p:spPr>
          <a:xfrm>
            <a:off x="4489704" y="3730752"/>
            <a:ext cx="2990088" cy="438912"/>
          </a:xfrm>
          <a:prstGeom prst="rect">
            <a:avLst/>
          </a:prstGeom>
          <a:noFill/>
          <a:ln/>
        </p:spPr>
        <p:txBody>
          <a:bodyPr wrap="square" lIns="0" tIns="0" rIns="0" bIns="0" rtlCol="0" anchor="ctr">
            <a:normAutofit/>
          </a:bodyPr>
          <a:lstStyle/>
          <a:p>
            <a:pPr algn="l" indent="0" marL="0">
              <a:buNone/>
            </a:pPr>
            <a:r>
              <a:rPr lang="en-US" sz="2800" b="1" dirty="0">
                <a:solidFill>
                  <a:srgbClr val="168B91"/>
                </a:solidFill>
                <a:latin typeface="Aptos" pitchFamily="34" charset="0"/>
                <a:ea typeface="Aptos" pitchFamily="34" charset="-122"/>
                <a:cs typeface="Aptos" pitchFamily="34" charset="-120"/>
              </a:rPr>
              <a:t>0,851</a:t>
            </a:r>
            <a:endParaRPr lang="en-US" sz="2800" dirty="0"/>
          </a:p>
        </p:txBody>
      </p:sp>
      <p:sp>
        <p:nvSpPr>
          <p:cNvPr id="25" name="Text 23"/>
          <p:cNvSpPr/>
          <p:nvPr/>
        </p:nvSpPr>
        <p:spPr>
          <a:xfrm>
            <a:off x="4489704" y="4279392"/>
            <a:ext cx="2980944"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Exactitud del HGB</a:t>
            </a:r>
            <a:endParaRPr lang="en-US" sz="1280" dirty="0"/>
          </a:p>
        </p:txBody>
      </p:sp>
      <p:sp>
        <p:nvSpPr>
          <p:cNvPr id="26" name="Shape 24"/>
          <p:cNvSpPr/>
          <p:nvPr/>
        </p:nvSpPr>
        <p:spPr>
          <a:xfrm>
            <a:off x="7836408" y="3575304"/>
            <a:ext cx="3255264" cy="1261872"/>
          </a:xfrm>
          <a:prstGeom prst="roundRect">
            <a:avLst/>
          </a:prstGeom>
          <a:solidFill>
            <a:srgbClr val="FFFFFF"/>
          </a:solidFill>
          <a:ln w="10160">
            <a:solidFill>
              <a:srgbClr val="DBE3ED"/>
            </a:solidFill>
            <a:prstDash val="solid"/>
          </a:ln>
        </p:spPr>
      </p:sp>
      <p:sp>
        <p:nvSpPr>
          <p:cNvPr id="27" name="Shape 25"/>
          <p:cNvSpPr/>
          <p:nvPr/>
        </p:nvSpPr>
        <p:spPr>
          <a:xfrm>
            <a:off x="7836408" y="3575304"/>
            <a:ext cx="59436" cy="1261872"/>
          </a:xfrm>
          <a:prstGeom prst="rect">
            <a:avLst/>
          </a:prstGeom>
          <a:solidFill>
            <a:srgbClr val="1B3154"/>
          </a:solidFill>
          <a:ln w="12700">
            <a:solidFill>
              <a:srgbClr val="FFFFFF">
                <a:alpha val="0"/>
              </a:srgbClr>
            </a:solidFill>
            <a:prstDash val="solid"/>
          </a:ln>
        </p:spPr>
      </p:sp>
      <p:sp>
        <p:nvSpPr>
          <p:cNvPr id="28" name="Text 26"/>
          <p:cNvSpPr/>
          <p:nvPr/>
        </p:nvSpPr>
        <p:spPr>
          <a:xfrm>
            <a:off x="8001000" y="3730752"/>
            <a:ext cx="2990088" cy="438912"/>
          </a:xfrm>
          <a:prstGeom prst="rect">
            <a:avLst/>
          </a:prstGeom>
          <a:noFill/>
          <a:ln/>
        </p:spPr>
        <p:txBody>
          <a:bodyPr wrap="square" lIns="0" tIns="0" rIns="0" bIns="0" rtlCol="0" anchor="ctr">
            <a:normAutofit/>
          </a:bodyPr>
          <a:lstStyle/>
          <a:p>
            <a:pPr algn="l" indent="0" marL="0">
              <a:buNone/>
            </a:pPr>
            <a:r>
              <a:rPr lang="en-US" sz="2800" b="1" dirty="0">
                <a:solidFill>
                  <a:srgbClr val="1B3154"/>
                </a:solidFill>
                <a:latin typeface="Aptos" pitchFamily="34" charset="0"/>
                <a:ea typeface="Aptos" pitchFamily="34" charset="-122"/>
                <a:cs typeface="Aptos" pitchFamily="34" charset="-120"/>
              </a:rPr>
              <a:t>17 754</a:t>
            </a:r>
            <a:endParaRPr lang="en-US" sz="2800" dirty="0"/>
          </a:p>
        </p:txBody>
      </p:sp>
      <p:sp>
        <p:nvSpPr>
          <p:cNvPr id="29" name="Text 27"/>
          <p:cNvSpPr/>
          <p:nvPr/>
        </p:nvSpPr>
        <p:spPr>
          <a:xfrm>
            <a:off x="8001000" y="4279392"/>
            <a:ext cx="2980944"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casos de prueba</a:t>
            </a:r>
            <a:endParaRPr lang="en-US" sz="1280" dirty="0"/>
          </a:p>
        </p:txBody>
      </p:sp>
      <p:sp>
        <p:nvSpPr>
          <p:cNvPr id="30" name="Shape 28"/>
          <p:cNvSpPr/>
          <p:nvPr/>
        </p:nvSpPr>
        <p:spPr>
          <a:xfrm>
            <a:off x="786384" y="5166360"/>
            <a:ext cx="10479024" cy="822960"/>
          </a:xfrm>
          <a:prstGeom prst="roundRect">
            <a:avLst/>
          </a:prstGeom>
          <a:solidFill>
            <a:srgbClr val="FFF2EC"/>
          </a:solidFill>
          <a:ln w="12700">
            <a:solidFill>
              <a:srgbClr val="FFFFFF">
                <a:alpha val="0"/>
              </a:srgbClr>
            </a:solidFill>
            <a:prstDash val="solid"/>
          </a:ln>
        </p:spPr>
      </p:sp>
      <p:sp>
        <p:nvSpPr>
          <p:cNvPr id="31" name="Shape 29"/>
          <p:cNvSpPr/>
          <p:nvPr/>
        </p:nvSpPr>
        <p:spPr>
          <a:xfrm>
            <a:off x="786384" y="5166360"/>
            <a:ext cx="73152" cy="822960"/>
          </a:xfrm>
          <a:prstGeom prst="rect">
            <a:avLst/>
          </a:prstGeom>
          <a:solidFill>
            <a:srgbClr val="CB6D60"/>
          </a:solidFill>
          <a:ln w="12700">
            <a:solidFill>
              <a:srgbClr val="FFFFFF">
                <a:alpha val="0"/>
              </a:srgbClr>
            </a:solidFill>
            <a:prstDash val="solid"/>
          </a:ln>
        </p:spPr>
      </p:sp>
      <p:sp>
        <p:nvSpPr>
          <p:cNvPr id="32" name="Text 30"/>
          <p:cNvSpPr/>
          <p:nvPr/>
        </p:nvSpPr>
        <p:spPr>
          <a:xfrm>
            <a:off x="978408" y="5257800"/>
            <a:ext cx="10113264" cy="658368"/>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Δ F1-macro = +0,028; IC 95 % [−0,017; 0,046]. Incluye 0 → no se demuestra superioridad estadística del clasificador.</a:t>
            </a:r>
            <a:endParaRPr lang="en-US" sz="16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Detección de anomalías: priorización de eventos inusuales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Isolation Forest detectó observaciones atípicas; no son automáticamente fallas confirmadas.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XV y sección 4.3.3.</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23</a:t>
            </a:r>
            <a:endParaRPr lang="en-US" sz="1040" dirty="0"/>
          </a:p>
        </p:txBody>
      </p:sp>
      <p:sp>
        <p:nvSpPr>
          <p:cNvPr id="9" name="Shape 7"/>
          <p:cNvSpPr/>
          <p:nvPr/>
        </p:nvSpPr>
        <p:spPr>
          <a:xfrm>
            <a:off x="758952" y="1719072"/>
            <a:ext cx="5093208" cy="1261872"/>
          </a:xfrm>
          <a:prstGeom prst="roundRect">
            <a:avLst/>
          </a:prstGeom>
          <a:solidFill>
            <a:srgbClr val="FFFFFF"/>
          </a:solidFill>
          <a:ln w="10160">
            <a:solidFill>
              <a:srgbClr val="DBE3ED"/>
            </a:solidFill>
            <a:prstDash val="solid"/>
          </a:ln>
        </p:spPr>
      </p:sp>
      <p:sp>
        <p:nvSpPr>
          <p:cNvPr id="10" name="Shape 8"/>
          <p:cNvSpPr/>
          <p:nvPr/>
        </p:nvSpPr>
        <p:spPr>
          <a:xfrm>
            <a:off x="758952" y="1719072"/>
            <a:ext cx="59436" cy="1261872"/>
          </a:xfrm>
          <a:prstGeom prst="rect">
            <a:avLst/>
          </a:prstGeom>
          <a:solidFill>
            <a:srgbClr val="168B91"/>
          </a:solidFill>
          <a:ln w="12700">
            <a:solidFill>
              <a:srgbClr val="FFFFFF">
                <a:alpha val="0"/>
              </a:srgbClr>
            </a:solidFill>
            <a:prstDash val="solid"/>
          </a:ln>
        </p:spPr>
      </p:sp>
      <p:sp>
        <p:nvSpPr>
          <p:cNvPr id="11" name="Text 9"/>
          <p:cNvSpPr/>
          <p:nvPr/>
        </p:nvSpPr>
        <p:spPr>
          <a:xfrm>
            <a:off x="923544" y="1874520"/>
            <a:ext cx="4828032" cy="438912"/>
          </a:xfrm>
          <a:prstGeom prst="rect">
            <a:avLst/>
          </a:prstGeom>
          <a:noFill/>
          <a:ln/>
        </p:spPr>
        <p:txBody>
          <a:bodyPr wrap="square" lIns="0" tIns="0" rIns="0" bIns="0" rtlCol="0" anchor="ctr">
            <a:normAutofit/>
          </a:bodyPr>
          <a:lstStyle/>
          <a:p>
            <a:pPr algn="l" indent="0" marL="0">
              <a:buNone/>
            </a:pPr>
            <a:r>
              <a:rPr lang="en-US" sz="2800" b="1" dirty="0">
                <a:solidFill>
                  <a:srgbClr val="168B91"/>
                </a:solidFill>
                <a:latin typeface="Aptos" pitchFamily="34" charset="0"/>
                <a:ea typeface="Aptos" pitchFamily="34" charset="-122"/>
                <a:cs typeface="Aptos" pitchFamily="34" charset="-120"/>
              </a:rPr>
              <a:t>1 093</a:t>
            </a:r>
            <a:endParaRPr lang="en-US" sz="2800" dirty="0"/>
          </a:p>
        </p:txBody>
      </p:sp>
      <p:sp>
        <p:nvSpPr>
          <p:cNvPr id="12" name="Text 10"/>
          <p:cNvSpPr/>
          <p:nvPr/>
        </p:nvSpPr>
        <p:spPr>
          <a:xfrm>
            <a:off x="923544" y="2423160"/>
            <a:ext cx="4818888" cy="320040"/>
          </a:xfrm>
          <a:prstGeom prst="rect">
            <a:avLst/>
          </a:prstGeom>
          <a:noFill/>
          <a:ln/>
        </p:spPr>
        <p:txBody>
          <a:bodyPr wrap="square" lIns="0" tIns="0" rIns="0" bIns="0" rtlCol="0" anchor="ctr">
            <a:normAutofit/>
          </a:bodyPr>
          <a:lstStyle/>
          <a:p>
            <a:pPr algn="l" indent="0" marL="0">
              <a:buNone/>
            </a:pPr>
            <a:r>
              <a:rPr lang="en-US" sz="1280" b="1" dirty="0">
                <a:solidFill>
                  <a:srgbClr val="202B3C"/>
                </a:solidFill>
                <a:latin typeface="Aptos" pitchFamily="34" charset="0"/>
                <a:ea typeface="Aptos" pitchFamily="34" charset="-122"/>
                <a:cs typeface="Aptos" pitchFamily="34" charset="-120"/>
              </a:rPr>
              <a:t>observaciones marcadas como anómalas</a:t>
            </a:r>
            <a:endParaRPr lang="en-US" sz="1280" dirty="0"/>
          </a:p>
        </p:txBody>
      </p:sp>
      <p:sp>
        <p:nvSpPr>
          <p:cNvPr id="13" name="Text 11"/>
          <p:cNvSpPr/>
          <p:nvPr/>
        </p:nvSpPr>
        <p:spPr>
          <a:xfrm>
            <a:off x="923544" y="2743200"/>
            <a:ext cx="4818888" cy="164592"/>
          </a:xfrm>
          <a:prstGeom prst="rect">
            <a:avLst/>
          </a:prstGeom>
          <a:noFill/>
          <a:ln/>
        </p:spPr>
        <p:txBody>
          <a:bodyPr wrap="square" lIns="0" tIns="0" rIns="0" bIns="0" rtlCol="0" anchor="ctr">
            <a:normAutofit/>
          </a:bodyPr>
          <a:lstStyle/>
          <a:p>
            <a:pPr algn="l" indent="0" marL="0">
              <a:buNone/>
            </a:pPr>
            <a:r>
              <a:rPr lang="en-US" sz="930" dirty="0">
                <a:solidFill>
                  <a:srgbClr val="64748B"/>
                </a:solidFill>
                <a:latin typeface="Aptos" pitchFamily="34" charset="0"/>
                <a:ea typeface="Aptos" pitchFamily="34" charset="-122"/>
                <a:cs typeface="Aptos" pitchFamily="34" charset="-120"/>
              </a:rPr>
              <a:t>0,93 % de 117 911 registros completos</a:t>
            </a:r>
            <a:endParaRPr lang="en-US" sz="930" dirty="0"/>
          </a:p>
        </p:txBody>
      </p:sp>
      <p:sp>
        <p:nvSpPr>
          <p:cNvPr id="14" name="Shape 12"/>
          <p:cNvSpPr/>
          <p:nvPr/>
        </p:nvSpPr>
        <p:spPr>
          <a:xfrm>
            <a:off x="6089904" y="1709928"/>
            <a:ext cx="5111496" cy="1289304"/>
          </a:xfrm>
          <a:prstGeom prst="roundRect">
            <a:avLst/>
          </a:prstGeom>
          <a:solidFill>
            <a:srgbClr val="FFFFFF"/>
          </a:solidFill>
          <a:ln w="10160">
            <a:solidFill>
              <a:srgbClr val="DBE3ED"/>
            </a:solidFill>
            <a:prstDash val="solid"/>
          </a:ln>
        </p:spPr>
      </p:sp>
      <p:sp>
        <p:nvSpPr>
          <p:cNvPr id="15" name="Text 13"/>
          <p:cNvSpPr/>
          <p:nvPr/>
        </p:nvSpPr>
        <p:spPr>
          <a:xfrm>
            <a:off x="6300216" y="1911096"/>
            <a:ext cx="1344168" cy="438912"/>
          </a:xfrm>
          <a:prstGeom prst="rect">
            <a:avLst/>
          </a:prstGeom>
          <a:noFill/>
          <a:ln/>
        </p:spPr>
        <p:txBody>
          <a:bodyPr wrap="square" lIns="0" tIns="0" rIns="0" bIns="0" rtlCol="0" anchor="ctr">
            <a:normAutofit/>
          </a:bodyPr>
          <a:lstStyle/>
          <a:p>
            <a:pPr algn="l" indent="0" marL="0">
              <a:buNone/>
            </a:pPr>
            <a:r>
              <a:rPr lang="en-US" sz="2800" b="1" dirty="0">
                <a:solidFill>
                  <a:srgbClr val="111E37"/>
                </a:solidFill>
                <a:latin typeface="Aptos" pitchFamily="34" charset="0"/>
                <a:ea typeface="Aptos" pitchFamily="34" charset="-122"/>
                <a:cs typeface="Aptos" pitchFamily="34" charset="-120"/>
              </a:rPr>
              <a:t>1 %</a:t>
            </a:r>
            <a:endParaRPr lang="en-US" sz="2800" dirty="0"/>
          </a:p>
        </p:txBody>
      </p:sp>
      <p:sp>
        <p:nvSpPr>
          <p:cNvPr id="16" name="Text 14"/>
          <p:cNvSpPr/>
          <p:nvPr/>
        </p:nvSpPr>
        <p:spPr>
          <a:xfrm>
            <a:off x="7744968" y="1901952"/>
            <a:ext cx="3172968" cy="658368"/>
          </a:xfrm>
          <a:prstGeom prst="rect">
            <a:avLst/>
          </a:prstGeom>
          <a:noFill/>
          <a:ln/>
        </p:spPr>
        <p:txBody>
          <a:bodyPr wrap="square" lIns="0" tIns="0" rIns="0" bIns="0"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Contaminación esperada en el modelo</a:t>
            </a:r>
            <a:endParaRPr lang="en-US" sz="1350" dirty="0"/>
          </a:p>
          <a:p>
            <a:pPr algn="l" indent="0" marL="0">
              <a:buNone/>
            </a:pPr>
            <a:r>
              <a:rPr lang="en-US" sz="1350" dirty="0">
                <a:solidFill>
                  <a:srgbClr val="64748B"/>
                </a:solidFill>
                <a:latin typeface="Aptos" pitchFamily="34" charset="0"/>
                <a:ea typeface="Aptos" pitchFamily="34" charset="-122"/>
                <a:cs typeface="Aptos" pitchFamily="34" charset="-120"/>
              </a:rPr>
              <a:t>Parámetro de ajuste, no tasa real de fallas</a:t>
            </a:r>
            <a:endParaRPr lang="en-US" sz="1350" dirty="0"/>
          </a:p>
        </p:txBody>
      </p:sp>
      <p:sp>
        <p:nvSpPr>
          <p:cNvPr id="17" name="Text 15"/>
          <p:cNvSpPr/>
          <p:nvPr/>
        </p:nvSpPr>
        <p:spPr>
          <a:xfrm>
            <a:off x="822960" y="3392424"/>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DISTRIBUCIÓN ENTRE LAS 1 000 ANOMALÍAS MEJOR PUNTUADAS</a:t>
            </a:r>
            <a:endParaRPr lang="en-US" sz="1100" dirty="0"/>
          </a:p>
        </p:txBody>
      </p:sp>
      <p:sp>
        <p:nvSpPr>
          <p:cNvPr id="18" name="Shape 16"/>
          <p:cNvSpPr/>
          <p:nvPr/>
        </p:nvSpPr>
        <p:spPr>
          <a:xfrm>
            <a:off x="832104" y="3803904"/>
            <a:ext cx="7034369" cy="603504"/>
          </a:xfrm>
          <a:prstGeom prst="rect">
            <a:avLst/>
          </a:prstGeom>
          <a:solidFill>
            <a:srgbClr val="CB6D60"/>
          </a:solidFill>
          <a:ln w="12700">
            <a:solidFill>
              <a:srgbClr val="FFFFFF">
                <a:alpha val="0"/>
              </a:srgbClr>
            </a:solidFill>
            <a:prstDash val="solid"/>
          </a:ln>
        </p:spPr>
      </p:sp>
      <p:sp>
        <p:nvSpPr>
          <p:cNvPr id="19" name="Shape 17"/>
          <p:cNvSpPr/>
          <p:nvPr/>
        </p:nvSpPr>
        <p:spPr>
          <a:xfrm>
            <a:off x="7866473" y="3803904"/>
            <a:ext cx="1259111" cy="603504"/>
          </a:xfrm>
          <a:prstGeom prst="rect">
            <a:avLst/>
          </a:prstGeom>
          <a:solidFill>
            <a:srgbClr val="E7B755"/>
          </a:solidFill>
          <a:ln w="12700">
            <a:solidFill>
              <a:srgbClr val="FFFFFF">
                <a:alpha val="0"/>
              </a:srgbClr>
            </a:solidFill>
            <a:prstDash val="solid"/>
          </a:ln>
        </p:spPr>
      </p:sp>
      <p:sp>
        <p:nvSpPr>
          <p:cNvPr id="20" name="Shape 18"/>
          <p:cNvSpPr/>
          <p:nvPr/>
        </p:nvSpPr>
        <p:spPr>
          <a:xfrm>
            <a:off x="9125584" y="3803904"/>
            <a:ext cx="2112392" cy="603504"/>
          </a:xfrm>
          <a:prstGeom prst="rect">
            <a:avLst/>
          </a:prstGeom>
          <a:solidFill>
            <a:srgbClr val="2861A1"/>
          </a:solidFill>
          <a:ln w="12700">
            <a:solidFill>
              <a:srgbClr val="FFFFFF">
                <a:alpha val="0"/>
              </a:srgbClr>
            </a:solidFill>
            <a:prstDash val="solid"/>
          </a:ln>
        </p:spPr>
      </p:sp>
      <p:sp>
        <p:nvSpPr>
          <p:cNvPr id="21" name="Text 19"/>
          <p:cNvSpPr/>
          <p:nvPr/>
        </p:nvSpPr>
        <p:spPr>
          <a:xfrm>
            <a:off x="1033272" y="3986784"/>
            <a:ext cx="3840480" cy="25603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Crítico 676</a:t>
            </a:r>
            <a:endParaRPr lang="en-US" sz="1400" dirty="0"/>
          </a:p>
        </p:txBody>
      </p:sp>
      <p:sp>
        <p:nvSpPr>
          <p:cNvPr id="22" name="Text 20"/>
          <p:cNvSpPr/>
          <p:nvPr/>
        </p:nvSpPr>
        <p:spPr>
          <a:xfrm>
            <a:off x="7388352" y="4498848"/>
            <a:ext cx="2286000" cy="292608"/>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Degradado 121</a:t>
            </a:r>
            <a:endParaRPr lang="en-US" sz="1300" dirty="0"/>
          </a:p>
        </p:txBody>
      </p:sp>
      <p:sp>
        <p:nvSpPr>
          <p:cNvPr id="23" name="Text 21"/>
          <p:cNvSpPr/>
          <p:nvPr/>
        </p:nvSpPr>
        <p:spPr>
          <a:xfrm>
            <a:off x="9372600" y="4498848"/>
            <a:ext cx="1920240" cy="292608"/>
          </a:xfrm>
          <a:prstGeom prst="rect">
            <a:avLst/>
          </a:prstGeom>
          <a:noFill/>
          <a:ln/>
        </p:spPr>
        <p:txBody>
          <a:bodyPr wrap="square" lIns="0" tIns="0" rIns="0" bIns="0" rtlCol="0" anchor="ctr">
            <a:normAutofit/>
          </a:bodyPr>
          <a:lstStyle/>
          <a:p>
            <a:pPr algn="r" indent="0" marL="0">
              <a:buNone/>
            </a:pPr>
            <a:r>
              <a:rPr lang="en-US" sz="1300" b="1" dirty="0">
                <a:solidFill>
                  <a:srgbClr val="111E37"/>
                </a:solidFill>
                <a:latin typeface="Aptos" pitchFamily="34" charset="0"/>
                <a:ea typeface="Aptos" pitchFamily="34" charset="-122"/>
                <a:cs typeface="Aptos" pitchFamily="34" charset="-120"/>
              </a:rPr>
              <a:t>Normal 203</a:t>
            </a:r>
            <a:endParaRPr lang="en-US" sz="1300" dirty="0"/>
          </a:p>
        </p:txBody>
      </p:sp>
      <p:sp>
        <p:nvSpPr>
          <p:cNvPr id="24" name="Shape 22"/>
          <p:cNvSpPr/>
          <p:nvPr/>
        </p:nvSpPr>
        <p:spPr>
          <a:xfrm>
            <a:off x="832104" y="5321808"/>
            <a:ext cx="10405872" cy="740664"/>
          </a:xfrm>
          <a:prstGeom prst="roundRect">
            <a:avLst/>
          </a:prstGeom>
          <a:solidFill>
            <a:srgbClr val="E8F4F3"/>
          </a:solidFill>
          <a:ln w="12700">
            <a:solidFill>
              <a:srgbClr val="FFFFFF">
                <a:alpha val="0"/>
              </a:srgbClr>
            </a:solidFill>
            <a:prstDash val="solid"/>
          </a:ln>
        </p:spPr>
      </p:sp>
      <p:sp>
        <p:nvSpPr>
          <p:cNvPr id="25" name="Shape 23"/>
          <p:cNvSpPr/>
          <p:nvPr/>
        </p:nvSpPr>
        <p:spPr>
          <a:xfrm>
            <a:off x="832104" y="5321808"/>
            <a:ext cx="73152" cy="740664"/>
          </a:xfrm>
          <a:prstGeom prst="rect">
            <a:avLst/>
          </a:prstGeom>
          <a:solidFill>
            <a:srgbClr val="168B91"/>
          </a:solidFill>
          <a:ln w="12700">
            <a:solidFill>
              <a:srgbClr val="FFFFFF">
                <a:alpha val="0"/>
              </a:srgbClr>
            </a:solidFill>
            <a:prstDash val="solid"/>
          </a:ln>
        </p:spPr>
      </p:sp>
      <p:sp>
        <p:nvSpPr>
          <p:cNvPr id="26" name="Text 24"/>
          <p:cNvSpPr/>
          <p:nvPr/>
        </p:nvSpPr>
        <p:spPr>
          <a:xfrm>
            <a:off x="1024128" y="5413248"/>
            <a:ext cx="10040112" cy="576072"/>
          </a:xfrm>
          <a:prstGeom prst="rect">
            <a:avLst/>
          </a:prstGeom>
          <a:noFill/>
          <a:ln/>
        </p:spPr>
        <p:txBody>
          <a:bodyPr wrap="square" lIns="0" tIns="0" rIns="0" bIns="0" rtlCol="0" anchor="ctr">
            <a:normAutofit/>
          </a:bodyPr>
          <a:lstStyle/>
          <a:p>
            <a:pPr algn="l" indent="0" marL="0">
              <a:buNone/>
            </a:pPr>
            <a:r>
              <a:rPr lang="en-US" sz="1610" b="1" dirty="0">
                <a:solidFill>
                  <a:srgbClr val="111E37"/>
                </a:solidFill>
                <a:latin typeface="Aptos" pitchFamily="34" charset="0"/>
                <a:ea typeface="Aptos" pitchFamily="34" charset="-122"/>
                <a:cs typeface="Aptos" pitchFamily="34" charset="-120"/>
              </a:rPr>
              <a:t>Lectura correcta: patrones multivariables que requieren revisión técnica y contraste posterior con incidencias verificadas.</a:t>
            </a:r>
            <a:endParaRPr lang="en-US" sz="16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Pronóstico MCS DL: la ganancia más consistente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Comparación de MAE; menor valor implica mejor pronóstico en cada horizonte.</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XVII; sección 4.3.4.</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24</a:t>
            </a:r>
            <a:endParaRPr lang="en-US" sz="1040" dirty="0"/>
          </a:p>
        </p:txBody>
      </p:sp>
      <p:sp>
        <p:nvSpPr>
          <p:cNvPr id="9" name="Text 7"/>
          <p:cNvSpPr/>
          <p:nvPr/>
        </p:nvSpPr>
        <p:spPr>
          <a:xfrm>
            <a:off x="758952" y="194767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5 min</a:t>
            </a:r>
            <a:endParaRPr lang="en-US" sz="1300" dirty="0"/>
          </a:p>
        </p:txBody>
      </p:sp>
      <p:sp>
        <p:nvSpPr>
          <p:cNvPr id="10" name="Shape 8"/>
          <p:cNvSpPr/>
          <p:nvPr/>
        </p:nvSpPr>
        <p:spPr>
          <a:xfrm>
            <a:off x="2359152" y="1911096"/>
            <a:ext cx="7799832" cy="192024"/>
          </a:xfrm>
          <a:prstGeom prst="rect">
            <a:avLst/>
          </a:prstGeom>
          <a:solidFill>
            <a:srgbClr val="E2EAF0"/>
          </a:solidFill>
          <a:ln w="12700">
            <a:solidFill>
              <a:srgbClr val="FFFFFF">
                <a:alpha val="0"/>
              </a:srgbClr>
            </a:solidFill>
            <a:prstDash val="solid"/>
          </a:ln>
        </p:spPr>
      </p:sp>
      <p:sp>
        <p:nvSpPr>
          <p:cNvPr id="11" name="Shape 9"/>
          <p:cNvSpPr/>
          <p:nvPr/>
        </p:nvSpPr>
        <p:spPr>
          <a:xfrm>
            <a:off x="2359152" y="1911096"/>
            <a:ext cx="7041820" cy="192024"/>
          </a:xfrm>
          <a:prstGeom prst="rect">
            <a:avLst/>
          </a:prstGeom>
          <a:solidFill>
            <a:srgbClr val="8792A4"/>
          </a:solidFill>
          <a:ln w="12700">
            <a:solidFill>
              <a:srgbClr val="FFFFFF">
                <a:alpha val="0"/>
              </a:srgbClr>
            </a:solidFill>
            <a:prstDash val="solid"/>
          </a:ln>
        </p:spPr>
      </p:sp>
      <p:sp>
        <p:nvSpPr>
          <p:cNvPr id="12" name="Text 10"/>
          <p:cNvSpPr/>
          <p:nvPr/>
        </p:nvSpPr>
        <p:spPr>
          <a:xfrm>
            <a:off x="10287000" y="190652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1.282</a:t>
            </a:r>
            <a:endParaRPr lang="en-US" sz="1180" dirty="0"/>
          </a:p>
        </p:txBody>
      </p:sp>
      <p:sp>
        <p:nvSpPr>
          <p:cNvPr id="13" name="Shape 11"/>
          <p:cNvSpPr/>
          <p:nvPr/>
        </p:nvSpPr>
        <p:spPr>
          <a:xfrm>
            <a:off x="2359152" y="2231136"/>
            <a:ext cx="7799832" cy="192024"/>
          </a:xfrm>
          <a:prstGeom prst="rect">
            <a:avLst/>
          </a:prstGeom>
          <a:solidFill>
            <a:srgbClr val="E2EAF0"/>
          </a:solidFill>
          <a:ln w="12700">
            <a:solidFill>
              <a:srgbClr val="FFFFFF">
                <a:alpha val="0"/>
              </a:srgbClr>
            </a:solidFill>
            <a:prstDash val="solid"/>
          </a:ln>
        </p:spPr>
      </p:sp>
      <p:sp>
        <p:nvSpPr>
          <p:cNvPr id="14" name="Shape 12"/>
          <p:cNvSpPr/>
          <p:nvPr/>
        </p:nvSpPr>
        <p:spPr>
          <a:xfrm>
            <a:off x="2359152" y="2231136"/>
            <a:ext cx="4789756" cy="192024"/>
          </a:xfrm>
          <a:prstGeom prst="rect">
            <a:avLst/>
          </a:prstGeom>
          <a:solidFill>
            <a:srgbClr val="168B91"/>
          </a:solidFill>
          <a:ln w="12700">
            <a:solidFill>
              <a:srgbClr val="FFFFFF">
                <a:alpha val="0"/>
              </a:srgbClr>
            </a:solidFill>
            <a:prstDash val="solid"/>
          </a:ln>
        </p:spPr>
      </p:sp>
      <p:sp>
        <p:nvSpPr>
          <p:cNvPr id="15" name="Text 13"/>
          <p:cNvSpPr/>
          <p:nvPr/>
        </p:nvSpPr>
        <p:spPr>
          <a:xfrm>
            <a:off x="10287000" y="222656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0.872</a:t>
            </a:r>
            <a:endParaRPr lang="en-US" sz="1180" dirty="0"/>
          </a:p>
        </p:txBody>
      </p:sp>
      <p:sp>
        <p:nvSpPr>
          <p:cNvPr id="16" name="Text 14"/>
          <p:cNvSpPr/>
          <p:nvPr/>
        </p:nvSpPr>
        <p:spPr>
          <a:xfrm>
            <a:off x="758952" y="280111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15 min</a:t>
            </a:r>
            <a:endParaRPr lang="en-US" sz="1300" dirty="0"/>
          </a:p>
        </p:txBody>
      </p:sp>
      <p:sp>
        <p:nvSpPr>
          <p:cNvPr id="17" name="Shape 15"/>
          <p:cNvSpPr/>
          <p:nvPr/>
        </p:nvSpPr>
        <p:spPr>
          <a:xfrm>
            <a:off x="2359152" y="2764536"/>
            <a:ext cx="7799832" cy="192024"/>
          </a:xfrm>
          <a:prstGeom prst="rect">
            <a:avLst/>
          </a:prstGeom>
          <a:solidFill>
            <a:srgbClr val="E2EAF0"/>
          </a:solidFill>
          <a:ln w="12700">
            <a:solidFill>
              <a:srgbClr val="FFFFFF">
                <a:alpha val="0"/>
              </a:srgbClr>
            </a:solidFill>
            <a:prstDash val="solid"/>
          </a:ln>
        </p:spPr>
      </p:sp>
      <p:sp>
        <p:nvSpPr>
          <p:cNvPr id="18" name="Shape 16"/>
          <p:cNvSpPr/>
          <p:nvPr/>
        </p:nvSpPr>
        <p:spPr>
          <a:xfrm>
            <a:off x="2359152" y="2764536"/>
            <a:ext cx="7036327" cy="192024"/>
          </a:xfrm>
          <a:prstGeom prst="rect">
            <a:avLst/>
          </a:prstGeom>
          <a:solidFill>
            <a:srgbClr val="8792A4"/>
          </a:solidFill>
          <a:ln w="12700">
            <a:solidFill>
              <a:srgbClr val="FFFFFF">
                <a:alpha val="0"/>
              </a:srgbClr>
            </a:solidFill>
            <a:prstDash val="solid"/>
          </a:ln>
        </p:spPr>
      </p:sp>
      <p:sp>
        <p:nvSpPr>
          <p:cNvPr id="19" name="Text 17"/>
          <p:cNvSpPr/>
          <p:nvPr/>
        </p:nvSpPr>
        <p:spPr>
          <a:xfrm>
            <a:off x="10287000" y="275996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1.281</a:t>
            </a:r>
            <a:endParaRPr lang="en-US" sz="1180" dirty="0"/>
          </a:p>
        </p:txBody>
      </p:sp>
      <p:sp>
        <p:nvSpPr>
          <p:cNvPr id="20" name="Shape 18"/>
          <p:cNvSpPr/>
          <p:nvPr/>
        </p:nvSpPr>
        <p:spPr>
          <a:xfrm>
            <a:off x="2359152" y="3084576"/>
            <a:ext cx="7799832" cy="192024"/>
          </a:xfrm>
          <a:prstGeom prst="rect">
            <a:avLst/>
          </a:prstGeom>
          <a:solidFill>
            <a:srgbClr val="E2EAF0"/>
          </a:solidFill>
          <a:ln w="12700">
            <a:solidFill>
              <a:srgbClr val="FFFFFF">
                <a:alpha val="0"/>
              </a:srgbClr>
            </a:solidFill>
            <a:prstDash val="solid"/>
          </a:ln>
        </p:spPr>
      </p:sp>
      <p:sp>
        <p:nvSpPr>
          <p:cNvPr id="21" name="Shape 19"/>
          <p:cNvSpPr/>
          <p:nvPr/>
        </p:nvSpPr>
        <p:spPr>
          <a:xfrm>
            <a:off x="2359152" y="3084576"/>
            <a:ext cx="4773277" cy="192024"/>
          </a:xfrm>
          <a:prstGeom prst="rect">
            <a:avLst/>
          </a:prstGeom>
          <a:solidFill>
            <a:srgbClr val="168B91"/>
          </a:solidFill>
          <a:ln w="12700">
            <a:solidFill>
              <a:srgbClr val="FFFFFF">
                <a:alpha val="0"/>
              </a:srgbClr>
            </a:solidFill>
            <a:prstDash val="solid"/>
          </a:ln>
        </p:spPr>
      </p:sp>
      <p:sp>
        <p:nvSpPr>
          <p:cNvPr id="22" name="Text 20"/>
          <p:cNvSpPr/>
          <p:nvPr/>
        </p:nvSpPr>
        <p:spPr>
          <a:xfrm>
            <a:off x="10287000" y="308000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0.869</a:t>
            </a:r>
            <a:endParaRPr lang="en-US" sz="1180" dirty="0"/>
          </a:p>
        </p:txBody>
      </p:sp>
      <p:sp>
        <p:nvSpPr>
          <p:cNvPr id="23" name="Text 21"/>
          <p:cNvSpPr/>
          <p:nvPr/>
        </p:nvSpPr>
        <p:spPr>
          <a:xfrm>
            <a:off x="758952" y="365455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30 min</a:t>
            </a:r>
            <a:endParaRPr lang="en-US" sz="1300" dirty="0"/>
          </a:p>
        </p:txBody>
      </p:sp>
      <p:sp>
        <p:nvSpPr>
          <p:cNvPr id="24" name="Shape 22"/>
          <p:cNvSpPr/>
          <p:nvPr/>
        </p:nvSpPr>
        <p:spPr>
          <a:xfrm>
            <a:off x="2359152" y="3617976"/>
            <a:ext cx="7799832" cy="192024"/>
          </a:xfrm>
          <a:prstGeom prst="rect">
            <a:avLst/>
          </a:prstGeom>
          <a:solidFill>
            <a:srgbClr val="E2EAF0"/>
          </a:solidFill>
          <a:ln w="12700">
            <a:solidFill>
              <a:srgbClr val="FFFFFF">
                <a:alpha val="0"/>
              </a:srgbClr>
            </a:solidFill>
            <a:prstDash val="solid"/>
          </a:ln>
        </p:spPr>
      </p:sp>
      <p:sp>
        <p:nvSpPr>
          <p:cNvPr id="25" name="Shape 23"/>
          <p:cNvSpPr/>
          <p:nvPr/>
        </p:nvSpPr>
        <p:spPr>
          <a:xfrm>
            <a:off x="2359152" y="3617976"/>
            <a:ext cx="7113227" cy="192024"/>
          </a:xfrm>
          <a:prstGeom prst="rect">
            <a:avLst/>
          </a:prstGeom>
          <a:solidFill>
            <a:srgbClr val="8792A4"/>
          </a:solidFill>
          <a:ln w="12700">
            <a:solidFill>
              <a:srgbClr val="FFFFFF">
                <a:alpha val="0"/>
              </a:srgbClr>
            </a:solidFill>
            <a:prstDash val="solid"/>
          </a:ln>
        </p:spPr>
      </p:sp>
      <p:sp>
        <p:nvSpPr>
          <p:cNvPr id="26" name="Text 24"/>
          <p:cNvSpPr/>
          <p:nvPr/>
        </p:nvSpPr>
        <p:spPr>
          <a:xfrm>
            <a:off x="10287000" y="361340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1.295</a:t>
            </a:r>
            <a:endParaRPr lang="en-US" sz="1180" dirty="0"/>
          </a:p>
        </p:txBody>
      </p:sp>
      <p:sp>
        <p:nvSpPr>
          <p:cNvPr id="27" name="Shape 25"/>
          <p:cNvSpPr/>
          <p:nvPr/>
        </p:nvSpPr>
        <p:spPr>
          <a:xfrm>
            <a:off x="2359152" y="3938016"/>
            <a:ext cx="7799832" cy="192024"/>
          </a:xfrm>
          <a:prstGeom prst="rect">
            <a:avLst/>
          </a:prstGeom>
          <a:solidFill>
            <a:srgbClr val="E2EAF0"/>
          </a:solidFill>
          <a:ln w="12700">
            <a:solidFill>
              <a:srgbClr val="FFFFFF">
                <a:alpha val="0"/>
              </a:srgbClr>
            </a:solidFill>
            <a:prstDash val="solid"/>
          </a:ln>
        </p:spPr>
      </p:sp>
      <p:sp>
        <p:nvSpPr>
          <p:cNvPr id="28" name="Shape 26"/>
          <p:cNvSpPr/>
          <p:nvPr/>
        </p:nvSpPr>
        <p:spPr>
          <a:xfrm>
            <a:off x="2359152" y="3938016"/>
            <a:ext cx="4800742" cy="192024"/>
          </a:xfrm>
          <a:prstGeom prst="rect">
            <a:avLst/>
          </a:prstGeom>
          <a:solidFill>
            <a:srgbClr val="168B91"/>
          </a:solidFill>
          <a:ln w="12700">
            <a:solidFill>
              <a:srgbClr val="FFFFFF">
                <a:alpha val="0"/>
              </a:srgbClr>
            </a:solidFill>
            <a:prstDash val="solid"/>
          </a:ln>
        </p:spPr>
      </p:sp>
      <p:sp>
        <p:nvSpPr>
          <p:cNvPr id="29" name="Text 27"/>
          <p:cNvSpPr/>
          <p:nvPr/>
        </p:nvSpPr>
        <p:spPr>
          <a:xfrm>
            <a:off x="10287000" y="393344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0.874</a:t>
            </a:r>
            <a:endParaRPr lang="en-US" sz="1180" dirty="0"/>
          </a:p>
        </p:txBody>
      </p:sp>
      <p:sp>
        <p:nvSpPr>
          <p:cNvPr id="30" name="Shape 28"/>
          <p:cNvSpPr/>
          <p:nvPr/>
        </p:nvSpPr>
        <p:spPr>
          <a:xfrm>
            <a:off x="758952" y="4544568"/>
            <a:ext cx="155448" cy="155448"/>
          </a:xfrm>
          <a:prstGeom prst="rect">
            <a:avLst/>
          </a:prstGeom>
          <a:solidFill>
            <a:srgbClr val="8792A4"/>
          </a:solidFill>
          <a:ln w="12700">
            <a:solidFill>
              <a:srgbClr val="FFFFFF">
                <a:alpha val="0"/>
              </a:srgbClr>
            </a:solidFill>
            <a:prstDash val="solid"/>
          </a:ln>
        </p:spPr>
      </p:sp>
      <p:sp>
        <p:nvSpPr>
          <p:cNvPr id="31" name="Text 29"/>
          <p:cNvSpPr/>
          <p:nvPr/>
        </p:nvSpPr>
        <p:spPr>
          <a:xfrm>
            <a:off x="969264" y="4462272"/>
            <a:ext cx="1828800" cy="310896"/>
          </a:xfrm>
          <a:prstGeom prst="rect">
            <a:avLst/>
          </a:prstGeom>
          <a:noFill/>
          <a:ln/>
        </p:spPr>
        <p:txBody>
          <a:bodyPr wrap="square" lIns="0" tIns="0" rIns="0" bIns="0" rtlCol="0" anchor="ctr">
            <a:normAutofit/>
          </a:bodyPr>
          <a:lstStyle/>
          <a:p>
            <a:pPr algn="l" indent="0" marL="0">
              <a:buNone/>
            </a:pPr>
            <a:r>
              <a:rPr lang="en-US" sz="1070" dirty="0">
                <a:solidFill>
                  <a:srgbClr val="64748B"/>
                </a:solidFill>
                <a:latin typeface="Aptos" pitchFamily="34" charset="0"/>
                <a:ea typeface="Aptos" pitchFamily="34" charset="-122"/>
                <a:cs typeface="Aptos" pitchFamily="34" charset="-120"/>
              </a:rPr>
              <a:t>Persistencia</a:t>
            </a:r>
            <a:endParaRPr lang="en-US" sz="1070" dirty="0"/>
          </a:p>
        </p:txBody>
      </p:sp>
      <p:sp>
        <p:nvSpPr>
          <p:cNvPr id="32" name="Shape 30"/>
          <p:cNvSpPr/>
          <p:nvPr/>
        </p:nvSpPr>
        <p:spPr>
          <a:xfrm>
            <a:off x="2770632" y="4544568"/>
            <a:ext cx="155448" cy="155448"/>
          </a:xfrm>
          <a:prstGeom prst="rect">
            <a:avLst/>
          </a:prstGeom>
          <a:solidFill>
            <a:srgbClr val="168B91"/>
          </a:solidFill>
          <a:ln w="12700">
            <a:solidFill>
              <a:srgbClr val="FFFFFF">
                <a:alpha val="0"/>
              </a:srgbClr>
            </a:solidFill>
            <a:prstDash val="solid"/>
          </a:ln>
        </p:spPr>
      </p:sp>
      <p:sp>
        <p:nvSpPr>
          <p:cNvPr id="33" name="Text 31"/>
          <p:cNvSpPr/>
          <p:nvPr/>
        </p:nvSpPr>
        <p:spPr>
          <a:xfrm>
            <a:off x="2980944" y="4462272"/>
            <a:ext cx="1828800" cy="310896"/>
          </a:xfrm>
          <a:prstGeom prst="rect">
            <a:avLst/>
          </a:prstGeom>
          <a:noFill/>
          <a:ln/>
        </p:spPr>
        <p:txBody>
          <a:bodyPr wrap="square" lIns="0" tIns="0" rIns="0" bIns="0" rtlCol="0" anchor="ctr">
            <a:normAutofit/>
          </a:bodyPr>
          <a:lstStyle/>
          <a:p>
            <a:pPr algn="l" indent="0" marL="0">
              <a:buNone/>
            </a:pPr>
            <a:r>
              <a:rPr lang="en-US" sz="1070" dirty="0">
                <a:solidFill>
                  <a:srgbClr val="64748B"/>
                </a:solidFill>
                <a:latin typeface="Aptos" pitchFamily="34" charset="0"/>
                <a:ea typeface="Aptos" pitchFamily="34" charset="-122"/>
                <a:cs typeface="Aptos" pitchFamily="34" charset="-120"/>
              </a:rPr>
              <a:t>Ridge</a:t>
            </a:r>
            <a:endParaRPr lang="en-US" sz="1070" dirty="0"/>
          </a:p>
        </p:txBody>
      </p:sp>
      <p:sp>
        <p:nvSpPr>
          <p:cNvPr id="34" name="Shape 32"/>
          <p:cNvSpPr/>
          <p:nvPr/>
        </p:nvSpPr>
        <p:spPr>
          <a:xfrm>
            <a:off x="804672" y="4882896"/>
            <a:ext cx="10488168" cy="704088"/>
          </a:xfrm>
          <a:prstGeom prst="roundRect">
            <a:avLst/>
          </a:prstGeom>
          <a:solidFill>
            <a:srgbClr val="E8F4F3"/>
          </a:solidFill>
          <a:ln w="12700">
            <a:solidFill>
              <a:srgbClr val="FFFFFF">
                <a:alpha val="0"/>
              </a:srgbClr>
            </a:solidFill>
            <a:prstDash val="solid"/>
          </a:ln>
        </p:spPr>
      </p:sp>
      <p:sp>
        <p:nvSpPr>
          <p:cNvPr id="35" name="Text 33"/>
          <p:cNvSpPr/>
          <p:nvPr/>
        </p:nvSpPr>
        <p:spPr>
          <a:xfrm>
            <a:off x="1005840" y="5038344"/>
            <a:ext cx="4709160" cy="347472"/>
          </a:xfrm>
          <a:prstGeom prst="rect">
            <a:avLst/>
          </a:prstGeom>
          <a:noFill/>
          <a:ln/>
        </p:spPr>
        <p:txBody>
          <a:bodyPr wrap="square" lIns="0" tIns="0" rIns="0" bIns="0" rtlCol="0" anchor="ctr">
            <a:normAutofit/>
          </a:bodyPr>
          <a:lstStyle/>
          <a:p>
            <a:pPr algn="l" indent="0" marL="0">
              <a:buNone/>
            </a:pPr>
            <a:r>
              <a:rPr lang="en-US" sz="1700" b="1" dirty="0">
                <a:solidFill>
                  <a:srgbClr val="111E37"/>
                </a:solidFill>
                <a:latin typeface="Aptos" pitchFamily="34" charset="0"/>
                <a:ea typeface="Aptos" pitchFamily="34" charset="-122"/>
                <a:cs typeface="Aptos" pitchFamily="34" charset="-120"/>
              </a:rPr>
              <a:t>Mejora MAE frente a persistencia:</a:t>
            </a:r>
            <a:endParaRPr lang="en-US" sz="1700" dirty="0"/>
          </a:p>
        </p:txBody>
      </p:sp>
      <p:sp>
        <p:nvSpPr>
          <p:cNvPr id="36" name="Text 34"/>
          <p:cNvSpPr/>
          <p:nvPr/>
        </p:nvSpPr>
        <p:spPr>
          <a:xfrm>
            <a:off x="5879592" y="5038344"/>
            <a:ext cx="5166360" cy="338328"/>
          </a:xfrm>
          <a:prstGeom prst="rect">
            <a:avLst/>
          </a:prstGeom>
          <a:noFill/>
          <a:ln/>
        </p:spPr>
        <p:txBody>
          <a:bodyPr wrap="square" lIns="0" tIns="0" rIns="0" bIns="0" rtlCol="0" anchor="ctr">
            <a:normAutofit/>
          </a:bodyPr>
          <a:lstStyle/>
          <a:p>
            <a:pPr algn="l" indent="0" marL="0">
              <a:buNone/>
            </a:pPr>
            <a:r>
              <a:rPr lang="en-US" sz="1800" b="1" dirty="0">
                <a:solidFill>
                  <a:srgbClr val="168B91"/>
                </a:solidFill>
                <a:latin typeface="Aptos" pitchFamily="34" charset="0"/>
                <a:ea typeface="Aptos" pitchFamily="34" charset="-122"/>
                <a:cs typeface="Aptos" pitchFamily="34" charset="-120"/>
              </a:rPr>
              <a:t>31,95 %   ·   32,10 %   ·   32,56 %</a:t>
            </a:r>
            <a:endParaRPr lang="en-US" sz="1800" dirty="0"/>
          </a:p>
        </p:txBody>
      </p:sp>
      <p:sp>
        <p:nvSpPr>
          <p:cNvPr id="37" name="Text 35"/>
          <p:cNvSpPr/>
          <p:nvPr/>
        </p:nvSpPr>
        <p:spPr>
          <a:xfrm>
            <a:off x="813816" y="5742432"/>
            <a:ext cx="10460736" cy="274320"/>
          </a:xfrm>
          <a:prstGeom prst="rect">
            <a:avLst/>
          </a:prstGeom>
          <a:noFill/>
          <a:ln/>
        </p:spPr>
        <p:txBody>
          <a:bodyPr wrap="square" lIns="0" tIns="0" rIns="0" bIns="0" rtlCol="0" anchor="ctr">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Bootstrap por bloques: mejoras de MAE y RMSE respaldadas al 95 % en los tres horizontes.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Pronóstico de tasa DL: mejora útil en capacidad negociada</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El indicador proviene de la tasa física reportada por el radio; no representa throughput TCP.</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XVIII; sección 4.3.4.</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25</a:t>
            </a:r>
            <a:endParaRPr lang="en-US" sz="1040" dirty="0"/>
          </a:p>
        </p:txBody>
      </p:sp>
      <p:sp>
        <p:nvSpPr>
          <p:cNvPr id="9" name="Text 7"/>
          <p:cNvSpPr/>
          <p:nvPr/>
        </p:nvSpPr>
        <p:spPr>
          <a:xfrm>
            <a:off x="758952" y="194767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5 min</a:t>
            </a:r>
            <a:endParaRPr lang="en-US" sz="1300" dirty="0"/>
          </a:p>
        </p:txBody>
      </p:sp>
      <p:sp>
        <p:nvSpPr>
          <p:cNvPr id="10" name="Shape 8"/>
          <p:cNvSpPr/>
          <p:nvPr/>
        </p:nvSpPr>
        <p:spPr>
          <a:xfrm>
            <a:off x="2359152" y="1911096"/>
            <a:ext cx="7799832" cy="192024"/>
          </a:xfrm>
          <a:prstGeom prst="rect">
            <a:avLst/>
          </a:prstGeom>
          <a:solidFill>
            <a:srgbClr val="E2EAF0"/>
          </a:solidFill>
          <a:ln w="12700">
            <a:solidFill>
              <a:srgbClr val="FFFFFF">
                <a:alpha val="0"/>
              </a:srgbClr>
            </a:solidFill>
            <a:prstDash val="solid"/>
          </a:ln>
        </p:spPr>
      </p:sp>
      <p:sp>
        <p:nvSpPr>
          <p:cNvPr id="11" name="Shape 9"/>
          <p:cNvSpPr/>
          <p:nvPr/>
        </p:nvSpPr>
        <p:spPr>
          <a:xfrm>
            <a:off x="2359152" y="1911096"/>
            <a:ext cx="6833853" cy="192024"/>
          </a:xfrm>
          <a:prstGeom prst="rect">
            <a:avLst/>
          </a:prstGeom>
          <a:solidFill>
            <a:srgbClr val="8792A4"/>
          </a:solidFill>
          <a:ln w="12700">
            <a:solidFill>
              <a:srgbClr val="FFFFFF">
                <a:alpha val="0"/>
              </a:srgbClr>
            </a:solidFill>
            <a:prstDash val="solid"/>
          </a:ln>
        </p:spPr>
      </p:sp>
      <p:sp>
        <p:nvSpPr>
          <p:cNvPr id="12" name="Text 10"/>
          <p:cNvSpPr/>
          <p:nvPr/>
        </p:nvSpPr>
        <p:spPr>
          <a:xfrm>
            <a:off x="10287000" y="190652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22.78 Mbps</a:t>
            </a:r>
            <a:endParaRPr lang="en-US" sz="1180" dirty="0"/>
          </a:p>
        </p:txBody>
      </p:sp>
      <p:sp>
        <p:nvSpPr>
          <p:cNvPr id="13" name="Shape 11"/>
          <p:cNvSpPr/>
          <p:nvPr/>
        </p:nvSpPr>
        <p:spPr>
          <a:xfrm>
            <a:off x="2359152" y="2231136"/>
            <a:ext cx="7799832" cy="192024"/>
          </a:xfrm>
          <a:prstGeom prst="rect">
            <a:avLst/>
          </a:prstGeom>
          <a:solidFill>
            <a:srgbClr val="E2EAF0"/>
          </a:solidFill>
          <a:ln w="12700">
            <a:solidFill>
              <a:srgbClr val="FFFFFF">
                <a:alpha val="0"/>
              </a:srgbClr>
            </a:solidFill>
            <a:prstDash val="solid"/>
          </a:ln>
        </p:spPr>
      </p:sp>
      <p:sp>
        <p:nvSpPr>
          <p:cNvPr id="14" name="Shape 12"/>
          <p:cNvSpPr/>
          <p:nvPr/>
        </p:nvSpPr>
        <p:spPr>
          <a:xfrm>
            <a:off x="2359152" y="2231136"/>
            <a:ext cx="5501881" cy="192024"/>
          </a:xfrm>
          <a:prstGeom prst="rect">
            <a:avLst/>
          </a:prstGeom>
          <a:solidFill>
            <a:srgbClr val="168B91"/>
          </a:solidFill>
          <a:ln w="12700">
            <a:solidFill>
              <a:srgbClr val="FFFFFF">
                <a:alpha val="0"/>
              </a:srgbClr>
            </a:solidFill>
            <a:prstDash val="solid"/>
          </a:ln>
        </p:spPr>
      </p:sp>
      <p:sp>
        <p:nvSpPr>
          <p:cNvPr id="15" name="Text 13"/>
          <p:cNvSpPr/>
          <p:nvPr/>
        </p:nvSpPr>
        <p:spPr>
          <a:xfrm>
            <a:off x="10287000" y="222656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18.34 Mbps</a:t>
            </a:r>
            <a:endParaRPr lang="en-US" sz="1180" dirty="0"/>
          </a:p>
        </p:txBody>
      </p:sp>
      <p:sp>
        <p:nvSpPr>
          <p:cNvPr id="16" name="Text 14"/>
          <p:cNvSpPr/>
          <p:nvPr/>
        </p:nvSpPr>
        <p:spPr>
          <a:xfrm>
            <a:off x="758952" y="280111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15 min</a:t>
            </a:r>
            <a:endParaRPr lang="en-US" sz="1300" dirty="0"/>
          </a:p>
        </p:txBody>
      </p:sp>
      <p:sp>
        <p:nvSpPr>
          <p:cNvPr id="17" name="Shape 15"/>
          <p:cNvSpPr/>
          <p:nvPr/>
        </p:nvSpPr>
        <p:spPr>
          <a:xfrm>
            <a:off x="2359152" y="2764536"/>
            <a:ext cx="7799832" cy="192024"/>
          </a:xfrm>
          <a:prstGeom prst="rect">
            <a:avLst/>
          </a:prstGeom>
          <a:solidFill>
            <a:srgbClr val="E2EAF0"/>
          </a:solidFill>
          <a:ln w="12700">
            <a:solidFill>
              <a:srgbClr val="FFFFFF">
                <a:alpha val="0"/>
              </a:srgbClr>
            </a:solidFill>
            <a:prstDash val="solid"/>
          </a:ln>
        </p:spPr>
      </p:sp>
      <p:sp>
        <p:nvSpPr>
          <p:cNvPr id="18" name="Shape 16"/>
          <p:cNvSpPr/>
          <p:nvPr/>
        </p:nvSpPr>
        <p:spPr>
          <a:xfrm>
            <a:off x="2359152" y="2764536"/>
            <a:ext cx="6767854" cy="192024"/>
          </a:xfrm>
          <a:prstGeom prst="rect">
            <a:avLst/>
          </a:prstGeom>
          <a:solidFill>
            <a:srgbClr val="8792A4"/>
          </a:solidFill>
          <a:ln w="12700">
            <a:solidFill>
              <a:srgbClr val="FFFFFF">
                <a:alpha val="0"/>
              </a:srgbClr>
            </a:solidFill>
            <a:prstDash val="solid"/>
          </a:ln>
        </p:spPr>
      </p:sp>
      <p:sp>
        <p:nvSpPr>
          <p:cNvPr id="19" name="Text 17"/>
          <p:cNvSpPr/>
          <p:nvPr/>
        </p:nvSpPr>
        <p:spPr>
          <a:xfrm>
            <a:off x="10287000" y="275996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22.56 Mbps</a:t>
            </a:r>
            <a:endParaRPr lang="en-US" sz="1180" dirty="0"/>
          </a:p>
        </p:txBody>
      </p:sp>
      <p:sp>
        <p:nvSpPr>
          <p:cNvPr id="20" name="Shape 18"/>
          <p:cNvSpPr/>
          <p:nvPr/>
        </p:nvSpPr>
        <p:spPr>
          <a:xfrm>
            <a:off x="2359152" y="3084576"/>
            <a:ext cx="7799832" cy="192024"/>
          </a:xfrm>
          <a:prstGeom prst="rect">
            <a:avLst/>
          </a:prstGeom>
          <a:solidFill>
            <a:srgbClr val="E2EAF0"/>
          </a:solidFill>
          <a:ln w="12700">
            <a:solidFill>
              <a:srgbClr val="FFFFFF">
                <a:alpha val="0"/>
              </a:srgbClr>
            </a:solidFill>
            <a:prstDash val="solid"/>
          </a:ln>
        </p:spPr>
      </p:sp>
      <p:sp>
        <p:nvSpPr>
          <p:cNvPr id="21" name="Shape 19"/>
          <p:cNvSpPr/>
          <p:nvPr/>
        </p:nvSpPr>
        <p:spPr>
          <a:xfrm>
            <a:off x="2359152" y="3084576"/>
            <a:ext cx="5693877" cy="192024"/>
          </a:xfrm>
          <a:prstGeom prst="rect">
            <a:avLst/>
          </a:prstGeom>
          <a:solidFill>
            <a:srgbClr val="168B91"/>
          </a:solidFill>
          <a:ln w="12700">
            <a:solidFill>
              <a:srgbClr val="FFFFFF">
                <a:alpha val="0"/>
              </a:srgbClr>
            </a:solidFill>
            <a:prstDash val="solid"/>
          </a:ln>
        </p:spPr>
      </p:sp>
      <p:sp>
        <p:nvSpPr>
          <p:cNvPr id="22" name="Text 20"/>
          <p:cNvSpPr/>
          <p:nvPr/>
        </p:nvSpPr>
        <p:spPr>
          <a:xfrm>
            <a:off x="10287000" y="308000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18.98 Mbps</a:t>
            </a:r>
            <a:endParaRPr lang="en-US" sz="1180" dirty="0"/>
          </a:p>
        </p:txBody>
      </p:sp>
      <p:sp>
        <p:nvSpPr>
          <p:cNvPr id="23" name="Text 21"/>
          <p:cNvSpPr/>
          <p:nvPr/>
        </p:nvSpPr>
        <p:spPr>
          <a:xfrm>
            <a:off x="758952" y="3654552"/>
            <a:ext cx="1508760" cy="320040"/>
          </a:xfrm>
          <a:prstGeom prst="rect">
            <a:avLst/>
          </a:prstGeom>
          <a:noFill/>
          <a:ln/>
        </p:spPr>
        <p:txBody>
          <a:bodyPr wrap="square" lIns="0" tIns="0" rIns="0" bIns="0" rtlCol="0" anchor="ctr">
            <a:normAutofit/>
          </a:bodyPr>
          <a:lstStyle/>
          <a:p>
            <a:pPr algn="l" indent="0" marL="0">
              <a:buNone/>
            </a:pPr>
            <a:r>
              <a:rPr lang="en-US" sz="1300" b="1" dirty="0">
                <a:solidFill>
                  <a:srgbClr val="111E37"/>
                </a:solidFill>
                <a:latin typeface="Aptos" pitchFamily="34" charset="0"/>
                <a:ea typeface="Aptos" pitchFamily="34" charset="-122"/>
                <a:cs typeface="Aptos" pitchFamily="34" charset="-120"/>
              </a:rPr>
              <a:t>30 min</a:t>
            </a:r>
            <a:endParaRPr lang="en-US" sz="1300" dirty="0"/>
          </a:p>
        </p:txBody>
      </p:sp>
      <p:sp>
        <p:nvSpPr>
          <p:cNvPr id="24" name="Shape 22"/>
          <p:cNvSpPr/>
          <p:nvPr/>
        </p:nvSpPr>
        <p:spPr>
          <a:xfrm>
            <a:off x="2359152" y="3617976"/>
            <a:ext cx="7799832" cy="192024"/>
          </a:xfrm>
          <a:prstGeom prst="rect">
            <a:avLst/>
          </a:prstGeom>
          <a:solidFill>
            <a:srgbClr val="E2EAF0"/>
          </a:solidFill>
          <a:ln w="12700">
            <a:solidFill>
              <a:srgbClr val="FFFFFF">
                <a:alpha val="0"/>
              </a:srgbClr>
            </a:solidFill>
            <a:prstDash val="solid"/>
          </a:ln>
        </p:spPr>
      </p:sp>
      <p:sp>
        <p:nvSpPr>
          <p:cNvPr id="25" name="Shape 23"/>
          <p:cNvSpPr/>
          <p:nvPr/>
        </p:nvSpPr>
        <p:spPr>
          <a:xfrm>
            <a:off x="2359152" y="3617976"/>
            <a:ext cx="6935851" cy="192024"/>
          </a:xfrm>
          <a:prstGeom prst="rect">
            <a:avLst/>
          </a:prstGeom>
          <a:solidFill>
            <a:srgbClr val="8792A4"/>
          </a:solidFill>
          <a:ln w="12700">
            <a:solidFill>
              <a:srgbClr val="FFFFFF">
                <a:alpha val="0"/>
              </a:srgbClr>
            </a:solidFill>
            <a:prstDash val="solid"/>
          </a:ln>
        </p:spPr>
      </p:sp>
      <p:sp>
        <p:nvSpPr>
          <p:cNvPr id="26" name="Text 24"/>
          <p:cNvSpPr/>
          <p:nvPr/>
        </p:nvSpPr>
        <p:spPr>
          <a:xfrm>
            <a:off x="10287000" y="361340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23.12 Mbps</a:t>
            </a:r>
            <a:endParaRPr lang="en-US" sz="1180" dirty="0"/>
          </a:p>
        </p:txBody>
      </p:sp>
      <p:sp>
        <p:nvSpPr>
          <p:cNvPr id="27" name="Shape 25"/>
          <p:cNvSpPr/>
          <p:nvPr/>
        </p:nvSpPr>
        <p:spPr>
          <a:xfrm>
            <a:off x="2359152" y="3938016"/>
            <a:ext cx="7799832" cy="192024"/>
          </a:xfrm>
          <a:prstGeom prst="rect">
            <a:avLst/>
          </a:prstGeom>
          <a:solidFill>
            <a:srgbClr val="E2EAF0"/>
          </a:solidFill>
          <a:ln w="12700">
            <a:solidFill>
              <a:srgbClr val="FFFFFF">
                <a:alpha val="0"/>
              </a:srgbClr>
            </a:solidFill>
            <a:prstDash val="solid"/>
          </a:ln>
        </p:spPr>
      </p:sp>
      <p:sp>
        <p:nvSpPr>
          <p:cNvPr id="28" name="Shape 26"/>
          <p:cNvSpPr/>
          <p:nvPr/>
        </p:nvSpPr>
        <p:spPr>
          <a:xfrm>
            <a:off x="2359152" y="3938016"/>
            <a:ext cx="5897873" cy="192024"/>
          </a:xfrm>
          <a:prstGeom prst="rect">
            <a:avLst/>
          </a:prstGeom>
          <a:solidFill>
            <a:srgbClr val="168B91"/>
          </a:solidFill>
          <a:ln w="12700">
            <a:solidFill>
              <a:srgbClr val="FFFFFF">
                <a:alpha val="0"/>
              </a:srgbClr>
            </a:solidFill>
            <a:prstDash val="solid"/>
          </a:ln>
        </p:spPr>
      </p:sp>
      <p:sp>
        <p:nvSpPr>
          <p:cNvPr id="29" name="Text 27"/>
          <p:cNvSpPr/>
          <p:nvPr/>
        </p:nvSpPr>
        <p:spPr>
          <a:xfrm>
            <a:off x="10287000" y="3933444"/>
            <a:ext cx="896112" cy="210312"/>
          </a:xfrm>
          <a:prstGeom prst="rect">
            <a:avLst/>
          </a:prstGeom>
          <a:noFill/>
          <a:ln/>
        </p:spPr>
        <p:txBody>
          <a:bodyPr wrap="square" lIns="0" tIns="0" rIns="0" bIns="0" rtlCol="0" anchor="ctr">
            <a:normAutofit/>
          </a:bodyPr>
          <a:lstStyle/>
          <a:p>
            <a:pPr algn="r" indent="0" marL="0">
              <a:buNone/>
            </a:pPr>
            <a:r>
              <a:rPr lang="en-US" sz="1180" b="1" dirty="0">
                <a:solidFill>
                  <a:srgbClr val="202B3C"/>
                </a:solidFill>
                <a:latin typeface="Aptos" pitchFamily="34" charset="0"/>
                <a:ea typeface="Aptos" pitchFamily="34" charset="-122"/>
                <a:cs typeface="Aptos" pitchFamily="34" charset="-120"/>
              </a:rPr>
              <a:t>19.66 Mbps</a:t>
            </a:r>
            <a:endParaRPr lang="en-US" sz="1180" dirty="0"/>
          </a:p>
        </p:txBody>
      </p:sp>
      <p:sp>
        <p:nvSpPr>
          <p:cNvPr id="30" name="Shape 28"/>
          <p:cNvSpPr/>
          <p:nvPr/>
        </p:nvSpPr>
        <p:spPr>
          <a:xfrm>
            <a:off x="758952" y="4544568"/>
            <a:ext cx="155448" cy="155448"/>
          </a:xfrm>
          <a:prstGeom prst="rect">
            <a:avLst/>
          </a:prstGeom>
          <a:solidFill>
            <a:srgbClr val="8792A4"/>
          </a:solidFill>
          <a:ln w="12700">
            <a:solidFill>
              <a:srgbClr val="FFFFFF">
                <a:alpha val="0"/>
              </a:srgbClr>
            </a:solidFill>
            <a:prstDash val="solid"/>
          </a:ln>
        </p:spPr>
      </p:sp>
      <p:sp>
        <p:nvSpPr>
          <p:cNvPr id="31" name="Text 29"/>
          <p:cNvSpPr/>
          <p:nvPr/>
        </p:nvSpPr>
        <p:spPr>
          <a:xfrm>
            <a:off x="969264" y="4462272"/>
            <a:ext cx="1828800" cy="310896"/>
          </a:xfrm>
          <a:prstGeom prst="rect">
            <a:avLst/>
          </a:prstGeom>
          <a:noFill/>
          <a:ln/>
        </p:spPr>
        <p:txBody>
          <a:bodyPr wrap="square" lIns="0" tIns="0" rIns="0" bIns="0" rtlCol="0" anchor="ctr">
            <a:normAutofit/>
          </a:bodyPr>
          <a:lstStyle/>
          <a:p>
            <a:pPr algn="l" indent="0" marL="0">
              <a:buNone/>
            </a:pPr>
            <a:r>
              <a:rPr lang="en-US" sz="1070" dirty="0">
                <a:solidFill>
                  <a:srgbClr val="64748B"/>
                </a:solidFill>
                <a:latin typeface="Aptos" pitchFamily="34" charset="0"/>
                <a:ea typeface="Aptos" pitchFamily="34" charset="-122"/>
                <a:cs typeface="Aptos" pitchFamily="34" charset="-120"/>
              </a:rPr>
              <a:t>Persistencia</a:t>
            </a:r>
            <a:endParaRPr lang="en-US" sz="1070" dirty="0"/>
          </a:p>
        </p:txBody>
      </p:sp>
      <p:sp>
        <p:nvSpPr>
          <p:cNvPr id="32" name="Shape 30"/>
          <p:cNvSpPr/>
          <p:nvPr/>
        </p:nvSpPr>
        <p:spPr>
          <a:xfrm>
            <a:off x="2770632" y="4544568"/>
            <a:ext cx="155448" cy="155448"/>
          </a:xfrm>
          <a:prstGeom prst="rect">
            <a:avLst/>
          </a:prstGeom>
          <a:solidFill>
            <a:srgbClr val="168B91"/>
          </a:solidFill>
          <a:ln w="12700">
            <a:solidFill>
              <a:srgbClr val="FFFFFF">
                <a:alpha val="0"/>
              </a:srgbClr>
            </a:solidFill>
            <a:prstDash val="solid"/>
          </a:ln>
        </p:spPr>
      </p:sp>
      <p:sp>
        <p:nvSpPr>
          <p:cNvPr id="33" name="Text 31"/>
          <p:cNvSpPr/>
          <p:nvPr/>
        </p:nvSpPr>
        <p:spPr>
          <a:xfrm>
            <a:off x="2980944" y="4462272"/>
            <a:ext cx="1828800" cy="310896"/>
          </a:xfrm>
          <a:prstGeom prst="rect">
            <a:avLst/>
          </a:prstGeom>
          <a:noFill/>
          <a:ln/>
        </p:spPr>
        <p:txBody>
          <a:bodyPr wrap="square" lIns="0" tIns="0" rIns="0" bIns="0" rtlCol="0" anchor="ctr">
            <a:normAutofit/>
          </a:bodyPr>
          <a:lstStyle/>
          <a:p>
            <a:pPr algn="l" indent="0" marL="0">
              <a:buNone/>
            </a:pPr>
            <a:r>
              <a:rPr lang="en-US" sz="1070" dirty="0">
                <a:solidFill>
                  <a:srgbClr val="64748B"/>
                </a:solidFill>
                <a:latin typeface="Aptos" pitchFamily="34" charset="0"/>
                <a:ea typeface="Aptos" pitchFamily="34" charset="-122"/>
                <a:cs typeface="Aptos" pitchFamily="34" charset="-120"/>
              </a:rPr>
              <a:t>Ridge</a:t>
            </a:r>
            <a:endParaRPr lang="en-US" sz="1070" dirty="0"/>
          </a:p>
        </p:txBody>
      </p:sp>
      <p:sp>
        <p:nvSpPr>
          <p:cNvPr id="34" name="Shape 32"/>
          <p:cNvSpPr/>
          <p:nvPr/>
        </p:nvSpPr>
        <p:spPr>
          <a:xfrm>
            <a:off x="804672" y="4882896"/>
            <a:ext cx="10488168" cy="704088"/>
          </a:xfrm>
          <a:prstGeom prst="roundRect">
            <a:avLst/>
          </a:prstGeom>
          <a:solidFill>
            <a:srgbClr val="E8F4F3"/>
          </a:solidFill>
          <a:ln w="12700">
            <a:solidFill>
              <a:srgbClr val="FFFFFF">
                <a:alpha val="0"/>
              </a:srgbClr>
            </a:solidFill>
            <a:prstDash val="solid"/>
          </a:ln>
        </p:spPr>
      </p:sp>
      <p:sp>
        <p:nvSpPr>
          <p:cNvPr id="35" name="Text 33"/>
          <p:cNvSpPr/>
          <p:nvPr/>
        </p:nvSpPr>
        <p:spPr>
          <a:xfrm>
            <a:off x="1005840" y="5029200"/>
            <a:ext cx="3794760" cy="356616"/>
          </a:xfrm>
          <a:prstGeom prst="rect">
            <a:avLst/>
          </a:prstGeom>
          <a:noFill/>
          <a:ln/>
        </p:spPr>
        <p:txBody>
          <a:bodyPr wrap="square" lIns="0" tIns="0" rIns="0" bIns="0" rtlCol="0" anchor="ctr">
            <a:normAutofit/>
          </a:bodyPr>
          <a:lstStyle/>
          <a:p>
            <a:pPr algn="l" indent="0" marL="0">
              <a:buNone/>
            </a:pPr>
            <a:r>
              <a:rPr lang="en-US" sz="1700" b="1" dirty="0">
                <a:solidFill>
                  <a:srgbClr val="111E37"/>
                </a:solidFill>
                <a:latin typeface="Aptos" pitchFamily="34" charset="0"/>
                <a:ea typeface="Aptos" pitchFamily="34" charset="-122"/>
                <a:cs typeface="Aptos" pitchFamily="34" charset="-120"/>
              </a:rPr>
              <a:t>Reducción de MAE:</a:t>
            </a:r>
            <a:endParaRPr lang="en-US" sz="1700" dirty="0"/>
          </a:p>
        </p:txBody>
      </p:sp>
      <p:sp>
        <p:nvSpPr>
          <p:cNvPr id="36" name="Text 34"/>
          <p:cNvSpPr/>
          <p:nvPr/>
        </p:nvSpPr>
        <p:spPr>
          <a:xfrm>
            <a:off x="4681728" y="5020056"/>
            <a:ext cx="5212080" cy="393192"/>
          </a:xfrm>
          <a:prstGeom prst="rect">
            <a:avLst/>
          </a:prstGeom>
          <a:noFill/>
          <a:ln/>
        </p:spPr>
        <p:txBody>
          <a:bodyPr wrap="square" lIns="0" tIns="0" rIns="0" bIns="0" rtlCol="0" anchor="ctr">
            <a:normAutofit/>
          </a:bodyPr>
          <a:lstStyle/>
          <a:p>
            <a:pPr algn="l" indent="0" marL="0">
              <a:buNone/>
            </a:pPr>
            <a:r>
              <a:rPr lang="en-US" sz="1900" b="1" dirty="0">
                <a:solidFill>
                  <a:srgbClr val="168B91"/>
                </a:solidFill>
                <a:latin typeface="Aptos" pitchFamily="34" charset="0"/>
                <a:ea typeface="Aptos" pitchFamily="34" charset="-122"/>
                <a:cs typeface="Aptos" pitchFamily="34" charset="-120"/>
              </a:rPr>
              <a:t>14,97 % a 19,48 %</a:t>
            </a:r>
            <a:endParaRPr lang="en-US" sz="1900" dirty="0"/>
          </a:p>
        </p:txBody>
      </p:sp>
      <p:sp>
        <p:nvSpPr>
          <p:cNvPr id="37" name="Text 35"/>
          <p:cNvSpPr/>
          <p:nvPr/>
        </p:nvSpPr>
        <p:spPr>
          <a:xfrm>
            <a:off x="822960" y="5733288"/>
            <a:ext cx="10332720" cy="283464"/>
          </a:xfrm>
          <a:prstGeom prst="rect">
            <a:avLst/>
          </a:prstGeom>
          <a:noFill/>
          <a:ln/>
        </p:spPr>
        <p:txBody>
          <a:bodyPr wrap="square" lIns="0" tIns="0" rIns="0" bIns="0" rtlCol="0" anchor="ctr">
            <a:normAutofit/>
          </a:bodyPr>
          <a:lstStyle/>
          <a:p>
            <a:pPr algn="l" indent="0" marL="0">
              <a:buNone/>
            </a:pPr>
            <a:r>
              <a:rPr lang="en-US" sz="1370" dirty="0">
                <a:solidFill>
                  <a:srgbClr val="64748B"/>
                </a:solidFill>
                <a:latin typeface="Aptos" pitchFamily="34" charset="0"/>
                <a:ea typeface="Aptos" pitchFamily="34" charset="-122"/>
                <a:cs typeface="Aptos" pitchFamily="34" charset="-120"/>
              </a:rPr>
              <a:t>Ridge fue el modelo con menor MAE en los tres horizontes de prueba.</a:t>
            </a:r>
            <a:endParaRPr lang="en-US" sz="137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RSSI: el resultado cambia según la métrica de error</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Persistencia gana en MAE; modelos aprendidos pueden reducir RMSE.</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XVI y sección 4.3.4.</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26</a:t>
            </a:r>
            <a:endParaRPr lang="en-US" sz="1040" dirty="0"/>
          </a:p>
        </p:txBody>
      </p:sp>
      <p:sp>
        <p:nvSpPr>
          <p:cNvPr id="9" name="Text 7"/>
          <p:cNvSpPr/>
          <p:nvPr/>
        </p:nvSpPr>
        <p:spPr>
          <a:xfrm>
            <a:off x="841248" y="1673352"/>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MAE · 15 MIN · MENOR ES MEJOR</a:t>
            </a:r>
            <a:endParaRPr lang="en-US" sz="1100" dirty="0"/>
          </a:p>
        </p:txBody>
      </p:sp>
      <p:sp>
        <p:nvSpPr>
          <p:cNvPr id="10" name="Text 8"/>
          <p:cNvSpPr/>
          <p:nvPr/>
        </p:nvSpPr>
        <p:spPr>
          <a:xfrm>
            <a:off x="822960" y="2048256"/>
            <a:ext cx="2084832" cy="429768"/>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Persistencia</a:t>
            </a:r>
            <a:endParaRPr lang="en-US" sz="1250" dirty="0"/>
          </a:p>
        </p:txBody>
      </p:sp>
      <p:sp>
        <p:nvSpPr>
          <p:cNvPr id="11" name="Shape 9"/>
          <p:cNvSpPr/>
          <p:nvPr/>
        </p:nvSpPr>
        <p:spPr>
          <a:xfrm>
            <a:off x="2971800" y="2157984"/>
            <a:ext cx="7452360" cy="201168"/>
          </a:xfrm>
          <a:prstGeom prst="rect">
            <a:avLst/>
          </a:prstGeom>
          <a:solidFill>
            <a:srgbClr val="E0E8F0"/>
          </a:solidFill>
          <a:ln w="12700">
            <a:solidFill>
              <a:srgbClr val="FFFFFF">
                <a:alpha val="0"/>
              </a:srgbClr>
            </a:solidFill>
            <a:prstDash val="solid"/>
          </a:ln>
        </p:spPr>
      </p:sp>
      <p:sp>
        <p:nvSpPr>
          <p:cNvPr id="12" name="Shape 10"/>
          <p:cNvSpPr/>
          <p:nvPr/>
        </p:nvSpPr>
        <p:spPr>
          <a:xfrm>
            <a:off x="2971800" y="2157984"/>
            <a:ext cx="5550340" cy="201168"/>
          </a:xfrm>
          <a:prstGeom prst="rect">
            <a:avLst/>
          </a:prstGeom>
          <a:solidFill>
            <a:srgbClr val="168B91"/>
          </a:solidFill>
          <a:ln w="12700">
            <a:solidFill>
              <a:srgbClr val="FFFFFF">
                <a:alpha val="0"/>
              </a:srgbClr>
            </a:solidFill>
            <a:prstDash val="solid"/>
          </a:ln>
        </p:spPr>
      </p:sp>
      <p:sp>
        <p:nvSpPr>
          <p:cNvPr id="13" name="Text 11"/>
          <p:cNvSpPr/>
          <p:nvPr/>
        </p:nvSpPr>
        <p:spPr>
          <a:xfrm>
            <a:off x="10488168" y="2048256"/>
            <a:ext cx="566928" cy="429768"/>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0.499 dBm</a:t>
            </a:r>
            <a:endParaRPr lang="en-US" sz="1200" dirty="0"/>
          </a:p>
        </p:txBody>
      </p:sp>
      <p:sp>
        <p:nvSpPr>
          <p:cNvPr id="14" name="Text 12"/>
          <p:cNvSpPr/>
          <p:nvPr/>
        </p:nvSpPr>
        <p:spPr>
          <a:xfrm>
            <a:off x="822960" y="2569464"/>
            <a:ext cx="2084832" cy="429768"/>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Ridge</a:t>
            </a:r>
            <a:endParaRPr lang="en-US" sz="1250" dirty="0"/>
          </a:p>
        </p:txBody>
      </p:sp>
      <p:sp>
        <p:nvSpPr>
          <p:cNvPr id="15" name="Shape 13"/>
          <p:cNvSpPr/>
          <p:nvPr/>
        </p:nvSpPr>
        <p:spPr>
          <a:xfrm>
            <a:off x="2971800" y="2679192"/>
            <a:ext cx="7452360" cy="201168"/>
          </a:xfrm>
          <a:prstGeom prst="rect">
            <a:avLst/>
          </a:prstGeom>
          <a:solidFill>
            <a:srgbClr val="E0E8F0"/>
          </a:solidFill>
          <a:ln w="12700">
            <a:solidFill>
              <a:srgbClr val="FFFFFF">
                <a:alpha val="0"/>
              </a:srgbClr>
            </a:solidFill>
            <a:prstDash val="solid"/>
          </a:ln>
        </p:spPr>
      </p:sp>
      <p:sp>
        <p:nvSpPr>
          <p:cNvPr id="16" name="Shape 14"/>
          <p:cNvSpPr/>
          <p:nvPr/>
        </p:nvSpPr>
        <p:spPr>
          <a:xfrm>
            <a:off x="2971800" y="2679192"/>
            <a:ext cx="5850659" cy="201168"/>
          </a:xfrm>
          <a:prstGeom prst="rect">
            <a:avLst/>
          </a:prstGeom>
          <a:solidFill>
            <a:srgbClr val="2861A1"/>
          </a:solidFill>
          <a:ln w="12700">
            <a:solidFill>
              <a:srgbClr val="FFFFFF">
                <a:alpha val="0"/>
              </a:srgbClr>
            </a:solidFill>
            <a:prstDash val="solid"/>
          </a:ln>
        </p:spPr>
      </p:sp>
      <p:sp>
        <p:nvSpPr>
          <p:cNvPr id="17" name="Text 15"/>
          <p:cNvSpPr/>
          <p:nvPr/>
        </p:nvSpPr>
        <p:spPr>
          <a:xfrm>
            <a:off x="10488168" y="2569464"/>
            <a:ext cx="566928" cy="429768"/>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0.526 dBm</a:t>
            </a:r>
            <a:endParaRPr lang="en-US" sz="1200" dirty="0"/>
          </a:p>
        </p:txBody>
      </p:sp>
      <p:sp>
        <p:nvSpPr>
          <p:cNvPr id="18" name="Text 16"/>
          <p:cNvSpPr/>
          <p:nvPr/>
        </p:nvSpPr>
        <p:spPr>
          <a:xfrm>
            <a:off x="822960" y="3090672"/>
            <a:ext cx="2084832" cy="429768"/>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HGB</a:t>
            </a:r>
            <a:endParaRPr lang="en-US" sz="1250" dirty="0"/>
          </a:p>
        </p:txBody>
      </p:sp>
      <p:sp>
        <p:nvSpPr>
          <p:cNvPr id="19" name="Shape 17"/>
          <p:cNvSpPr/>
          <p:nvPr/>
        </p:nvSpPr>
        <p:spPr>
          <a:xfrm>
            <a:off x="2971800" y="3200400"/>
            <a:ext cx="7452360" cy="201168"/>
          </a:xfrm>
          <a:prstGeom prst="rect">
            <a:avLst/>
          </a:prstGeom>
          <a:solidFill>
            <a:srgbClr val="E0E8F0"/>
          </a:solidFill>
          <a:ln w="12700">
            <a:solidFill>
              <a:srgbClr val="FFFFFF">
                <a:alpha val="0"/>
              </a:srgbClr>
            </a:solidFill>
            <a:prstDash val="solid"/>
          </a:ln>
        </p:spPr>
      </p:sp>
      <p:sp>
        <p:nvSpPr>
          <p:cNvPr id="20" name="Shape 18"/>
          <p:cNvSpPr/>
          <p:nvPr/>
        </p:nvSpPr>
        <p:spPr>
          <a:xfrm>
            <a:off x="2971800" y="3200400"/>
            <a:ext cx="6073117" cy="201168"/>
          </a:xfrm>
          <a:prstGeom prst="rect">
            <a:avLst/>
          </a:prstGeom>
          <a:solidFill>
            <a:srgbClr val="8792A4"/>
          </a:solidFill>
          <a:ln w="12700">
            <a:solidFill>
              <a:srgbClr val="FFFFFF">
                <a:alpha val="0"/>
              </a:srgbClr>
            </a:solidFill>
            <a:prstDash val="solid"/>
          </a:ln>
        </p:spPr>
      </p:sp>
      <p:sp>
        <p:nvSpPr>
          <p:cNvPr id="21" name="Text 19"/>
          <p:cNvSpPr/>
          <p:nvPr/>
        </p:nvSpPr>
        <p:spPr>
          <a:xfrm>
            <a:off x="10488168" y="3090672"/>
            <a:ext cx="566928" cy="429768"/>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0.546 dBm</a:t>
            </a:r>
            <a:endParaRPr lang="en-US" sz="1200" dirty="0"/>
          </a:p>
        </p:txBody>
      </p:sp>
      <p:sp>
        <p:nvSpPr>
          <p:cNvPr id="22" name="Text 20"/>
          <p:cNvSpPr/>
          <p:nvPr/>
        </p:nvSpPr>
        <p:spPr>
          <a:xfrm>
            <a:off x="841248" y="3831336"/>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RMSE · 15 MIN · MENOR ES MEJOR</a:t>
            </a:r>
            <a:endParaRPr lang="en-US" sz="1100" dirty="0"/>
          </a:p>
        </p:txBody>
      </p:sp>
      <p:sp>
        <p:nvSpPr>
          <p:cNvPr id="23" name="Text 21"/>
          <p:cNvSpPr/>
          <p:nvPr/>
        </p:nvSpPr>
        <p:spPr>
          <a:xfrm>
            <a:off x="822960" y="4215384"/>
            <a:ext cx="2084832" cy="417576"/>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Persistencia</a:t>
            </a:r>
            <a:endParaRPr lang="en-US" sz="1250" dirty="0"/>
          </a:p>
        </p:txBody>
      </p:sp>
      <p:sp>
        <p:nvSpPr>
          <p:cNvPr id="24" name="Shape 22"/>
          <p:cNvSpPr/>
          <p:nvPr/>
        </p:nvSpPr>
        <p:spPr>
          <a:xfrm>
            <a:off x="2971800" y="4325112"/>
            <a:ext cx="7452360" cy="201168"/>
          </a:xfrm>
          <a:prstGeom prst="rect">
            <a:avLst/>
          </a:prstGeom>
          <a:solidFill>
            <a:srgbClr val="E0E8F0"/>
          </a:solidFill>
          <a:ln w="12700">
            <a:solidFill>
              <a:srgbClr val="FFFFFF">
                <a:alpha val="0"/>
              </a:srgbClr>
            </a:solidFill>
            <a:prstDash val="solid"/>
          </a:ln>
        </p:spPr>
      </p:sp>
      <p:sp>
        <p:nvSpPr>
          <p:cNvPr id="25" name="Shape 23"/>
          <p:cNvSpPr/>
          <p:nvPr/>
        </p:nvSpPr>
        <p:spPr>
          <a:xfrm>
            <a:off x="2971800" y="4325112"/>
            <a:ext cx="6283110" cy="201168"/>
          </a:xfrm>
          <a:prstGeom prst="rect">
            <a:avLst/>
          </a:prstGeom>
          <a:solidFill>
            <a:srgbClr val="8792A4"/>
          </a:solidFill>
          <a:ln w="12700">
            <a:solidFill>
              <a:srgbClr val="FFFFFF">
                <a:alpha val="0"/>
              </a:srgbClr>
            </a:solidFill>
            <a:prstDash val="solid"/>
          </a:ln>
        </p:spPr>
      </p:sp>
      <p:sp>
        <p:nvSpPr>
          <p:cNvPr id="26" name="Text 24"/>
          <p:cNvSpPr/>
          <p:nvPr/>
        </p:nvSpPr>
        <p:spPr>
          <a:xfrm>
            <a:off x="10488168" y="4215384"/>
            <a:ext cx="566928" cy="417576"/>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0.978 dBm</a:t>
            </a:r>
            <a:endParaRPr lang="en-US" sz="1200" dirty="0"/>
          </a:p>
        </p:txBody>
      </p:sp>
      <p:sp>
        <p:nvSpPr>
          <p:cNvPr id="27" name="Text 25"/>
          <p:cNvSpPr/>
          <p:nvPr/>
        </p:nvSpPr>
        <p:spPr>
          <a:xfrm>
            <a:off x="822960" y="4724400"/>
            <a:ext cx="2084832" cy="417576"/>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Ridge</a:t>
            </a:r>
            <a:endParaRPr lang="en-US" sz="1250" dirty="0"/>
          </a:p>
        </p:txBody>
      </p:sp>
      <p:sp>
        <p:nvSpPr>
          <p:cNvPr id="28" name="Shape 26"/>
          <p:cNvSpPr/>
          <p:nvPr/>
        </p:nvSpPr>
        <p:spPr>
          <a:xfrm>
            <a:off x="2971800" y="4834128"/>
            <a:ext cx="7452360" cy="201168"/>
          </a:xfrm>
          <a:prstGeom prst="rect">
            <a:avLst/>
          </a:prstGeom>
          <a:solidFill>
            <a:srgbClr val="E0E8F0"/>
          </a:solidFill>
          <a:ln w="12700">
            <a:solidFill>
              <a:srgbClr val="FFFFFF">
                <a:alpha val="0"/>
              </a:srgbClr>
            </a:solidFill>
            <a:prstDash val="solid"/>
          </a:ln>
        </p:spPr>
      </p:sp>
      <p:sp>
        <p:nvSpPr>
          <p:cNvPr id="29" name="Shape 27"/>
          <p:cNvSpPr/>
          <p:nvPr/>
        </p:nvSpPr>
        <p:spPr>
          <a:xfrm>
            <a:off x="2971800" y="4834128"/>
            <a:ext cx="5203803" cy="201168"/>
          </a:xfrm>
          <a:prstGeom prst="rect">
            <a:avLst/>
          </a:prstGeom>
          <a:solidFill>
            <a:srgbClr val="2861A1"/>
          </a:solidFill>
          <a:ln w="12700">
            <a:solidFill>
              <a:srgbClr val="FFFFFF">
                <a:alpha val="0"/>
              </a:srgbClr>
            </a:solidFill>
            <a:prstDash val="solid"/>
          </a:ln>
        </p:spPr>
      </p:sp>
      <p:sp>
        <p:nvSpPr>
          <p:cNvPr id="30" name="Text 28"/>
          <p:cNvSpPr/>
          <p:nvPr/>
        </p:nvSpPr>
        <p:spPr>
          <a:xfrm>
            <a:off x="10488168" y="4724400"/>
            <a:ext cx="566928" cy="417576"/>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0.810 dBm</a:t>
            </a:r>
            <a:endParaRPr lang="en-US" sz="1200" dirty="0"/>
          </a:p>
        </p:txBody>
      </p:sp>
      <p:sp>
        <p:nvSpPr>
          <p:cNvPr id="31" name="Text 29"/>
          <p:cNvSpPr/>
          <p:nvPr/>
        </p:nvSpPr>
        <p:spPr>
          <a:xfrm>
            <a:off x="822960" y="5233416"/>
            <a:ext cx="2084832" cy="417576"/>
          </a:xfrm>
          <a:prstGeom prst="rect">
            <a:avLst/>
          </a:prstGeom>
          <a:noFill/>
          <a:ln/>
        </p:spPr>
        <p:txBody>
          <a:bodyPr wrap="square" lIns="0" tIns="0" rIns="0" bIns="0" rtlCol="0" anchor="ctr">
            <a:normAutofit/>
          </a:bodyPr>
          <a:lstStyle/>
          <a:p>
            <a:pPr algn="l" indent="0" marL="0">
              <a:buNone/>
            </a:pPr>
            <a:r>
              <a:rPr lang="en-US" sz="1250" dirty="0">
                <a:solidFill>
                  <a:srgbClr val="202B3C"/>
                </a:solidFill>
                <a:latin typeface="Aptos" pitchFamily="34" charset="0"/>
                <a:ea typeface="Aptos" pitchFamily="34" charset="-122"/>
                <a:cs typeface="Aptos" pitchFamily="34" charset="-120"/>
              </a:rPr>
              <a:t>HGB</a:t>
            </a:r>
            <a:endParaRPr lang="en-US" sz="1250" dirty="0"/>
          </a:p>
        </p:txBody>
      </p:sp>
      <p:sp>
        <p:nvSpPr>
          <p:cNvPr id="32" name="Shape 30"/>
          <p:cNvSpPr/>
          <p:nvPr/>
        </p:nvSpPr>
        <p:spPr>
          <a:xfrm>
            <a:off x="2971800" y="5343144"/>
            <a:ext cx="7452360" cy="201168"/>
          </a:xfrm>
          <a:prstGeom prst="rect">
            <a:avLst/>
          </a:prstGeom>
          <a:solidFill>
            <a:srgbClr val="E0E8F0"/>
          </a:solidFill>
          <a:ln w="12700">
            <a:solidFill>
              <a:srgbClr val="FFFFFF">
                <a:alpha val="0"/>
              </a:srgbClr>
            </a:solidFill>
            <a:prstDash val="solid"/>
          </a:ln>
        </p:spPr>
      </p:sp>
      <p:sp>
        <p:nvSpPr>
          <p:cNvPr id="33" name="Shape 31"/>
          <p:cNvSpPr/>
          <p:nvPr/>
        </p:nvSpPr>
        <p:spPr>
          <a:xfrm>
            <a:off x="2971800" y="5343144"/>
            <a:ext cx="5178105" cy="201168"/>
          </a:xfrm>
          <a:prstGeom prst="rect">
            <a:avLst/>
          </a:prstGeom>
          <a:solidFill>
            <a:srgbClr val="168B91"/>
          </a:solidFill>
          <a:ln w="12700">
            <a:solidFill>
              <a:srgbClr val="FFFFFF">
                <a:alpha val="0"/>
              </a:srgbClr>
            </a:solidFill>
            <a:prstDash val="solid"/>
          </a:ln>
        </p:spPr>
      </p:sp>
      <p:sp>
        <p:nvSpPr>
          <p:cNvPr id="34" name="Text 32"/>
          <p:cNvSpPr/>
          <p:nvPr/>
        </p:nvSpPr>
        <p:spPr>
          <a:xfrm>
            <a:off x="10488168" y="5233416"/>
            <a:ext cx="566928" cy="417576"/>
          </a:xfrm>
          <a:prstGeom prst="rect">
            <a:avLst/>
          </a:prstGeom>
          <a:noFill/>
          <a:ln/>
        </p:spPr>
        <p:txBody>
          <a:bodyPr wrap="square" lIns="0" tIns="0" rIns="0" bIns="0" rtlCol="0" anchor="ctr">
            <a:normAutofit/>
          </a:bodyPr>
          <a:lstStyle/>
          <a:p>
            <a:pPr algn="r" indent="0" marL="0">
              <a:buNone/>
            </a:pPr>
            <a:r>
              <a:rPr lang="en-US" sz="1200" b="1" dirty="0">
                <a:solidFill>
                  <a:srgbClr val="111E37"/>
                </a:solidFill>
                <a:latin typeface="Aptos" pitchFamily="34" charset="0"/>
                <a:ea typeface="Aptos" pitchFamily="34" charset="-122"/>
                <a:cs typeface="Aptos" pitchFamily="34" charset="-120"/>
              </a:rPr>
              <a:t>0.806 dBm</a:t>
            </a:r>
            <a:endParaRPr lang="en-US" sz="1200" dirty="0"/>
          </a:p>
        </p:txBody>
      </p:sp>
      <p:sp>
        <p:nvSpPr>
          <p:cNvPr id="35" name="Text 33"/>
          <p:cNvSpPr/>
          <p:nvPr/>
        </p:nvSpPr>
        <p:spPr>
          <a:xfrm>
            <a:off x="850392" y="6007608"/>
            <a:ext cx="10323576" cy="228600"/>
          </a:xfrm>
          <a:prstGeom prst="rect">
            <a:avLst/>
          </a:prstGeom>
          <a:noFill/>
          <a:ln/>
        </p:spPr>
        <p:txBody>
          <a:bodyPr wrap="square" lIns="0" tIns="0" rIns="0" bIns="0" rtlCol="0" anchor="ctr">
            <a:normAutofit/>
          </a:bodyPr>
          <a:lstStyle/>
          <a:p>
            <a:pPr algn="l" indent="0" marL="0">
              <a:buNone/>
            </a:pPr>
            <a:r>
              <a:rPr lang="en-US" sz="1380" b="1" dirty="0">
                <a:solidFill>
                  <a:srgbClr val="111E37"/>
                </a:solidFill>
                <a:latin typeface="Aptos" pitchFamily="34" charset="0"/>
                <a:ea typeface="Aptos" pitchFamily="34" charset="-122"/>
                <a:cs typeface="Aptos" pitchFamily="34" charset="-120"/>
              </a:rPr>
              <a:t>El criterio de “mejor” debe indicar variable, horizonte y métrica; no hay superioridad uniforme.</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OE3</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Respuesta a P3: mejora predictiva selectiva, no universal</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El tercer objetivo exige comparar tareas y referentes, no limitarse a una sola métrica.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27</a:t>
            </a:r>
            <a:endParaRPr lang="en-US" sz="1040" dirty="0"/>
          </a:p>
        </p:txBody>
      </p:sp>
      <p:sp>
        <p:nvSpPr>
          <p:cNvPr id="9" name="Shape 7"/>
          <p:cNvSpPr/>
          <p:nvPr/>
        </p:nvSpPr>
        <p:spPr>
          <a:xfrm>
            <a:off x="713232" y="1691640"/>
            <a:ext cx="10744200" cy="502920"/>
          </a:xfrm>
          <a:prstGeom prst="rect">
            <a:avLst/>
          </a:prstGeom>
          <a:solidFill>
            <a:srgbClr val="111E37"/>
          </a:solidFill>
          <a:ln w="12700">
            <a:solidFill>
              <a:srgbClr val="FFFFFF">
                <a:alpha val="0"/>
              </a:srgbClr>
            </a:solidFill>
            <a:prstDash val="solid"/>
          </a:ln>
        </p:spPr>
      </p:sp>
      <p:sp>
        <p:nvSpPr>
          <p:cNvPr id="10" name="Text 8"/>
          <p:cNvSpPr/>
          <p:nvPr/>
        </p:nvSpPr>
        <p:spPr>
          <a:xfrm>
            <a:off x="795528" y="1732788"/>
            <a:ext cx="2441448"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TAREA</a:t>
            </a:r>
            <a:endParaRPr lang="en-US" sz="1200" dirty="0"/>
          </a:p>
        </p:txBody>
      </p:sp>
      <p:sp>
        <p:nvSpPr>
          <p:cNvPr id="11" name="Shape 9"/>
          <p:cNvSpPr/>
          <p:nvPr/>
        </p:nvSpPr>
        <p:spPr>
          <a:xfrm>
            <a:off x="3319272" y="1691640"/>
            <a:ext cx="0" cy="502920"/>
          </a:xfrm>
          <a:prstGeom prst="line">
            <a:avLst/>
          </a:prstGeom>
          <a:noFill/>
          <a:ln w="6985">
            <a:solidFill>
              <a:srgbClr val="506078"/>
            </a:solidFill>
            <a:prstDash val="solid"/>
          </a:ln>
        </p:spPr>
      </p:sp>
      <p:sp>
        <p:nvSpPr>
          <p:cNvPr id="12" name="Text 10"/>
          <p:cNvSpPr/>
          <p:nvPr/>
        </p:nvSpPr>
        <p:spPr>
          <a:xfrm>
            <a:off x="3401568" y="1732788"/>
            <a:ext cx="3328416"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EVIDENCIA</a:t>
            </a:r>
            <a:endParaRPr lang="en-US" sz="1200" dirty="0"/>
          </a:p>
        </p:txBody>
      </p:sp>
      <p:sp>
        <p:nvSpPr>
          <p:cNvPr id="13" name="Shape 11"/>
          <p:cNvSpPr/>
          <p:nvPr/>
        </p:nvSpPr>
        <p:spPr>
          <a:xfrm>
            <a:off x="6812280" y="1691640"/>
            <a:ext cx="0" cy="502920"/>
          </a:xfrm>
          <a:prstGeom prst="line">
            <a:avLst/>
          </a:prstGeom>
          <a:noFill/>
          <a:ln w="6985">
            <a:solidFill>
              <a:srgbClr val="506078"/>
            </a:solidFill>
            <a:prstDash val="solid"/>
          </a:ln>
        </p:spPr>
      </p:sp>
      <p:sp>
        <p:nvSpPr>
          <p:cNvPr id="14" name="Text 12"/>
          <p:cNvSpPr/>
          <p:nvPr/>
        </p:nvSpPr>
        <p:spPr>
          <a:xfrm>
            <a:off x="6894576" y="1732788"/>
            <a:ext cx="4480560" cy="42062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INTERPRETACIÓN</a:t>
            </a:r>
            <a:endParaRPr lang="en-US" sz="1200" dirty="0"/>
          </a:p>
        </p:txBody>
      </p:sp>
      <p:sp>
        <p:nvSpPr>
          <p:cNvPr id="15" name="Shape 13"/>
          <p:cNvSpPr/>
          <p:nvPr/>
        </p:nvSpPr>
        <p:spPr>
          <a:xfrm>
            <a:off x="713232" y="2194560"/>
            <a:ext cx="10744200" cy="0"/>
          </a:xfrm>
          <a:prstGeom prst="line">
            <a:avLst/>
          </a:prstGeom>
          <a:noFill/>
          <a:ln w="6985">
            <a:solidFill>
              <a:srgbClr val="D6DEE8"/>
            </a:solidFill>
            <a:prstDash val="solid"/>
          </a:ln>
        </p:spPr>
      </p:sp>
      <p:sp>
        <p:nvSpPr>
          <p:cNvPr id="16" name="Shape 14"/>
          <p:cNvSpPr/>
          <p:nvPr/>
        </p:nvSpPr>
        <p:spPr>
          <a:xfrm>
            <a:off x="713232" y="2194560"/>
            <a:ext cx="10744200" cy="731520"/>
          </a:xfrm>
          <a:prstGeom prst="rect">
            <a:avLst/>
          </a:prstGeom>
          <a:solidFill>
            <a:srgbClr val="FFFFFF"/>
          </a:solidFill>
          <a:ln w="12700">
            <a:solidFill>
              <a:srgbClr val="FFFFFF">
                <a:alpha val="0"/>
              </a:srgbClr>
            </a:solidFill>
            <a:prstDash val="solid"/>
          </a:ln>
        </p:spPr>
      </p:sp>
      <p:sp>
        <p:nvSpPr>
          <p:cNvPr id="17" name="Text 15"/>
          <p:cNvSpPr/>
          <p:nvPr/>
        </p:nvSpPr>
        <p:spPr>
          <a:xfrm>
            <a:off x="795528" y="2235708"/>
            <a:ext cx="2441448"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Clasificación a 15 min</a:t>
            </a:r>
            <a:endParaRPr lang="en-US" sz="1330" dirty="0"/>
          </a:p>
        </p:txBody>
      </p:sp>
      <p:sp>
        <p:nvSpPr>
          <p:cNvPr id="18" name="Shape 16"/>
          <p:cNvSpPr/>
          <p:nvPr/>
        </p:nvSpPr>
        <p:spPr>
          <a:xfrm>
            <a:off x="3319272" y="2194560"/>
            <a:ext cx="0" cy="731520"/>
          </a:xfrm>
          <a:prstGeom prst="line">
            <a:avLst/>
          </a:prstGeom>
          <a:noFill/>
          <a:ln w="6985">
            <a:solidFill>
              <a:srgbClr val="D6DEE8"/>
            </a:solidFill>
            <a:prstDash val="solid"/>
          </a:ln>
        </p:spPr>
      </p:sp>
      <p:sp>
        <p:nvSpPr>
          <p:cNvPr id="19" name="Text 17"/>
          <p:cNvSpPr/>
          <p:nvPr/>
        </p:nvSpPr>
        <p:spPr>
          <a:xfrm>
            <a:off x="3401568" y="2235708"/>
            <a:ext cx="3328416"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F1-macro 0,575 vs 0,547</a:t>
            </a:r>
            <a:endParaRPr lang="en-US" sz="1330" dirty="0"/>
          </a:p>
        </p:txBody>
      </p:sp>
      <p:sp>
        <p:nvSpPr>
          <p:cNvPr id="20" name="Shape 18"/>
          <p:cNvSpPr/>
          <p:nvPr/>
        </p:nvSpPr>
        <p:spPr>
          <a:xfrm>
            <a:off x="6812280" y="2194560"/>
            <a:ext cx="0" cy="731520"/>
          </a:xfrm>
          <a:prstGeom prst="line">
            <a:avLst/>
          </a:prstGeom>
          <a:noFill/>
          <a:ln w="6985">
            <a:solidFill>
              <a:srgbClr val="D6DEE8"/>
            </a:solidFill>
            <a:prstDash val="solid"/>
          </a:ln>
        </p:spPr>
      </p:sp>
      <p:sp>
        <p:nvSpPr>
          <p:cNvPr id="21" name="Text 19"/>
          <p:cNvSpPr/>
          <p:nvPr/>
        </p:nvSpPr>
        <p:spPr>
          <a:xfrm>
            <a:off x="6894576" y="2235708"/>
            <a:ext cx="4480560"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Mejora descriptiva; IC incluye cero</a:t>
            </a:r>
            <a:endParaRPr lang="en-US" sz="1330" dirty="0"/>
          </a:p>
        </p:txBody>
      </p:sp>
      <p:sp>
        <p:nvSpPr>
          <p:cNvPr id="22" name="Shape 20"/>
          <p:cNvSpPr/>
          <p:nvPr/>
        </p:nvSpPr>
        <p:spPr>
          <a:xfrm>
            <a:off x="713232" y="2926080"/>
            <a:ext cx="10744200" cy="0"/>
          </a:xfrm>
          <a:prstGeom prst="line">
            <a:avLst/>
          </a:prstGeom>
          <a:noFill/>
          <a:ln w="6985">
            <a:solidFill>
              <a:srgbClr val="D6DEE8"/>
            </a:solidFill>
            <a:prstDash val="solid"/>
          </a:ln>
        </p:spPr>
      </p:sp>
      <p:sp>
        <p:nvSpPr>
          <p:cNvPr id="23" name="Shape 21"/>
          <p:cNvSpPr/>
          <p:nvPr/>
        </p:nvSpPr>
        <p:spPr>
          <a:xfrm>
            <a:off x="713232" y="2926080"/>
            <a:ext cx="10744200" cy="731520"/>
          </a:xfrm>
          <a:prstGeom prst="rect">
            <a:avLst/>
          </a:prstGeom>
          <a:solidFill>
            <a:srgbClr val="EDF2F8"/>
          </a:solidFill>
          <a:ln w="12700">
            <a:solidFill>
              <a:srgbClr val="FFFFFF">
                <a:alpha val="0"/>
              </a:srgbClr>
            </a:solidFill>
            <a:prstDash val="solid"/>
          </a:ln>
        </p:spPr>
      </p:sp>
      <p:sp>
        <p:nvSpPr>
          <p:cNvPr id="24" name="Text 22"/>
          <p:cNvSpPr/>
          <p:nvPr/>
        </p:nvSpPr>
        <p:spPr>
          <a:xfrm>
            <a:off x="795528" y="2967228"/>
            <a:ext cx="2441448"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Anomalías</a:t>
            </a:r>
            <a:endParaRPr lang="en-US" sz="1330" dirty="0"/>
          </a:p>
        </p:txBody>
      </p:sp>
      <p:sp>
        <p:nvSpPr>
          <p:cNvPr id="25" name="Shape 23"/>
          <p:cNvSpPr/>
          <p:nvPr/>
        </p:nvSpPr>
        <p:spPr>
          <a:xfrm>
            <a:off x="3319272" y="2926080"/>
            <a:ext cx="0" cy="731520"/>
          </a:xfrm>
          <a:prstGeom prst="line">
            <a:avLst/>
          </a:prstGeom>
          <a:noFill/>
          <a:ln w="6985">
            <a:solidFill>
              <a:srgbClr val="D6DEE8"/>
            </a:solidFill>
            <a:prstDash val="solid"/>
          </a:ln>
        </p:spPr>
      </p:sp>
      <p:sp>
        <p:nvSpPr>
          <p:cNvPr id="26" name="Text 24"/>
          <p:cNvSpPr/>
          <p:nvPr/>
        </p:nvSpPr>
        <p:spPr>
          <a:xfrm>
            <a:off x="3401568" y="2967228"/>
            <a:ext cx="3328416"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1 093 observaciones inusuales</a:t>
            </a:r>
            <a:endParaRPr lang="en-US" sz="1330" dirty="0"/>
          </a:p>
        </p:txBody>
      </p:sp>
      <p:sp>
        <p:nvSpPr>
          <p:cNvPr id="27" name="Shape 25"/>
          <p:cNvSpPr/>
          <p:nvPr/>
        </p:nvSpPr>
        <p:spPr>
          <a:xfrm>
            <a:off x="6812280" y="2926080"/>
            <a:ext cx="0" cy="731520"/>
          </a:xfrm>
          <a:prstGeom prst="line">
            <a:avLst/>
          </a:prstGeom>
          <a:noFill/>
          <a:ln w="6985">
            <a:solidFill>
              <a:srgbClr val="D6DEE8"/>
            </a:solidFill>
            <a:prstDash val="solid"/>
          </a:ln>
        </p:spPr>
      </p:sp>
      <p:sp>
        <p:nvSpPr>
          <p:cNvPr id="28" name="Text 26"/>
          <p:cNvSpPr/>
          <p:nvPr/>
        </p:nvSpPr>
        <p:spPr>
          <a:xfrm>
            <a:off x="6894576" y="2967228"/>
            <a:ext cx="4480560"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Exploratorio; sin verificación de fallas</a:t>
            </a:r>
            <a:endParaRPr lang="en-US" sz="1330" dirty="0"/>
          </a:p>
        </p:txBody>
      </p:sp>
      <p:sp>
        <p:nvSpPr>
          <p:cNvPr id="29" name="Shape 27"/>
          <p:cNvSpPr/>
          <p:nvPr/>
        </p:nvSpPr>
        <p:spPr>
          <a:xfrm>
            <a:off x="713232" y="3657600"/>
            <a:ext cx="10744200" cy="0"/>
          </a:xfrm>
          <a:prstGeom prst="line">
            <a:avLst/>
          </a:prstGeom>
          <a:noFill/>
          <a:ln w="6985">
            <a:solidFill>
              <a:srgbClr val="D6DEE8"/>
            </a:solidFill>
            <a:prstDash val="solid"/>
          </a:ln>
        </p:spPr>
      </p:sp>
      <p:sp>
        <p:nvSpPr>
          <p:cNvPr id="30" name="Shape 28"/>
          <p:cNvSpPr/>
          <p:nvPr/>
        </p:nvSpPr>
        <p:spPr>
          <a:xfrm>
            <a:off x="713232" y="3657600"/>
            <a:ext cx="10744200" cy="731520"/>
          </a:xfrm>
          <a:prstGeom prst="rect">
            <a:avLst/>
          </a:prstGeom>
          <a:solidFill>
            <a:srgbClr val="FFFFFF"/>
          </a:solidFill>
          <a:ln w="12700">
            <a:solidFill>
              <a:srgbClr val="FFFFFF">
                <a:alpha val="0"/>
              </a:srgbClr>
            </a:solidFill>
            <a:prstDash val="solid"/>
          </a:ln>
        </p:spPr>
      </p:sp>
      <p:sp>
        <p:nvSpPr>
          <p:cNvPr id="31" name="Text 29"/>
          <p:cNvSpPr/>
          <p:nvPr/>
        </p:nvSpPr>
        <p:spPr>
          <a:xfrm>
            <a:off x="795528" y="3698748"/>
            <a:ext cx="2441448"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Pronóstico MCS DL</a:t>
            </a:r>
            <a:endParaRPr lang="en-US" sz="1330" dirty="0"/>
          </a:p>
        </p:txBody>
      </p:sp>
      <p:sp>
        <p:nvSpPr>
          <p:cNvPr id="32" name="Shape 30"/>
          <p:cNvSpPr/>
          <p:nvPr/>
        </p:nvSpPr>
        <p:spPr>
          <a:xfrm>
            <a:off x="3319272" y="3657600"/>
            <a:ext cx="0" cy="731520"/>
          </a:xfrm>
          <a:prstGeom prst="line">
            <a:avLst/>
          </a:prstGeom>
          <a:noFill/>
          <a:ln w="6985">
            <a:solidFill>
              <a:srgbClr val="D6DEE8"/>
            </a:solidFill>
            <a:prstDash val="solid"/>
          </a:ln>
        </p:spPr>
      </p:sp>
      <p:sp>
        <p:nvSpPr>
          <p:cNvPr id="33" name="Text 31"/>
          <p:cNvSpPr/>
          <p:nvPr/>
        </p:nvSpPr>
        <p:spPr>
          <a:xfrm>
            <a:off x="3401568" y="3698748"/>
            <a:ext cx="3328416"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MAE baja ~32 % con Ridge</a:t>
            </a:r>
            <a:endParaRPr lang="en-US" sz="1330" dirty="0"/>
          </a:p>
        </p:txBody>
      </p:sp>
      <p:sp>
        <p:nvSpPr>
          <p:cNvPr id="34" name="Shape 32"/>
          <p:cNvSpPr/>
          <p:nvPr/>
        </p:nvSpPr>
        <p:spPr>
          <a:xfrm>
            <a:off x="6812280" y="3657600"/>
            <a:ext cx="0" cy="731520"/>
          </a:xfrm>
          <a:prstGeom prst="line">
            <a:avLst/>
          </a:prstGeom>
          <a:noFill/>
          <a:ln w="6985">
            <a:solidFill>
              <a:srgbClr val="D6DEE8"/>
            </a:solidFill>
            <a:prstDash val="solid"/>
          </a:ln>
        </p:spPr>
      </p:sp>
      <p:sp>
        <p:nvSpPr>
          <p:cNvPr id="35" name="Text 33"/>
          <p:cNvSpPr/>
          <p:nvPr/>
        </p:nvSpPr>
        <p:spPr>
          <a:xfrm>
            <a:off x="6894576" y="3698748"/>
            <a:ext cx="4480560"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Mejora respaldada al 95 %</a:t>
            </a:r>
            <a:endParaRPr lang="en-US" sz="1330" dirty="0"/>
          </a:p>
        </p:txBody>
      </p:sp>
      <p:sp>
        <p:nvSpPr>
          <p:cNvPr id="36" name="Shape 34"/>
          <p:cNvSpPr/>
          <p:nvPr/>
        </p:nvSpPr>
        <p:spPr>
          <a:xfrm>
            <a:off x="713232" y="4389120"/>
            <a:ext cx="10744200" cy="0"/>
          </a:xfrm>
          <a:prstGeom prst="line">
            <a:avLst/>
          </a:prstGeom>
          <a:noFill/>
          <a:ln w="6985">
            <a:solidFill>
              <a:srgbClr val="D6DEE8"/>
            </a:solidFill>
            <a:prstDash val="solid"/>
          </a:ln>
        </p:spPr>
      </p:sp>
      <p:sp>
        <p:nvSpPr>
          <p:cNvPr id="37" name="Shape 35"/>
          <p:cNvSpPr/>
          <p:nvPr/>
        </p:nvSpPr>
        <p:spPr>
          <a:xfrm>
            <a:off x="713232" y="4389120"/>
            <a:ext cx="10744200" cy="731520"/>
          </a:xfrm>
          <a:prstGeom prst="rect">
            <a:avLst/>
          </a:prstGeom>
          <a:solidFill>
            <a:srgbClr val="EDF2F8"/>
          </a:solidFill>
          <a:ln w="12700">
            <a:solidFill>
              <a:srgbClr val="FFFFFF">
                <a:alpha val="0"/>
              </a:srgbClr>
            </a:solidFill>
            <a:prstDash val="solid"/>
          </a:ln>
        </p:spPr>
      </p:sp>
      <p:sp>
        <p:nvSpPr>
          <p:cNvPr id="38" name="Text 36"/>
          <p:cNvSpPr/>
          <p:nvPr/>
        </p:nvSpPr>
        <p:spPr>
          <a:xfrm>
            <a:off x="795528" y="4430268"/>
            <a:ext cx="2441448"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Pronóstico tasa DL</a:t>
            </a:r>
            <a:endParaRPr lang="en-US" sz="1330" dirty="0"/>
          </a:p>
        </p:txBody>
      </p:sp>
      <p:sp>
        <p:nvSpPr>
          <p:cNvPr id="39" name="Shape 37"/>
          <p:cNvSpPr/>
          <p:nvPr/>
        </p:nvSpPr>
        <p:spPr>
          <a:xfrm>
            <a:off x="3319272" y="4389120"/>
            <a:ext cx="0" cy="731520"/>
          </a:xfrm>
          <a:prstGeom prst="line">
            <a:avLst/>
          </a:prstGeom>
          <a:noFill/>
          <a:ln w="6985">
            <a:solidFill>
              <a:srgbClr val="D6DEE8"/>
            </a:solidFill>
            <a:prstDash val="solid"/>
          </a:ln>
        </p:spPr>
      </p:sp>
      <p:sp>
        <p:nvSpPr>
          <p:cNvPr id="40" name="Text 38"/>
          <p:cNvSpPr/>
          <p:nvPr/>
        </p:nvSpPr>
        <p:spPr>
          <a:xfrm>
            <a:off x="3401568" y="4430268"/>
            <a:ext cx="3328416"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MAE baja ~15–19 % con Ridge</a:t>
            </a:r>
            <a:endParaRPr lang="en-US" sz="1330" dirty="0"/>
          </a:p>
        </p:txBody>
      </p:sp>
      <p:sp>
        <p:nvSpPr>
          <p:cNvPr id="41" name="Shape 39"/>
          <p:cNvSpPr/>
          <p:nvPr/>
        </p:nvSpPr>
        <p:spPr>
          <a:xfrm>
            <a:off x="6812280" y="4389120"/>
            <a:ext cx="0" cy="731520"/>
          </a:xfrm>
          <a:prstGeom prst="line">
            <a:avLst/>
          </a:prstGeom>
          <a:noFill/>
          <a:ln w="6985">
            <a:solidFill>
              <a:srgbClr val="D6DEE8"/>
            </a:solidFill>
            <a:prstDash val="solid"/>
          </a:ln>
        </p:spPr>
      </p:sp>
      <p:sp>
        <p:nvSpPr>
          <p:cNvPr id="42" name="Text 40"/>
          <p:cNvSpPr/>
          <p:nvPr/>
        </p:nvSpPr>
        <p:spPr>
          <a:xfrm>
            <a:off x="6894576" y="4430268"/>
            <a:ext cx="4480560"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Mejora respaldada en comparaciones reportadas</a:t>
            </a:r>
            <a:endParaRPr lang="en-US" sz="1330" dirty="0"/>
          </a:p>
        </p:txBody>
      </p:sp>
      <p:sp>
        <p:nvSpPr>
          <p:cNvPr id="43" name="Shape 41"/>
          <p:cNvSpPr/>
          <p:nvPr/>
        </p:nvSpPr>
        <p:spPr>
          <a:xfrm>
            <a:off x="713232" y="5120640"/>
            <a:ext cx="10744200" cy="0"/>
          </a:xfrm>
          <a:prstGeom prst="line">
            <a:avLst/>
          </a:prstGeom>
          <a:noFill/>
          <a:ln w="6985">
            <a:solidFill>
              <a:srgbClr val="D6DEE8"/>
            </a:solidFill>
            <a:prstDash val="solid"/>
          </a:ln>
        </p:spPr>
      </p:sp>
      <p:sp>
        <p:nvSpPr>
          <p:cNvPr id="44" name="Shape 42"/>
          <p:cNvSpPr/>
          <p:nvPr/>
        </p:nvSpPr>
        <p:spPr>
          <a:xfrm>
            <a:off x="713232" y="5120640"/>
            <a:ext cx="10744200" cy="731520"/>
          </a:xfrm>
          <a:prstGeom prst="rect">
            <a:avLst/>
          </a:prstGeom>
          <a:solidFill>
            <a:srgbClr val="FFFFFF"/>
          </a:solidFill>
          <a:ln w="12700">
            <a:solidFill>
              <a:srgbClr val="FFFFFF">
                <a:alpha val="0"/>
              </a:srgbClr>
            </a:solidFill>
            <a:prstDash val="solid"/>
          </a:ln>
        </p:spPr>
      </p:sp>
      <p:sp>
        <p:nvSpPr>
          <p:cNvPr id="45" name="Text 43"/>
          <p:cNvSpPr/>
          <p:nvPr/>
        </p:nvSpPr>
        <p:spPr>
          <a:xfrm>
            <a:off x="795528" y="5161788"/>
            <a:ext cx="2441448"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Pronóstico RSSI DL</a:t>
            </a:r>
            <a:endParaRPr lang="en-US" sz="1330" dirty="0"/>
          </a:p>
        </p:txBody>
      </p:sp>
      <p:sp>
        <p:nvSpPr>
          <p:cNvPr id="46" name="Shape 44"/>
          <p:cNvSpPr/>
          <p:nvPr/>
        </p:nvSpPr>
        <p:spPr>
          <a:xfrm>
            <a:off x="3319272" y="5120640"/>
            <a:ext cx="0" cy="731520"/>
          </a:xfrm>
          <a:prstGeom prst="line">
            <a:avLst/>
          </a:prstGeom>
          <a:noFill/>
          <a:ln w="6985">
            <a:solidFill>
              <a:srgbClr val="D6DEE8"/>
            </a:solidFill>
            <a:prstDash val="solid"/>
          </a:ln>
        </p:spPr>
      </p:sp>
      <p:sp>
        <p:nvSpPr>
          <p:cNvPr id="47" name="Text 45"/>
          <p:cNvSpPr/>
          <p:nvPr/>
        </p:nvSpPr>
        <p:spPr>
          <a:xfrm>
            <a:off x="3401568" y="5161788"/>
            <a:ext cx="3328416"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MAE no mejora; RMSE sí</a:t>
            </a:r>
            <a:endParaRPr lang="en-US" sz="1330" dirty="0"/>
          </a:p>
        </p:txBody>
      </p:sp>
      <p:sp>
        <p:nvSpPr>
          <p:cNvPr id="48" name="Shape 46"/>
          <p:cNvSpPr/>
          <p:nvPr/>
        </p:nvSpPr>
        <p:spPr>
          <a:xfrm>
            <a:off x="6812280" y="5120640"/>
            <a:ext cx="0" cy="731520"/>
          </a:xfrm>
          <a:prstGeom prst="line">
            <a:avLst/>
          </a:prstGeom>
          <a:noFill/>
          <a:ln w="6985">
            <a:solidFill>
              <a:srgbClr val="D6DEE8"/>
            </a:solidFill>
            <a:prstDash val="solid"/>
          </a:ln>
        </p:spPr>
      </p:sp>
      <p:sp>
        <p:nvSpPr>
          <p:cNvPr id="49" name="Text 47"/>
          <p:cNvSpPr/>
          <p:nvPr/>
        </p:nvSpPr>
        <p:spPr>
          <a:xfrm>
            <a:off x="6894576" y="5161788"/>
            <a:ext cx="4480560" cy="649224"/>
          </a:xfrm>
          <a:prstGeom prst="rect">
            <a:avLst/>
          </a:prstGeom>
          <a:noFill/>
          <a:ln/>
        </p:spPr>
        <p:txBody>
          <a:bodyPr wrap="square" lIns="0" tIns="0" rIns="0" bIns="0" rtlCol="0" anchor="ctr">
            <a:normAutofit/>
          </a:bodyPr>
          <a:lstStyle/>
          <a:p>
            <a:pPr algn="l" indent="0" marL="0">
              <a:buNone/>
            </a:pPr>
            <a:r>
              <a:rPr lang="en-US" sz="1330" dirty="0">
                <a:solidFill>
                  <a:srgbClr val="202B3C"/>
                </a:solidFill>
                <a:latin typeface="Aptos" pitchFamily="34" charset="0"/>
                <a:ea typeface="Aptos" pitchFamily="34" charset="-122"/>
                <a:cs typeface="Aptos" pitchFamily="34" charset="-120"/>
              </a:rPr>
              <a:t>Conclusión dependiente de la métrica</a:t>
            </a:r>
            <a:endParaRPr lang="en-US" sz="1330" dirty="0"/>
          </a:p>
        </p:txBody>
      </p:sp>
      <p:sp>
        <p:nvSpPr>
          <p:cNvPr id="50" name="Shape 48"/>
          <p:cNvSpPr/>
          <p:nvPr/>
        </p:nvSpPr>
        <p:spPr>
          <a:xfrm>
            <a:off x="713232" y="5852160"/>
            <a:ext cx="10744200" cy="0"/>
          </a:xfrm>
          <a:prstGeom prst="line">
            <a:avLst/>
          </a:prstGeom>
          <a:noFill/>
          <a:ln w="6985">
            <a:solidFill>
              <a:srgbClr val="D6DEE8"/>
            </a:solidFill>
            <a:prstDash val="solid"/>
          </a:ln>
        </p:spPr>
      </p:sp>
      <p:sp>
        <p:nvSpPr>
          <p:cNvPr id="51" name="Shape 49"/>
          <p:cNvSpPr/>
          <p:nvPr/>
        </p:nvSpPr>
        <p:spPr>
          <a:xfrm>
            <a:off x="740664" y="5961888"/>
            <a:ext cx="10689336" cy="374904"/>
          </a:xfrm>
          <a:prstGeom prst="roundRect">
            <a:avLst/>
          </a:prstGeom>
          <a:solidFill>
            <a:srgbClr val="E8F4F3"/>
          </a:solidFill>
          <a:ln w="12700">
            <a:solidFill>
              <a:srgbClr val="FFFFFF">
                <a:alpha val="0"/>
              </a:srgbClr>
            </a:solidFill>
            <a:prstDash val="solid"/>
          </a:ln>
        </p:spPr>
      </p:sp>
      <p:sp>
        <p:nvSpPr>
          <p:cNvPr id="52" name="Shape 50"/>
          <p:cNvSpPr/>
          <p:nvPr/>
        </p:nvSpPr>
        <p:spPr>
          <a:xfrm>
            <a:off x="740664" y="5961888"/>
            <a:ext cx="73152" cy="374904"/>
          </a:xfrm>
          <a:prstGeom prst="rect">
            <a:avLst/>
          </a:prstGeom>
          <a:solidFill>
            <a:srgbClr val="168B91"/>
          </a:solidFill>
          <a:ln w="12700">
            <a:solidFill>
              <a:srgbClr val="FFFFFF">
                <a:alpha val="0"/>
              </a:srgbClr>
            </a:solidFill>
            <a:prstDash val="solid"/>
          </a:ln>
        </p:spPr>
      </p:sp>
      <p:sp>
        <p:nvSpPr>
          <p:cNvPr id="53" name="Text 51"/>
          <p:cNvSpPr/>
          <p:nvPr/>
        </p:nvSpPr>
        <p:spPr>
          <a:xfrm>
            <a:off x="932688" y="6053328"/>
            <a:ext cx="10323576" cy="210312"/>
          </a:xfrm>
          <a:prstGeom prst="rect">
            <a:avLst/>
          </a:prstGeom>
          <a:noFill/>
          <a:ln/>
        </p:spPr>
        <p:txBody>
          <a:bodyPr wrap="square" lIns="0" tIns="0" rIns="0" bIns="0" rtlCol="0" anchor="ctr">
            <a:normAutofit/>
          </a:bodyPr>
          <a:lstStyle/>
          <a:p>
            <a:pPr algn="l" indent="0" marL="0">
              <a:buNone/>
            </a:pPr>
            <a:r>
              <a:rPr lang="en-US" sz="1340" b="1" dirty="0">
                <a:solidFill>
                  <a:srgbClr val="111E37"/>
                </a:solidFill>
                <a:latin typeface="Aptos" pitchFamily="34" charset="0"/>
                <a:ea typeface="Aptos" pitchFamily="34" charset="-122"/>
                <a:cs typeface="Aptos" pitchFamily="34" charset="-120"/>
              </a:rPr>
              <a:t>P3 contestada: los resultados identifican exactamente qué funciones aportan valor y cuáles requieren cautela.</a:t>
            </a:r>
            <a:endParaRPr lang="en-US" sz="13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OE4</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Alerta a 15 minutos: más degradaciones anticipadas, más falsas alertas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Evento evaluado: estado proxy futuro degradado o crítico.</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XIX y sección 4.4.</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28</a:t>
            </a:r>
            <a:endParaRPr lang="en-US" sz="1040" dirty="0"/>
          </a:p>
        </p:txBody>
      </p:sp>
      <p:sp>
        <p:nvSpPr>
          <p:cNvPr id="9" name="Text 7"/>
          <p:cNvSpPr/>
          <p:nvPr/>
        </p:nvSpPr>
        <p:spPr>
          <a:xfrm>
            <a:off x="731520" y="1645920"/>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RECALL DE CONDICIONES NO NORMALES (↑ MEJOR)</a:t>
            </a:r>
            <a:endParaRPr lang="en-US" sz="1100" dirty="0"/>
          </a:p>
        </p:txBody>
      </p:sp>
      <p:sp>
        <p:nvSpPr>
          <p:cNvPr id="10" name="Text 8"/>
          <p:cNvSpPr/>
          <p:nvPr/>
        </p:nvSpPr>
        <p:spPr>
          <a:xfrm>
            <a:off x="731520" y="2057400"/>
            <a:ext cx="2359152" cy="525780"/>
          </a:xfrm>
          <a:prstGeom prst="rect">
            <a:avLst/>
          </a:prstGeom>
          <a:noFill/>
          <a:ln/>
        </p:spPr>
        <p:txBody>
          <a:bodyPr wrap="square" lIns="0" tIns="0" rIns="0" bIns="0" rtlCol="0" anchor="ctr">
            <a:normAutofit/>
          </a:bodyPr>
          <a:lstStyle/>
          <a:p>
            <a:pPr algn="l" indent="0" marL="0">
              <a:buNone/>
            </a:pPr>
            <a:r>
              <a:rPr lang="en-US" sz="1400" dirty="0">
                <a:solidFill>
                  <a:srgbClr val="202B3C"/>
                </a:solidFill>
                <a:latin typeface="Aptos" pitchFamily="34" charset="0"/>
                <a:ea typeface="Aptos" pitchFamily="34" charset="-122"/>
                <a:cs typeface="Aptos" pitchFamily="34" charset="-120"/>
              </a:rPr>
              <a:t>Persistencia</a:t>
            </a:r>
            <a:endParaRPr lang="en-US" sz="1400" dirty="0"/>
          </a:p>
        </p:txBody>
      </p:sp>
      <p:sp>
        <p:nvSpPr>
          <p:cNvPr id="11" name="Shape 9"/>
          <p:cNvSpPr/>
          <p:nvPr/>
        </p:nvSpPr>
        <p:spPr>
          <a:xfrm>
            <a:off x="3154680" y="2167128"/>
            <a:ext cx="7415784" cy="201168"/>
          </a:xfrm>
          <a:prstGeom prst="rect">
            <a:avLst/>
          </a:prstGeom>
          <a:solidFill>
            <a:srgbClr val="E0E8F0"/>
          </a:solidFill>
          <a:ln w="12700">
            <a:solidFill>
              <a:srgbClr val="FFFFFF">
                <a:alpha val="0"/>
              </a:srgbClr>
            </a:solidFill>
            <a:prstDash val="solid"/>
          </a:ln>
        </p:spPr>
      </p:sp>
      <p:sp>
        <p:nvSpPr>
          <p:cNvPr id="12" name="Shape 10"/>
          <p:cNvSpPr/>
          <p:nvPr/>
        </p:nvSpPr>
        <p:spPr>
          <a:xfrm>
            <a:off x="3154680" y="2167128"/>
            <a:ext cx="4782507" cy="201168"/>
          </a:xfrm>
          <a:prstGeom prst="rect">
            <a:avLst/>
          </a:prstGeom>
          <a:solidFill>
            <a:srgbClr val="8792A4"/>
          </a:solidFill>
          <a:ln w="12700">
            <a:solidFill>
              <a:srgbClr val="FFFFFF">
                <a:alpha val="0"/>
              </a:srgbClr>
            </a:solidFill>
            <a:prstDash val="solid"/>
          </a:ln>
        </p:spPr>
      </p:sp>
      <p:sp>
        <p:nvSpPr>
          <p:cNvPr id="13" name="Text 11"/>
          <p:cNvSpPr/>
          <p:nvPr/>
        </p:nvSpPr>
        <p:spPr>
          <a:xfrm>
            <a:off x="10634472" y="2057400"/>
            <a:ext cx="566928" cy="525780"/>
          </a:xfrm>
          <a:prstGeom prst="rect">
            <a:avLst/>
          </a:prstGeom>
          <a:noFill/>
          <a:ln/>
        </p:spPr>
        <p:txBody>
          <a:bodyPr wrap="square" lIns="0" tIns="0" rIns="0" bIns="0" rtlCol="0" anchor="ctr">
            <a:normAutofit/>
          </a:bodyPr>
          <a:lstStyle/>
          <a:p>
            <a:pPr algn="r" indent="0" marL="0">
              <a:buNone/>
            </a:pPr>
            <a:r>
              <a:rPr lang="en-US" sz="1400" b="1" dirty="0">
                <a:solidFill>
                  <a:srgbClr val="111E37"/>
                </a:solidFill>
                <a:latin typeface="Aptos" pitchFamily="34" charset="0"/>
                <a:ea typeface="Aptos" pitchFamily="34" charset="-122"/>
                <a:cs typeface="Aptos" pitchFamily="34" charset="-120"/>
              </a:rPr>
              <a:t>35.47 %</a:t>
            </a:r>
            <a:endParaRPr lang="en-US" sz="1400" dirty="0"/>
          </a:p>
        </p:txBody>
      </p:sp>
      <p:sp>
        <p:nvSpPr>
          <p:cNvPr id="14" name="Text 12"/>
          <p:cNvSpPr/>
          <p:nvPr/>
        </p:nvSpPr>
        <p:spPr>
          <a:xfrm>
            <a:off x="731520" y="2674620"/>
            <a:ext cx="2359152" cy="525780"/>
          </a:xfrm>
          <a:prstGeom prst="rect">
            <a:avLst/>
          </a:prstGeom>
          <a:noFill/>
          <a:ln/>
        </p:spPr>
        <p:txBody>
          <a:bodyPr wrap="square" lIns="0" tIns="0" rIns="0" bIns="0" rtlCol="0" anchor="ctr">
            <a:normAutofit/>
          </a:bodyPr>
          <a:lstStyle/>
          <a:p>
            <a:pPr algn="l" indent="0" marL="0">
              <a:buNone/>
            </a:pPr>
            <a:r>
              <a:rPr lang="en-US" sz="1400" dirty="0">
                <a:solidFill>
                  <a:srgbClr val="202B3C"/>
                </a:solidFill>
                <a:latin typeface="Aptos" pitchFamily="34" charset="0"/>
                <a:ea typeface="Aptos" pitchFamily="34" charset="-122"/>
                <a:cs typeface="Aptos" pitchFamily="34" charset="-120"/>
              </a:rPr>
              <a:t>HGB</a:t>
            </a:r>
            <a:endParaRPr lang="en-US" sz="1400" dirty="0"/>
          </a:p>
        </p:txBody>
      </p:sp>
      <p:sp>
        <p:nvSpPr>
          <p:cNvPr id="15" name="Shape 13"/>
          <p:cNvSpPr/>
          <p:nvPr/>
        </p:nvSpPr>
        <p:spPr>
          <a:xfrm>
            <a:off x="3154680" y="2784348"/>
            <a:ext cx="7415784" cy="201168"/>
          </a:xfrm>
          <a:prstGeom prst="rect">
            <a:avLst/>
          </a:prstGeom>
          <a:solidFill>
            <a:srgbClr val="E0E8F0"/>
          </a:solidFill>
          <a:ln w="12700">
            <a:solidFill>
              <a:srgbClr val="FFFFFF">
                <a:alpha val="0"/>
              </a:srgbClr>
            </a:solidFill>
            <a:prstDash val="solid"/>
          </a:ln>
        </p:spPr>
      </p:sp>
      <p:sp>
        <p:nvSpPr>
          <p:cNvPr id="16" name="Shape 14"/>
          <p:cNvSpPr/>
          <p:nvPr/>
        </p:nvSpPr>
        <p:spPr>
          <a:xfrm>
            <a:off x="3154680" y="2784348"/>
            <a:ext cx="6298023" cy="201168"/>
          </a:xfrm>
          <a:prstGeom prst="rect">
            <a:avLst/>
          </a:prstGeom>
          <a:solidFill>
            <a:srgbClr val="168B91"/>
          </a:solidFill>
          <a:ln w="12700">
            <a:solidFill>
              <a:srgbClr val="FFFFFF">
                <a:alpha val="0"/>
              </a:srgbClr>
            </a:solidFill>
            <a:prstDash val="solid"/>
          </a:ln>
        </p:spPr>
      </p:sp>
      <p:sp>
        <p:nvSpPr>
          <p:cNvPr id="17" name="Text 15"/>
          <p:cNvSpPr/>
          <p:nvPr/>
        </p:nvSpPr>
        <p:spPr>
          <a:xfrm>
            <a:off x="10634472" y="2674620"/>
            <a:ext cx="566928" cy="525780"/>
          </a:xfrm>
          <a:prstGeom prst="rect">
            <a:avLst/>
          </a:prstGeom>
          <a:noFill/>
          <a:ln/>
        </p:spPr>
        <p:txBody>
          <a:bodyPr wrap="square" lIns="0" tIns="0" rIns="0" bIns="0" rtlCol="0" anchor="ctr">
            <a:normAutofit/>
          </a:bodyPr>
          <a:lstStyle/>
          <a:p>
            <a:pPr algn="r" indent="0" marL="0">
              <a:buNone/>
            </a:pPr>
            <a:r>
              <a:rPr lang="en-US" sz="1400" b="1" dirty="0">
                <a:solidFill>
                  <a:srgbClr val="111E37"/>
                </a:solidFill>
                <a:latin typeface="Aptos" pitchFamily="34" charset="0"/>
                <a:ea typeface="Aptos" pitchFamily="34" charset="-122"/>
                <a:cs typeface="Aptos" pitchFamily="34" charset="-120"/>
              </a:rPr>
              <a:t>46.71 %</a:t>
            </a:r>
            <a:endParaRPr lang="en-US" sz="1400" dirty="0"/>
          </a:p>
        </p:txBody>
      </p:sp>
      <p:sp>
        <p:nvSpPr>
          <p:cNvPr id="18" name="Text 16"/>
          <p:cNvSpPr/>
          <p:nvPr/>
        </p:nvSpPr>
        <p:spPr>
          <a:xfrm>
            <a:off x="731520" y="3511296"/>
            <a:ext cx="10515600" cy="228600"/>
          </a:xfrm>
          <a:prstGeom prst="rect">
            <a:avLst/>
          </a:prstGeom>
          <a:noFill/>
          <a:ln/>
        </p:spPr>
        <p:txBody>
          <a:bodyPr wrap="square" lIns="0" tIns="0" rIns="0" bIns="0" rtlCol="0" anchor="ctr">
            <a:normAutofit/>
          </a:bodyPr>
          <a:lstStyle/>
          <a:p>
            <a:pPr algn="l" indent="0" marL="0">
              <a:buNone/>
            </a:pPr>
            <a:r>
              <a:rPr lang="en-US" sz="1100" b="1" spc="100" kern="0" dirty="0">
                <a:solidFill>
                  <a:srgbClr val="64748B"/>
                </a:solidFill>
                <a:latin typeface="Aptos" pitchFamily="34" charset="0"/>
                <a:ea typeface="Aptos" pitchFamily="34" charset="-122"/>
                <a:cs typeface="Aptos" pitchFamily="34" charset="-120"/>
              </a:rPr>
              <a:t>TASA DE FALSAS ALERTAS (↓ MEJOR)</a:t>
            </a:r>
            <a:endParaRPr lang="en-US" sz="1100" dirty="0"/>
          </a:p>
        </p:txBody>
      </p:sp>
      <p:sp>
        <p:nvSpPr>
          <p:cNvPr id="19" name="Text 17"/>
          <p:cNvSpPr/>
          <p:nvPr/>
        </p:nvSpPr>
        <p:spPr>
          <a:xfrm>
            <a:off x="731520" y="3877056"/>
            <a:ext cx="2359152" cy="507492"/>
          </a:xfrm>
          <a:prstGeom prst="rect">
            <a:avLst/>
          </a:prstGeom>
          <a:noFill/>
          <a:ln/>
        </p:spPr>
        <p:txBody>
          <a:bodyPr wrap="square" lIns="0" tIns="0" rIns="0" bIns="0" rtlCol="0" anchor="ctr">
            <a:normAutofit/>
          </a:bodyPr>
          <a:lstStyle/>
          <a:p>
            <a:pPr algn="l" indent="0" marL="0">
              <a:buNone/>
            </a:pPr>
            <a:r>
              <a:rPr lang="en-US" sz="1400" dirty="0">
                <a:solidFill>
                  <a:srgbClr val="202B3C"/>
                </a:solidFill>
                <a:latin typeface="Aptos" pitchFamily="34" charset="0"/>
                <a:ea typeface="Aptos" pitchFamily="34" charset="-122"/>
                <a:cs typeface="Aptos" pitchFamily="34" charset="-120"/>
              </a:rPr>
              <a:t>Persistencia</a:t>
            </a:r>
            <a:endParaRPr lang="en-US" sz="1400" dirty="0"/>
          </a:p>
        </p:txBody>
      </p:sp>
      <p:sp>
        <p:nvSpPr>
          <p:cNvPr id="20" name="Shape 18"/>
          <p:cNvSpPr/>
          <p:nvPr/>
        </p:nvSpPr>
        <p:spPr>
          <a:xfrm>
            <a:off x="3154680" y="3986784"/>
            <a:ext cx="7415784" cy="201168"/>
          </a:xfrm>
          <a:prstGeom prst="rect">
            <a:avLst/>
          </a:prstGeom>
          <a:solidFill>
            <a:srgbClr val="E0E8F0"/>
          </a:solidFill>
          <a:ln w="12700">
            <a:solidFill>
              <a:srgbClr val="FFFFFF">
                <a:alpha val="0"/>
              </a:srgbClr>
            </a:solidFill>
            <a:prstDash val="solid"/>
          </a:ln>
        </p:spPr>
      </p:sp>
      <p:sp>
        <p:nvSpPr>
          <p:cNvPr id="21" name="Shape 19"/>
          <p:cNvSpPr/>
          <p:nvPr/>
        </p:nvSpPr>
        <p:spPr>
          <a:xfrm>
            <a:off x="3154680" y="3986784"/>
            <a:ext cx="3479714" cy="201168"/>
          </a:xfrm>
          <a:prstGeom prst="rect">
            <a:avLst/>
          </a:prstGeom>
          <a:solidFill>
            <a:srgbClr val="2861A1"/>
          </a:solidFill>
          <a:ln w="12700">
            <a:solidFill>
              <a:srgbClr val="FFFFFF">
                <a:alpha val="0"/>
              </a:srgbClr>
            </a:solidFill>
            <a:prstDash val="solid"/>
          </a:ln>
        </p:spPr>
      </p:sp>
      <p:sp>
        <p:nvSpPr>
          <p:cNvPr id="22" name="Text 20"/>
          <p:cNvSpPr/>
          <p:nvPr/>
        </p:nvSpPr>
        <p:spPr>
          <a:xfrm>
            <a:off x="10634472" y="3877056"/>
            <a:ext cx="566928" cy="507492"/>
          </a:xfrm>
          <a:prstGeom prst="rect">
            <a:avLst/>
          </a:prstGeom>
          <a:noFill/>
          <a:ln/>
        </p:spPr>
        <p:txBody>
          <a:bodyPr wrap="square" lIns="0" tIns="0" rIns="0" bIns="0" rtlCol="0" anchor="ctr">
            <a:normAutofit/>
          </a:bodyPr>
          <a:lstStyle/>
          <a:p>
            <a:pPr algn="r" indent="0" marL="0">
              <a:buNone/>
            </a:pPr>
            <a:r>
              <a:rPr lang="en-US" sz="1400" b="1" dirty="0">
                <a:solidFill>
                  <a:srgbClr val="111E37"/>
                </a:solidFill>
                <a:latin typeface="Aptos" pitchFamily="34" charset="0"/>
                <a:ea typeface="Aptos" pitchFamily="34" charset="-122"/>
                <a:cs typeface="Aptos" pitchFamily="34" charset="-120"/>
              </a:rPr>
              <a:t>6.10 %</a:t>
            </a:r>
            <a:endParaRPr lang="en-US" sz="1400" dirty="0"/>
          </a:p>
        </p:txBody>
      </p:sp>
      <p:sp>
        <p:nvSpPr>
          <p:cNvPr id="23" name="Text 21"/>
          <p:cNvSpPr/>
          <p:nvPr/>
        </p:nvSpPr>
        <p:spPr>
          <a:xfrm>
            <a:off x="731520" y="4475988"/>
            <a:ext cx="2359152" cy="507492"/>
          </a:xfrm>
          <a:prstGeom prst="rect">
            <a:avLst/>
          </a:prstGeom>
          <a:noFill/>
          <a:ln/>
        </p:spPr>
        <p:txBody>
          <a:bodyPr wrap="square" lIns="0" tIns="0" rIns="0" bIns="0" rtlCol="0" anchor="ctr">
            <a:normAutofit/>
          </a:bodyPr>
          <a:lstStyle/>
          <a:p>
            <a:pPr algn="l" indent="0" marL="0">
              <a:buNone/>
            </a:pPr>
            <a:r>
              <a:rPr lang="en-US" sz="1400" dirty="0">
                <a:solidFill>
                  <a:srgbClr val="202B3C"/>
                </a:solidFill>
                <a:latin typeface="Aptos" pitchFamily="34" charset="0"/>
                <a:ea typeface="Aptos" pitchFamily="34" charset="-122"/>
                <a:cs typeface="Aptos" pitchFamily="34" charset="-120"/>
              </a:rPr>
              <a:t>HGB</a:t>
            </a:r>
            <a:endParaRPr lang="en-US" sz="1400" dirty="0"/>
          </a:p>
        </p:txBody>
      </p:sp>
      <p:sp>
        <p:nvSpPr>
          <p:cNvPr id="24" name="Shape 22"/>
          <p:cNvSpPr/>
          <p:nvPr/>
        </p:nvSpPr>
        <p:spPr>
          <a:xfrm>
            <a:off x="3154680" y="4585716"/>
            <a:ext cx="7415784" cy="201168"/>
          </a:xfrm>
          <a:prstGeom prst="rect">
            <a:avLst/>
          </a:prstGeom>
          <a:solidFill>
            <a:srgbClr val="E0E8F0"/>
          </a:solidFill>
          <a:ln w="12700">
            <a:solidFill>
              <a:srgbClr val="FFFFFF">
                <a:alpha val="0"/>
              </a:srgbClr>
            </a:solidFill>
            <a:prstDash val="solid"/>
          </a:ln>
        </p:spPr>
      </p:sp>
      <p:sp>
        <p:nvSpPr>
          <p:cNvPr id="25" name="Shape 23"/>
          <p:cNvSpPr/>
          <p:nvPr/>
        </p:nvSpPr>
        <p:spPr>
          <a:xfrm>
            <a:off x="3154680" y="4585716"/>
            <a:ext cx="6132283" cy="201168"/>
          </a:xfrm>
          <a:prstGeom prst="rect">
            <a:avLst/>
          </a:prstGeom>
          <a:solidFill>
            <a:srgbClr val="CB6D60"/>
          </a:solidFill>
          <a:ln w="12700">
            <a:solidFill>
              <a:srgbClr val="FFFFFF">
                <a:alpha val="0"/>
              </a:srgbClr>
            </a:solidFill>
            <a:prstDash val="solid"/>
          </a:ln>
        </p:spPr>
      </p:sp>
      <p:sp>
        <p:nvSpPr>
          <p:cNvPr id="26" name="Text 24"/>
          <p:cNvSpPr/>
          <p:nvPr/>
        </p:nvSpPr>
        <p:spPr>
          <a:xfrm>
            <a:off x="10634472" y="4475988"/>
            <a:ext cx="566928" cy="507492"/>
          </a:xfrm>
          <a:prstGeom prst="rect">
            <a:avLst/>
          </a:prstGeom>
          <a:noFill/>
          <a:ln/>
        </p:spPr>
        <p:txBody>
          <a:bodyPr wrap="square" lIns="0" tIns="0" rIns="0" bIns="0" rtlCol="0" anchor="ctr">
            <a:normAutofit/>
          </a:bodyPr>
          <a:lstStyle/>
          <a:p>
            <a:pPr algn="r" indent="0" marL="0">
              <a:buNone/>
            </a:pPr>
            <a:r>
              <a:rPr lang="en-US" sz="1400" b="1" dirty="0">
                <a:solidFill>
                  <a:srgbClr val="111E37"/>
                </a:solidFill>
                <a:latin typeface="Aptos" pitchFamily="34" charset="0"/>
                <a:ea typeface="Aptos" pitchFamily="34" charset="-122"/>
                <a:cs typeface="Aptos" pitchFamily="34" charset="-120"/>
              </a:rPr>
              <a:t>10.75 %</a:t>
            </a:r>
            <a:endParaRPr lang="en-US" sz="1400" dirty="0"/>
          </a:p>
        </p:txBody>
      </p:sp>
      <p:sp>
        <p:nvSpPr>
          <p:cNvPr id="27" name="Shape 25"/>
          <p:cNvSpPr/>
          <p:nvPr/>
        </p:nvSpPr>
        <p:spPr>
          <a:xfrm>
            <a:off x="758952" y="5504688"/>
            <a:ext cx="10625328" cy="676656"/>
          </a:xfrm>
          <a:prstGeom prst="roundRect">
            <a:avLst/>
          </a:prstGeom>
          <a:solidFill>
            <a:srgbClr val="FFF6E7"/>
          </a:solidFill>
          <a:ln w="12700">
            <a:solidFill>
              <a:srgbClr val="FFFFFF">
                <a:alpha val="0"/>
              </a:srgbClr>
            </a:solidFill>
            <a:prstDash val="solid"/>
          </a:ln>
        </p:spPr>
      </p:sp>
      <p:sp>
        <p:nvSpPr>
          <p:cNvPr id="28" name="Shape 26"/>
          <p:cNvSpPr/>
          <p:nvPr/>
        </p:nvSpPr>
        <p:spPr>
          <a:xfrm>
            <a:off x="758952" y="5504688"/>
            <a:ext cx="73152" cy="676656"/>
          </a:xfrm>
          <a:prstGeom prst="rect">
            <a:avLst/>
          </a:prstGeom>
          <a:solidFill>
            <a:srgbClr val="E7B755"/>
          </a:solidFill>
          <a:ln w="12700">
            <a:solidFill>
              <a:srgbClr val="FFFFFF">
                <a:alpha val="0"/>
              </a:srgbClr>
            </a:solidFill>
            <a:prstDash val="solid"/>
          </a:ln>
        </p:spPr>
      </p:sp>
      <p:sp>
        <p:nvSpPr>
          <p:cNvPr id="29" name="Text 27"/>
          <p:cNvSpPr/>
          <p:nvPr/>
        </p:nvSpPr>
        <p:spPr>
          <a:xfrm>
            <a:off x="950976" y="5596128"/>
            <a:ext cx="10259568" cy="512064"/>
          </a:xfrm>
          <a:prstGeom prst="rect">
            <a:avLst/>
          </a:prstGeom>
          <a:noFill/>
          <a:ln/>
        </p:spPr>
        <p:txBody>
          <a:bodyPr wrap="square" lIns="0" tIns="0" rIns="0" bIns="0" rtlCol="0" anchor="ctr">
            <a:normAutofit/>
          </a:bodyPr>
          <a:lstStyle/>
          <a:p>
            <a:pPr algn="l" indent="0" marL="0">
              <a:buNone/>
            </a:pPr>
            <a:r>
              <a:rPr lang="en-US" sz="1530" b="1" dirty="0">
                <a:solidFill>
                  <a:srgbClr val="111E37"/>
                </a:solidFill>
                <a:latin typeface="Aptos" pitchFamily="34" charset="0"/>
                <a:ea typeface="Aptos" pitchFamily="34" charset="-122"/>
                <a:cs typeface="Aptos" pitchFamily="34" charset="-120"/>
              </a:rPr>
              <a:t>723 vs 549 degradaciones anticipadas: +174 detecciones, pero +754 falsas alertas (1 742 vs 988).</a:t>
            </a:r>
            <a:endParaRPr lang="en-US" sz="15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RESULTADOS · OE4</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Explicabilidad: ¿qué indicadores sustentan el diagnóstico?</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Importancia por permutación: disminución del F1-macro al alterar cada característica.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XX y sección 4.4.1.</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29</a:t>
            </a:r>
            <a:endParaRPr lang="en-US" sz="1040" dirty="0"/>
          </a:p>
        </p:txBody>
      </p:sp>
      <p:sp>
        <p:nvSpPr>
          <p:cNvPr id="9" name="Text 7"/>
          <p:cNvSpPr/>
          <p:nvPr/>
        </p:nvSpPr>
        <p:spPr>
          <a:xfrm>
            <a:off x="758952" y="1828800"/>
            <a:ext cx="3813048" cy="539496"/>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SNR DL actual</a:t>
            </a:r>
            <a:endParaRPr lang="en-US" sz="1350" dirty="0"/>
          </a:p>
        </p:txBody>
      </p:sp>
      <p:sp>
        <p:nvSpPr>
          <p:cNvPr id="10" name="Shape 8"/>
          <p:cNvSpPr/>
          <p:nvPr/>
        </p:nvSpPr>
        <p:spPr>
          <a:xfrm>
            <a:off x="4636008" y="1938528"/>
            <a:ext cx="6108192" cy="201168"/>
          </a:xfrm>
          <a:prstGeom prst="rect">
            <a:avLst/>
          </a:prstGeom>
          <a:solidFill>
            <a:srgbClr val="E0E8F0"/>
          </a:solidFill>
          <a:ln w="12700">
            <a:solidFill>
              <a:srgbClr val="FFFFFF">
                <a:alpha val="0"/>
              </a:srgbClr>
            </a:solidFill>
            <a:prstDash val="solid"/>
          </a:ln>
        </p:spPr>
      </p:sp>
      <p:sp>
        <p:nvSpPr>
          <p:cNvPr id="11" name="Shape 9"/>
          <p:cNvSpPr/>
          <p:nvPr/>
        </p:nvSpPr>
        <p:spPr>
          <a:xfrm>
            <a:off x="4636008" y="1938528"/>
            <a:ext cx="5581948" cy="201168"/>
          </a:xfrm>
          <a:prstGeom prst="rect">
            <a:avLst/>
          </a:prstGeom>
          <a:solidFill>
            <a:srgbClr val="168B91"/>
          </a:solidFill>
          <a:ln w="12700">
            <a:solidFill>
              <a:srgbClr val="FFFFFF">
                <a:alpha val="0"/>
              </a:srgbClr>
            </a:solidFill>
            <a:prstDash val="solid"/>
          </a:ln>
        </p:spPr>
      </p:sp>
      <p:sp>
        <p:nvSpPr>
          <p:cNvPr id="12" name="Text 10"/>
          <p:cNvSpPr/>
          <p:nvPr/>
        </p:nvSpPr>
        <p:spPr>
          <a:xfrm>
            <a:off x="10808208" y="1828800"/>
            <a:ext cx="566928" cy="539496"/>
          </a:xfrm>
          <a:prstGeom prst="rect">
            <a:avLst/>
          </a:prstGeom>
          <a:noFill/>
          <a:ln/>
        </p:spPr>
        <p:txBody>
          <a:bodyPr wrap="square" lIns="0" tIns="0" rIns="0" bIns="0" rtlCol="0" anchor="ctr">
            <a:normAutofit/>
          </a:bodyPr>
          <a:lstStyle/>
          <a:p>
            <a:pPr algn="r" indent="0" marL="0">
              <a:buNone/>
            </a:pPr>
            <a:r>
              <a:rPr lang="en-US" sz="1350" b="1" dirty="0">
                <a:solidFill>
                  <a:srgbClr val="111E37"/>
                </a:solidFill>
                <a:latin typeface="Aptos" pitchFamily="34" charset="0"/>
                <a:ea typeface="Aptos" pitchFamily="34" charset="-122"/>
                <a:cs typeface="Aptos" pitchFamily="34" charset="-120"/>
              </a:rPr>
              <a:t>0.1782</a:t>
            </a:r>
            <a:endParaRPr lang="en-US" sz="1350" dirty="0"/>
          </a:p>
        </p:txBody>
      </p:sp>
      <p:sp>
        <p:nvSpPr>
          <p:cNvPr id="13" name="Text 11"/>
          <p:cNvSpPr/>
          <p:nvPr/>
        </p:nvSpPr>
        <p:spPr>
          <a:xfrm>
            <a:off x="758952" y="2459736"/>
            <a:ext cx="3813048" cy="539496"/>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Desv. tasa DL (60 min)</a:t>
            </a:r>
            <a:endParaRPr lang="en-US" sz="1350" dirty="0"/>
          </a:p>
        </p:txBody>
      </p:sp>
      <p:sp>
        <p:nvSpPr>
          <p:cNvPr id="14" name="Shape 12"/>
          <p:cNvSpPr/>
          <p:nvPr/>
        </p:nvSpPr>
        <p:spPr>
          <a:xfrm>
            <a:off x="4636008" y="2569464"/>
            <a:ext cx="6108192" cy="201168"/>
          </a:xfrm>
          <a:prstGeom prst="rect">
            <a:avLst/>
          </a:prstGeom>
          <a:solidFill>
            <a:srgbClr val="E0E8F0"/>
          </a:solidFill>
          <a:ln w="12700">
            <a:solidFill>
              <a:srgbClr val="FFFFFF">
                <a:alpha val="0"/>
              </a:srgbClr>
            </a:solidFill>
            <a:prstDash val="solid"/>
          </a:ln>
        </p:spPr>
      </p:sp>
      <p:sp>
        <p:nvSpPr>
          <p:cNvPr id="15" name="Shape 13"/>
          <p:cNvSpPr/>
          <p:nvPr/>
        </p:nvSpPr>
        <p:spPr>
          <a:xfrm>
            <a:off x="4636008" y="2569464"/>
            <a:ext cx="529377" cy="201168"/>
          </a:xfrm>
          <a:prstGeom prst="rect">
            <a:avLst/>
          </a:prstGeom>
          <a:solidFill>
            <a:srgbClr val="2861A1"/>
          </a:solidFill>
          <a:ln w="12700">
            <a:solidFill>
              <a:srgbClr val="FFFFFF">
                <a:alpha val="0"/>
              </a:srgbClr>
            </a:solidFill>
            <a:prstDash val="solid"/>
          </a:ln>
        </p:spPr>
      </p:sp>
      <p:sp>
        <p:nvSpPr>
          <p:cNvPr id="16" name="Text 14"/>
          <p:cNvSpPr/>
          <p:nvPr/>
        </p:nvSpPr>
        <p:spPr>
          <a:xfrm>
            <a:off x="10808208" y="2459736"/>
            <a:ext cx="566928" cy="539496"/>
          </a:xfrm>
          <a:prstGeom prst="rect">
            <a:avLst/>
          </a:prstGeom>
          <a:noFill/>
          <a:ln/>
        </p:spPr>
        <p:txBody>
          <a:bodyPr wrap="square" lIns="0" tIns="0" rIns="0" bIns="0" rtlCol="0" anchor="ctr">
            <a:normAutofit/>
          </a:bodyPr>
          <a:lstStyle/>
          <a:p>
            <a:pPr algn="r" indent="0" marL="0">
              <a:buNone/>
            </a:pPr>
            <a:r>
              <a:rPr lang="en-US" sz="1350" b="1" dirty="0">
                <a:solidFill>
                  <a:srgbClr val="111E37"/>
                </a:solidFill>
                <a:latin typeface="Aptos" pitchFamily="34" charset="0"/>
                <a:ea typeface="Aptos" pitchFamily="34" charset="-122"/>
                <a:cs typeface="Aptos" pitchFamily="34" charset="-120"/>
              </a:rPr>
              <a:t>0.0169</a:t>
            </a:r>
            <a:endParaRPr lang="en-US" sz="1350" dirty="0"/>
          </a:p>
        </p:txBody>
      </p:sp>
      <p:sp>
        <p:nvSpPr>
          <p:cNvPr id="17" name="Text 15"/>
          <p:cNvSpPr/>
          <p:nvPr/>
        </p:nvSpPr>
        <p:spPr>
          <a:xfrm>
            <a:off x="758952" y="3090672"/>
            <a:ext cx="3813048" cy="539496"/>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RSSI DL actual</a:t>
            </a:r>
            <a:endParaRPr lang="en-US" sz="1350" dirty="0"/>
          </a:p>
        </p:txBody>
      </p:sp>
      <p:sp>
        <p:nvSpPr>
          <p:cNvPr id="18" name="Shape 16"/>
          <p:cNvSpPr/>
          <p:nvPr/>
        </p:nvSpPr>
        <p:spPr>
          <a:xfrm>
            <a:off x="4636008" y="3200400"/>
            <a:ext cx="6108192" cy="201168"/>
          </a:xfrm>
          <a:prstGeom prst="rect">
            <a:avLst/>
          </a:prstGeom>
          <a:solidFill>
            <a:srgbClr val="E0E8F0"/>
          </a:solidFill>
          <a:ln w="12700">
            <a:solidFill>
              <a:srgbClr val="FFFFFF">
                <a:alpha val="0"/>
              </a:srgbClr>
            </a:solidFill>
            <a:prstDash val="solid"/>
          </a:ln>
        </p:spPr>
      </p:sp>
      <p:sp>
        <p:nvSpPr>
          <p:cNvPr id="19" name="Shape 17"/>
          <p:cNvSpPr/>
          <p:nvPr/>
        </p:nvSpPr>
        <p:spPr>
          <a:xfrm>
            <a:off x="4636008" y="3200400"/>
            <a:ext cx="410345" cy="201168"/>
          </a:xfrm>
          <a:prstGeom prst="rect">
            <a:avLst/>
          </a:prstGeom>
          <a:solidFill>
            <a:srgbClr val="2861A1"/>
          </a:solidFill>
          <a:ln w="12700">
            <a:solidFill>
              <a:srgbClr val="FFFFFF">
                <a:alpha val="0"/>
              </a:srgbClr>
            </a:solidFill>
            <a:prstDash val="solid"/>
          </a:ln>
        </p:spPr>
      </p:sp>
      <p:sp>
        <p:nvSpPr>
          <p:cNvPr id="20" name="Text 18"/>
          <p:cNvSpPr/>
          <p:nvPr/>
        </p:nvSpPr>
        <p:spPr>
          <a:xfrm>
            <a:off x="10808208" y="3090672"/>
            <a:ext cx="566928" cy="539496"/>
          </a:xfrm>
          <a:prstGeom prst="rect">
            <a:avLst/>
          </a:prstGeom>
          <a:noFill/>
          <a:ln/>
        </p:spPr>
        <p:txBody>
          <a:bodyPr wrap="square" lIns="0" tIns="0" rIns="0" bIns="0" rtlCol="0" anchor="ctr">
            <a:normAutofit/>
          </a:bodyPr>
          <a:lstStyle/>
          <a:p>
            <a:pPr algn="r" indent="0" marL="0">
              <a:buNone/>
            </a:pPr>
            <a:r>
              <a:rPr lang="en-US" sz="1350" b="1" dirty="0">
                <a:solidFill>
                  <a:srgbClr val="111E37"/>
                </a:solidFill>
                <a:latin typeface="Aptos" pitchFamily="34" charset="0"/>
                <a:ea typeface="Aptos" pitchFamily="34" charset="-122"/>
                <a:cs typeface="Aptos" pitchFamily="34" charset="-120"/>
              </a:rPr>
              <a:t>0.0131</a:t>
            </a:r>
            <a:endParaRPr lang="en-US" sz="1350" dirty="0"/>
          </a:p>
        </p:txBody>
      </p:sp>
      <p:sp>
        <p:nvSpPr>
          <p:cNvPr id="21" name="Text 19"/>
          <p:cNvSpPr/>
          <p:nvPr/>
        </p:nvSpPr>
        <p:spPr>
          <a:xfrm>
            <a:off x="758952" y="3721608"/>
            <a:ext cx="3813048" cy="539496"/>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Media MCS UL (60 min)</a:t>
            </a:r>
            <a:endParaRPr lang="en-US" sz="1350" dirty="0"/>
          </a:p>
        </p:txBody>
      </p:sp>
      <p:sp>
        <p:nvSpPr>
          <p:cNvPr id="22" name="Shape 20"/>
          <p:cNvSpPr/>
          <p:nvPr/>
        </p:nvSpPr>
        <p:spPr>
          <a:xfrm>
            <a:off x="4636008" y="3831336"/>
            <a:ext cx="6108192" cy="201168"/>
          </a:xfrm>
          <a:prstGeom prst="rect">
            <a:avLst/>
          </a:prstGeom>
          <a:solidFill>
            <a:srgbClr val="E0E8F0"/>
          </a:solidFill>
          <a:ln w="12700">
            <a:solidFill>
              <a:srgbClr val="FFFFFF">
                <a:alpha val="0"/>
              </a:srgbClr>
            </a:solidFill>
            <a:prstDash val="solid"/>
          </a:ln>
        </p:spPr>
      </p:sp>
      <p:sp>
        <p:nvSpPr>
          <p:cNvPr id="23" name="Shape 21"/>
          <p:cNvSpPr/>
          <p:nvPr/>
        </p:nvSpPr>
        <p:spPr>
          <a:xfrm>
            <a:off x="4636008" y="3831336"/>
            <a:ext cx="253725" cy="201168"/>
          </a:xfrm>
          <a:prstGeom prst="rect">
            <a:avLst/>
          </a:prstGeom>
          <a:solidFill>
            <a:srgbClr val="8792A4"/>
          </a:solidFill>
          <a:ln w="12700">
            <a:solidFill>
              <a:srgbClr val="FFFFFF">
                <a:alpha val="0"/>
              </a:srgbClr>
            </a:solidFill>
            <a:prstDash val="solid"/>
          </a:ln>
        </p:spPr>
      </p:sp>
      <p:sp>
        <p:nvSpPr>
          <p:cNvPr id="24" name="Text 22"/>
          <p:cNvSpPr/>
          <p:nvPr/>
        </p:nvSpPr>
        <p:spPr>
          <a:xfrm>
            <a:off x="10808208" y="3721608"/>
            <a:ext cx="566928" cy="539496"/>
          </a:xfrm>
          <a:prstGeom prst="rect">
            <a:avLst/>
          </a:prstGeom>
          <a:noFill/>
          <a:ln/>
        </p:spPr>
        <p:txBody>
          <a:bodyPr wrap="square" lIns="0" tIns="0" rIns="0" bIns="0" rtlCol="0" anchor="ctr">
            <a:normAutofit/>
          </a:bodyPr>
          <a:lstStyle/>
          <a:p>
            <a:pPr algn="r" indent="0" marL="0">
              <a:buNone/>
            </a:pPr>
            <a:r>
              <a:rPr lang="en-US" sz="1350" b="1" dirty="0">
                <a:solidFill>
                  <a:srgbClr val="111E37"/>
                </a:solidFill>
                <a:latin typeface="Aptos" pitchFamily="34" charset="0"/>
                <a:ea typeface="Aptos" pitchFamily="34" charset="-122"/>
                <a:cs typeface="Aptos" pitchFamily="34" charset="-120"/>
              </a:rPr>
              <a:t>0.0081</a:t>
            </a:r>
            <a:endParaRPr lang="en-US" sz="1350" dirty="0"/>
          </a:p>
        </p:txBody>
      </p:sp>
      <p:sp>
        <p:nvSpPr>
          <p:cNvPr id="25" name="Text 23"/>
          <p:cNvSpPr/>
          <p:nvPr/>
        </p:nvSpPr>
        <p:spPr>
          <a:xfrm>
            <a:off x="758952" y="4352544"/>
            <a:ext cx="3813048" cy="539496"/>
          </a:xfrm>
          <a:prstGeom prst="rect">
            <a:avLst/>
          </a:prstGeom>
          <a:noFill/>
          <a:ln/>
        </p:spPr>
        <p:txBody>
          <a:bodyPr wrap="square" lIns="0" tIns="0" rIns="0" bIns="0" rtlCol="0" anchor="ctr">
            <a:normAutofit/>
          </a:bodyPr>
          <a:lstStyle/>
          <a:p>
            <a:pPr algn="l" indent="0" marL="0">
              <a:buNone/>
            </a:pPr>
            <a:r>
              <a:rPr lang="en-US" sz="1350" dirty="0">
                <a:solidFill>
                  <a:srgbClr val="202B3C"/>
                </a:solidFill>
                <a:latin typeface="Aptos" pitchFamily="34" charset="0"/>
                <a:ea typeface="Aptos" pitchFamily="34" charset="-122"/>
                <a:cs typeface="Aptos" pitchFamily="34" charset="-120"/>
              </a:rPr>
              <a:t>Tasa DL rezago 5 min</a:t>
            </a:r>
            <a:endParaRPr lang="en-US" sz="1350" dirty="0"/>
          </a:p>
        </p:txBody>
      </p:sp>
      <p:sp>
        <p:nvSpPr>
          <p:cNvPr id="26" name="Shape 24"/>
          <p:cNvSpPr/>
          <p:nvPr/>
        </p:nvSpPr>
        <p:spPr>
          <a:xfrm>
            <a:off x="4636008" y="4462272"/>
            <a:ext cx="6108192" cy="201168"/>
          </a:xfrm>
          <a:prstGeom prst="rect">
            <a:avLst/>
          </a:prstGeom>
          <a:solidFill>
            <a:srgbClr val="E0E8F0"/>
          </a:solidFill>
          <a:ln w="12700">
            <a:solidFill>
              <a:srgbClr val="FFFFFF">
                <a:alpha val="0"/>
              </a:srgbClr>
            </a:solidFill>
            <a:prstDash val="solid"/>
          </a:ln>
        </p:spPr>
      </p:sp>
      <p:sp>
        <p:nvSpPr>
          <p:cNvPr id="27" name="Shape 25"/>
          <p:cNvSpPr/>
          <p:nvPr/>
        </p:nvSpPr>
        <p:spPr>
          <a:xfrm>
            <a:off x="4636008" y="4462272"/>
            <a:ext cx="169150" cy="201168"/>
          </a:xfrm>
          <a:prstGeom prst="rect">
            <a:avLst/>
          </a:prstGeom>
          <a:solidFill>
            <a:srgbClr val="8792A4"/>
          </a:solidFill>
          <a:ln w="12700">
            <a:solidFill>
              <a:srgbClr val="FFFFFF">
                <a:alpha val="0"/>
              </a:srgbClr>
            </a:solidFill>
            <a:prstDash val="solid"/>
          </a:ln>
        </p:spPr>
      </p:sp>
      <p:sp>
        <p:nvSpPr>
          <p:cNvPr id="28" name="Text 26"/>
          <p:cNvSpPr/>
          <p:nvPr/>
        </p:nvSpPr>
        <p:spPr>
          <a:xfrm>
            <a:off x="10808208" y="4352544"/>
            <a:ext cx="566928" cy="539496"/>
          </a:xfrm>
          <a:prstGeom prst="rect">
            <a:avLst/>
          </a:prstGeom>
          <a:noFill/>
          <a:ln/>
        </p:spPr>
        <p:txBody>
          <a:bodyPr wrap="square" lIns="0" tIns="0" rIns="0" bIns="0" rtlCol="0" anchor="ctr">
            <a:normAutofit/>
          </a:bodyPr>
          <a:lstStyle/>
          <a:p>
            <a:pPr algn="r" indent="0" marL="0">
              <a:buNone/>
            </a:pPr>
            <a:r>
              <a:rPr lang="en-US" sz="1350" b="1" dirty="0">
                <a:solidFill>
                  <a:srgbClr val="111E37"/>
                </a:solidFill>
                <a:latin typeface="Aptos" pitchFamily="34" charset="0"/>
                <a:ea typeface="Aptos" pitchFamily="34" charset="-122"/>
                <a:cs typeface="Aptos" pitchFamily="34" charset="-120"/>
              </a:rPr>
              <a:t>0.0054</a:t>
            </a:r>
            <a:endParaRPr lang="en-US" sz="1350" dirty="0"/>
          </a:p>
        </p:txBody>
      </p:sp>
      <p:sp>
        <p:nvSpPr>
          <p:cNvPr id="29" name="Shape 27"/>
          <p:cNvSpPr/>
          <p:nvPr/>
        </p:nvSpPr>
        <p:spPr>
          <a:xfrm>
            <a:off x="768096" y="5330952"/>
            <a:ext cx="10607040" cy="777240"/>
          </a:xfrm>
          <a:prstGeom prst="roundRect">
            <a:avLst/>
          </a:prstGeom>
          <a:solidFill>
            <a:srgbClr val="E8F4F3"/>
          </a:solidFill>
          <a:ln w="12700">
            <a:solidFill>
              <a:srgbClr val="FFFFFF">
                <a:alpha val="0"/>
              </a:srgbClr>
            </a:solidFill>
            <a:prstDash val="solid"/>
          </a:ln>
        </p:spPr>
      </p:sp>
      <p:sp>
        <p:nvSpPr>
          <p:cNvPr id="30" name="Shape 28"/>
          <p:cNvSpPr/>
          <p:nvPr/>
        </p:nvSpPr>
        <p:spPr>
          <a:xfrm>
            <a:off x="768096" y="5330952"/>
            <a:ext cx="73152" cy="777240"/>
          </a:xfrm>
          <a:prstGeom prst="rect">
            <a:avLst/>
          </a:prstGeom>
          <a:solidFill>
            <a:srgbClr val="168B91"/>
          </a:solidFill>
          <a:ln w="12700">
            <a:solidFill>
              <a:srgbClr val="FFFFFF">
                <a:alpha val="0"/>
              </a:srgbClr>
            </a:solidFill>
            <a:prstDash val="solid"/>
          </a:ln>
        </p:spPr>
      </p:sp>
      <p:sp>
        <p:nvSpPr>
          <p:cNvPr id="31" name="Text 29"/>
          <p:cNvSpPr/>
          <p:nvPr/>
        </p:nvSpPr>
        <p:spPr>
          <a:xfrm>
            <a:off x="960120" y="5422392"/>
            <a:ext cx="10241280" cy="612648"/>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El SNR DL es el predictor más influyente; la importancia expresa dependencia del modelo, NO causalidad física.</a:t>
            </a:r>
            <a:endParaRPr lang="en-US" sz="16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SÍNTESIS</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Cuatro preguntas de investigación: respuestas directas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 trazabilidad impide dejar resultados dispersos en figuras y tablas.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30</a:t>
            </a:r>
            <a:endParaRPr lang="en-US" sz="1040" dirty="0"/>
          </a:p>
        </p:txBody>
      </p:sp>
      <p:sp>
        <p:nvSpPr>
          <p:cNvPr id="9" name="Shape 7"/>
          <p:cNvSpPr/>
          <p:nvPr/>
        </p:nvSpPr>
        <p:spPr>
          <a:xfrm>
            <a:off x="667512" y="1664208"/>
            <a:ext cx="10853928" cy="530352"/>
          </a:xfrm>
          <a:prstGeom prst="rect">
            <a:avLst/>
          </a:prstGeom>
          <a:solidFill>
            <a:srgbClr val="111E37"/>
          </a:solidFill>
          <a:ln w="12700">
            <a:solidFill>
              <a:srgbClr val="FFFFFF">
                <a:alpha val="0"/>
              </a:srgbClr>
            </a:solidFill>
            <a:prstDash val="solid"/>
          </a:ln>
        </p:spPr>
      </p:sp>
      <p:sp>
        <p:nvSpPr>
          <p:cNvPr id="10" name="Text 8"/>
          <p:cNvSpPr/>
          <p:nvPr/>
        </p:nvSpPr>
        <p:spPr>
          <a:xfrm>
            <a:off x="749808" y="1705356"/>
            <a:ext cx="2130552" cy="448056"/>
          </a:xfrm>
          <a:prstGeom prst="rect">
            <a:avLst/>
          </a:prstGeom>
          <a:noFill/>
          <a:ln/>
        </p:spPr>
        <p:txBody>
          <a:bodyPr wrap="square" lIns="0" tIns="0" rIns="0" bIns="0" rtlCol="0" anchor="ctr">
            <a:normAutofit/>
          </a:bodyPr>
          <a:lstStyle/>
          <a:p>
            <a:pPr algn="l" indent="0" marL="0">
              <a:buNone/>
            </a:pPr>
            <a:r>
              <a:rPr lang="en-US" sz="1180" b="1" dirty="0">
                <a:solidFill>
                  <a:srgbClr val="FFFFFF"/>
                </a:solidFill>
                <a:latin typeface="Aptos" pitchFamily="34" charset="0"/>
                <a:ea typeface="Aptos" pitchFamily="34" charset="-122"/>
                <a:cs typeface="Aptos" pitchFamily="34" charset="-120"/>
              </a:rPr>
              <a:t>PREGUNTA</a:t>
            </a:r>
            <a:endParaRPr lang="en-US" sz="1180" dirty="0"/>
          </a:p>
        </p:txBody>
      </p:sp>
      <p:sp>
        <p:nvSpPr>
          <p:cNvPr id="11" name="Shape 9"/>
          <p:cNvSpPr/>
          <p:nvPr/>
        </p:nvSpPr>
        <p:spPr>
          <a:xfrm>
            <a:off x="2962656" y="1664208"/>
            <a:ext cx="0" cy="530352"/>
          </a:xfrm>
          <a:prstGeom prst="line">
            <a:avLst/>
          </a:prstGeom>
          <a:noFill/>
          <a:ln w="6985">
            <a:solidFill>
              <a:srgbClr val="506078"/>
            </a:solidFill>
            <a:prstDash val="solid"/>
          </a:ln>
        </p:spPr>
      </p:sp>
      <p:sp>
        <p:nvSpPr>
          <p:cNvPr id="12" name="Text 10"/>
          <p:cNvSpPr/>
          <p:nvPr/>
        </p:nvSpPr>
        <p:spPr>
          <a:xfrm>
            <a:off x="3044952" y="1705356"/>
            <a:ext cx="4837176" cy="448056"/>
          </a:xfrm>
          <a:prstGeom prst="rect">
            <a:avLst/>
          </a:prstGeom>
          <a:noFill/>
          <a:ln/>
        </p:spPr>
        <p:txBody>
          <a:bodyPr wrap="square" lIns="0" tIns="0" rIns="0" bIns="0" rtlCol="0" anchor="ctr">
            <a:normAutofit/>
          </a:bodyPr>
          <a:lstStyle/>
          <a:p>
            <a:pPr algn="l" indent="0" marL="0">
              <a:buNone/>
            </a:pPr>
            <a:r>
              <a:rPr lang="en-US" sz="1180" b="1" dirty="0">
                <a:solidFill>
                  <a:srgbClr val="FFFFFF"/>
                </a:solidFill>
                <a:latin typeface="Aptos" pitchFamily="34" charset="0"/>
                <a:ea typeface="Aptos" pitchFamily="34" charset="-122"/>
                <a:cs typeface="Aptos" pitchFamily="34" charset="-120"/>
              </a:rPr>
              <a:t>RESPUESTA CUANTIFICADA</a:t>
            </a:r>
            <a:endParaRPr lang="en-US" sz="1180" dirty="0"/>
          </a:p>
        </p:txBody>
      </p:sp>
      <p:sp>
        <p:nvSpPr>
          <p:cNvPr id="13" name="Shape 11"/>
          <p:cNvSpPr/>
          <p:nvPr/>
        </p:nvSpPr>
        <p:spPr>
          <a:xfrm>
            <a:off x="7964424" y="1664208"/>
            <a:ext cx="0" cy="530352"/>
          </a:xfrm>
          <a:prstGeom prst="line">
            <a:avLst/>
          </a:prstGeom>
          <a:noFill/>
          <a:ln w="6985">
            <a:solidFill>
              <a:srgbClr val="506078"/>
            </a:solidFill>
            <a:prstDash val="solid"/>
          </a:ln>
        </p:spPr>
      </p:sp>
      <p:sp>
        <p:nvSpPr>
          <p:cNvPr id="14" name="Text 12"/>
          <p:cNvSpPr/>
          <p:nvPr/>
        </p:nvSpPr>
        <p:spPr>
          <a:xfrm>
            <a:off x="8046720" y="1705356"/>
            <a:ext cx="3392424" cy="448056"/>
          </a:xfrm>
          <a:prstGeom prst="rect">
            <a:avLst/>
          </a:prstGeom>
          <a:noFill/>
          <a:ln/>
        </p:spPr>
        <p:txBody>
          <a:bodyPr wrap="square" lIns="0" tIns="0" rIns="0" bIns="0" rtlCol="0" anchor="ctr">
            <a:normAutofit/>
          </a:bodyPr>
          <a:lstStyle/>
          <a:p>
            <a:pPr algn="l" indent="0" marL="0">
              <a:buNone/>
            </a:pPr>
            <a:r>
              <a:rPr lang="en-US" sz="1180" b="1" dirty="0">
                <a:solidFill>
                  <a:srgbClr val="FFFFFF"/>
                </a:solidFill>
                <a:latin typeface="Aptos" pitchFamily="34" charset="0"/>
                <a:ea typeface="Aptos" pitchFamily="34" charset="-122"/>
                <a:cs typeface="Aptos" pitchFamily="34" charset="-120"/>
              </a:rPr>
              <a:t>ALCANCE</a:t>
            </a:r>
            <a:endParaRPr lang="en-US" sz="1180" dirty="0"/>
          </a:p>
        </p:txBody>
      </p:sp>
      <p:sp>
        <p:nvSpPr>
          <p:cNvPr id="15" name="Shape 13"/>
          <p:cNvSpPr/>
          <p:nvPr/>
        </p:nvSpPr>
        <p:spPr>
          <a:xfrm>
            <a:off x="667512" y="2194560"/>
            <a:ext cx="10853928" cy="0"/>
          </a:xfrm>
          <a:prstGeom prst="line">
            <a:avLst/>
          </a:prstGeom>
          <a:noFill/>
          <a:ln w="6985">
            <a:solidFill>
              <a:srgbClr val="D6DEE8"/>
            </a:solidFill>
            <a:prstDash val="solid"/>
          </a:ln>
        </p:spPr>
      </p:sp>
      <p:sp>
        <p:nvSpPr>
          <p:cNvPr id="16" name="Shape 14"/>
          <p:cNvSpPr/>
          <p:nvPr/>
        </p:nvSpPr>
        <p:spPr>
          <a:xfrm>
            <a:off x="667512" y="2194560"/>
            <a:ext cx="10853928" cy="914400"/>
          </a:xfrm>
          <a:prstGeom prst="rect">
            <a:avLst/>
          </a:prstGeom>
          <a:solidFill>
            <a:srgbClr val="FFFFFF"/>
          </a:solidFill>
          <a:ln w="12700">
            <a:solidFill>
              <a:srgbClr val="FFFFFF">
                <a:alpha val="0"/>
              </a:srgbClr>
            </a:solidFill>
            <a:prstDash val="solid"/>
          </a:ln>
        </p:spPr>
      </p:sp>
      <p:sp>
        <p:nvSpPr>
          <p:cNvPr id="17" name="Text 15"/>
          <p:cNvSpPr/>
          <p:nvPr/>
        </p:nvSpPr>
        <p:spPr>
          <a:xfrm>
            <a:off x="749808" y="2235708"/>
            <a:ext cx="2130552"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P1 · ¿Qué calidad?</a:t>
            </a:r>
            <a:endParaRPr lang="en-US" sz="1315" dirty="0"/>
          </a:p>
        </p:txBody>
      </p:sp>
      <p:sp>
        <p:nvSpPr>
          <p:cNvPr id="18" name="Shape 16"/>
          <p:cNvSpPr/>
          <p:nvPr/>
        </p:nvSpPr>
        <p:spPr>
          <a:xfrm>
            <a:off x="2962656" y="2194560"/>
            <a:ext cx="0" cy="914400"/>
          </a:xfrm>
          <a:prstGeom prst="line">
            <a:avLst/>
          </a:prstGeom>
          <a:noFill/>
          <a:ln w="6985">
            <a:solidFill>
              <a:srgbClr val="D6DEE8"/>
            </a:solidFill>
            <a:prstDash val="solid"/>
          </a:ln>
        </p:spPr>
      </p:sp>
      <p:sp>
        <p:nvSpPr>
          <p:cNvPr id="19" name="Text 17"/>
          <p:cNvSpPr/>
          <p:nvPr/>
        </p:nvSpPr>
        <p:spPr>
          <a:xfrm>
            <a:off x="3044952" y="2235708"/>
            <a:ext cx="4837176"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118 458 minutos observados; 117 911 completos; 65,80 % de cobertura</a:t>
            </a:r>
            <a:endParaRPr lang="en-US" sz="1315" dirty="0"/>
          </a:p>
        </p:txBody>
      </p:sp>
      <p:sp>
        <p:nvSpPr>
          <p:cNvPr id="20" name="Shape 18"/>
          <p:cNvSpPr/>
          <p:nvPr/>
        </p:nvSpPr>
        <p:spPr>
          <a:xfrm>
            <a:off x="7964424" y="2194560"/>
            <a:ext cx="0" cy="914400"/>
          </a:xfrm>
          <a:prstGeom prst="line">
            <a:avLst/>
          </a:prstGeom>
          <a:noFill/>
          <a:ln w="6985">
            <a:solidFill>
              <a:srgbClr val="D6DEE8"/>
            </a:solidFill>
            <a:prstDash val="solid"/>
          </a:ln>
        </p:spPr>
      </p:sp>
      <p:sp>
        <p:nvSpPr>
          <p:cNvPr id="21" name="Text 19"/>
          <p:cNvSpPr/>
          <p:nvPr/>
        </p:nvSpPr>
        <p:spPr>
          <a:xfrm>
            <a:off x="8046720" y="2235708"/>
            <a:ext cx="3392424"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Suficiente para análisis condicionado por vacíos</a:t>
            </a:r>
            <a:endParaRPr lang="en-US" sz="1315" dirty="0"/>
          </a:p>
        </p:txBody>
      </p:sp>
      <p:sp>
        <p:nvSpPr>
          <p:cNvPr id="22" name="Shape 20"/>
          <p:cNvSpPr/>
          <p:nvPr/>
        </p:nvSpPr>
        <p:spPr>
          <a:xfrm>
            <a:off x="667512" y="3108960"/>
            <a:ext cx="10853928" cy="0"/>
          </a:xfrm>
          <a:prstGeom prst="line">
            <a:avLst/>
          </a:prstGeom>
          <a:noFill/>
          <a:ln w="6985">
            <a:solidFill>
              <a:srgbClr val="D6DEE8"/>
            </a:solidFill>
            <a:prstDash val="solid"/>
          </a:ln>
        </p:spPr>
      </p:sp>
      <p:sp>
        <p:nvSpPr>
          <p:cNvPr id="23" name="Shape 21"/>
          <p:cNvSpPr/>
          <p:nvPr/>
        </p:nvSpPr>
        <p:spPr>
          <a:xfrm>
            <a:off x="667512" y="3108960"/>
            <a:ext cx="10853928" cy="914400"/>
          </a:xfrm>
          <a:prstGeom prst="rect">
            <a:avLst/>
          </a:prstGeom>
          <a:solidFill>
            <a:srgbClr val="EDF2F8"/>
          </a:solidFill>
          <a:ln w="12700">
            <a:solidFill>
              <a:srgbClr val="FFFFFF">
                <a:alpha val="0"/>
              </a:srgbClr>
            </a:solidFill>
            <a:prstDash val="solid"/>
          </a:ln>
        </p:spPr>
      </p:sp>
      <p:sp>
        <p:nvSpPr>
          <p:cNvPr id="24" name="Text 22"/>
          <p:cNvSpPr/>
          <p:nvPr/>
        </p:nvSpPr>
        <p:spPr>
          <a:xfrm>
            <a:off x="749808" y="3150108"/>
            <a:ext cx="2130552"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P2 · ¿Cómo integrar?</a:t>
            </a:r>
            <a:endParaRPr lang="en-US" sz="1315" dirty="0"/>
          </a:p>
        </p:txBody>
      </p:sp>
      <p:sp>
        <p:nvSpPr>
          <p:cNvPr id="25" name="Shape 23"/>
          <p:cNvSpPr/>
          <p:nvPr/>
        </p:nvSpPr>
        <p:spPr>
          <a:xfrm>
            <a:off x="2962656" y="3108960"/>
            <a:ext cx="0" cy="914400"/>
          </a:xfrm>
          <a:prstGeom prst="line">
            <a:avLst/>
          </a:prstGeom>
          <a:noFill/>
          <a:ln w="6985">
            <a:solidFill>
              <a:srgbClr val="D6DEE8"/>
            </a:solidFill>
            <a:prstDash val="solid"/>
          </a:ln>
        </p:spPr>
      </p:sp>
      <p:sp>
        <p:nvSpPr>
          <p:cNvPr id="26" name="Text 24"/>
          <p:cNvSpPr/>
          <p:nvPr/>
        </p:nvSpPr>
        <p:spPr>
          <a:xfrm>
            <a:off x="3044952" y="3150108"/>
            <a:ext cx="4837176"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Cinco funciones verificadas y flujo reproducible</a:t>
            </a:r>
            <a:endParaRPr lang="en-US" sz="1315" dirty="0"/>
          </a:p>
        </p:txBody>
      </p:sp>
      <p:sp>
        <p:nvSpPr>
          <p:cNvPr id="27" name="Shape 25"/>
          <p:cNvSpPr/>
          <p:nvPr/>
        </p:nvSpPr>
        <p:spPr>
          <a:xfrm>
            <a:off x="7964424" y="3108960"/>
            <a:ext cx="0" cy="914400"/>
          </a:xfrm>
          <a:prstGeom prst="line">
            <a:avLst/>
          </a:prstGeom>
          <a:noFill/>
          <a:ln w="6985">
            <a:solidFill>
              <a:srgbClr val="D6DEE8"/>
            </a:solidFill>
            <a:prstDash val="solid"/>
          </a:ln>
        </p:spPr>
      </p:sp>
      <p:sp>
        <p:nvSpPr>
          <p:cNvPr id="28" name="Text 26"/>
          <p:cNvSpPr/>
          <p:nvPr/>
        </p:nvSpPr>
        <p:spPr>
          <a:xfrm>
            <a:off x="8046720" y="3150108"/>
            <a:ext cx="3392424"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Integración funcional conseguida</a:t>
            </a:r>
            <a:endParaRPr lang="en-US" sz="1315" dirty="0"/>
          </a:p>
        </p:txBody>
      </p:sp>
      <p:sp>
        <p:nvSpPr>
          <p:cNvPr id="29" name="Shape 27"/>
          <p:cNvSpPr/>
          <p:nvPr/>
        </p:nvSpPr>
        <p:spPr>
          <a:xfrm>
            <a:off x="667512" y="4023360"/>
            <a:ext cx="10853928" cy="0"/>
          </a:xfrm>
          <a:prstGeom prst="line">
            <a:avLst/>
          </a:prstGeom>
          <a:noFill/>
          <a:ln w="6985">
            <a:solidFill>
              <a:srgbClr val="D6DEE8"/>
            </a:solidFill>
            <a:prstDash val="solid"/>
          </a:ln>
        </p:spPr>
      </p:sp>
      <p:sp>
        <p:nvSpPr>
          <p:cNvPr id="30" name="Shape 28"/>
          <p:cNvSpPr/>
          <p:nvPr/>
        </p:nvSpPr>
        <p:spPr>
          <a:xfrm>
            <a:off x="667512" y="4023360"/>
            <a:ext cx="10853928" cy="914400"/>
          </a:xfrm>
          <a:prstGeom prst="rect">
            <a:avLst/>
          </a:prstGeom>
          <a:solidFill>
            <a:srgbClr val="FFFFFF"/>
          </a:solidFill>
          <a:ln w="12700">
            <a:solidFill>
              <a:srgbClr val="FFFFFF">
                <a:alpha val="0"/>
              </a:srgbClr>
            </a:solidFill>
            <a:prstDash val="solid"/>
          </a:ln>
        </p:spPr>
      </p:sp>
      <p:sp>
        <p:nvSpPr>
          <p:cNvPr id="31" name="Text 29"/>
          <p:cNvSpPr/>
          <p:nvPr/>
        </p:nvSpPr>
        <p:spPr>
          <a:xfrm>
            <a:off x="749808" y="4064508"/>
            <a:ext cx="2130552"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P3 · ¿Qué desempeño?</a:t>
            </a:r>
            <a:endParaRPr lang="en-US" sz="1315" dirty="0"/>
          </a:p>
        </p:txBody>
      </p:sp>
      <p:sp>
        <p:nvSpPr>
          <p:cNvPr id="32" name="Shape 30"/>
          <p:cNvSpPr/>
          <p:nvPr/>
        </p:nvSpPr>
        <p:spPr>
          <a:xfrm>
            <a:off x="2962656" y="4023360"/>
            <a:ext cx="0" cy="914400"/>
          </a:xfrm>
          <a:prstGeom prst="line">
            <a:avLst/>
          </a:prstGeom>
          <a:noFill/>
          <a:ln w="6985">
            <a:solidFill>
              <a:srgbClr val="D6DEE8"/>
            </a:solidFill>
            <a:prstDash val="solid"/>
          </a:ln>
        </p:spPr>
      </p:sp>
      <p:sp>
        <p:nvSpPr>
          <p:cNvPr id="33" name="Text 31"/>
          <p:cNvSpPr/>
          <p:nvPr/>
        </p:nvSpPr>
        <p:spPr>
          <a:xfrm>
            <a:off x="3044952" y="4064508"/>
            <a:ext cx="4837176"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Ridge mejora MCS y tasa; clasificación no concluyente; RSSI mixto</a:t>
            </a:r>
            <a:endParaRPr lang="en-US" sz="1315" dirty="0"/>
          </a:p>
        </p:txBody>
      </p:sp>
      <p:sp>
        <p:nvSpPr>
          <p:cNvPr id="34" name="Shape 32"/>
          <p:cNvSpPr/>
          <p:nvPr/>
        </p:nvSpPr>
        <p:spPr>
          <a:xfrm>
            <a:off x="7964424" y="4023360"/>
            <a:ext cx="0" cy="914400"/>
          </a:xfrm>
          <a:prstGeom prst="line">
            <a:avLst/>
          </a:prstGeom>
          <a:noFill/>
          <a:ln w="6985">
            <a:solidFill>
              <a:srgbClr val="D6DEE8"/>
            </a:solidFill>
            <a:prstDash val="solid"/>
          </a:ln>
        </p:spPr>
      </p:sp>
      <p:sp>
        <p:nvSpPr>
          <p:cNvPr id="35" name="Text 33"/>
          <p:cNvSpPr/>
          <p:nvPr/>
        </p:nvSpPr>
        <p:spPr>
          <a:xfrm>
            <a:off x="8046720" y="4064508"/>
            <a:ext cx="3392424"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Mejora específica, no universal</a:t>
            </a:r>
            <a:endParaRPr lang="en-US" sz="1315" dirty="0"/>
          </a:p>
        </p:txBody>
      </p:sp>
      <p:sp>
        <p:nvSpPr>
          <p:cNvPr id="36" name="Shape 34"/>
          <p:cNvSpPr/>
          <p:nvPr/>
        </p:nvSpPr>
        <p:spPr>
          <a:xfrm>
            <a:off x="667512" y="4937760"/>
            <a:ext cx="10853928" cy="0"/>
          </a:xfrm>
          <a:prstGeom prst="line">
            <a:avLst/>
          </a:prstGeom>
          <a:noFill/>
          <a:ln w="6985">
            <a:solidFill>
              <a:srgbClr val="D6DEE8"/>
            </a:solidFill>
            <a:prstDash val="solid"/>
          </a:ln>
        </p:spPr>
      </p:sp>
      <p:sp>
        <p:nvSpPr>
          <p:cNvPr id="37" name="Shape 35"/>
          <p:cNvSpPr/>
          <p:nvPr/>
        </p:nvSpPr>
        <p:spPr>
          <a:xfrm>
            <a:off x="667512" y="4937760"/>
            <a:ext cx="10853928" cy="914400"/>
          </a:xfrm>
          <a:prstGeom prst="rect">
            <a:avLst/>
          </a:prstGeom>
          <a:solidFill>
            <a:srgbClr val="EDF2F8"/>
          </a:solidFill>
          <a:ln w="12700">
            <a:solidFill>
              <a:srgbClr val="FFFFFF">
                <a:alpha val="0"/>
              </a:srgbClr>
            </a:solidFill>
            <a:prstDash val="solid"/>
          </a:ln>
        </p:spPr>
      </p:sp>
      <p:sp>
        <p:nvSpPr>
          <p:cNvPr id="38" name="Text 36"/>
          <p:cNvSpPr/>
          <p:nvPr/>
        </p:nvSpPr>
        <p:spPr>
          <a:xfrm>
            <a:off x="749808" y="4978908"/>
            <a:ext cx="2130552"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P4 · ¿Qué anticipa y qué influye?</a:t>
            </a:r>
            <a:endParaRPr lang="en-US" sz="1315" dirty="0"/>
          </a:p>
        </p:txBody>
      </p:sp>
      <p:sp>
        <p:nvSpPr>
          <p:cNvPr id="39" name="Shape 37"/>
          <p:cNvSpPr/>
          <p:nvPr/>
        </p:nvSpPr>
        <p:spPr>
          <a:xfrm>
            <a:off x="2962656" y="4937760"/>
            <a:ext cx="0" cy="914400"/>
          </a:xfrm>
          <a:prstGeom prst="line">
            <a:avLst/>
          </a:prstGeom>
          <a:noFill/>
          <a:ln w="6985">
            <a:solidFill>
              <a:srgbClr val="D6DEE8"/>
            </a:solidFill>
            <a:prstDash val="solid"/>
          </a:ln>
        </p:spPr>
      </p:sp>
      <p:sp>
        <p:nvSpPr>
          <p:cNvPr id="40" name="Text 38"/>
          <p:cNvSpPr/>
          <p:nvPr/>
        </p:nvSpPr>
        <p:spPr>
          <a:xfrm>
            <a:off x="3044952" y="4978908"/>
            <a:ext cx="4837176"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46,71 % recall, 10,75 % falsas alertas; SNR DL principal</a:t>
            </a:r>
            <a:endParaRPr lang="en-US" sz="1315" dirty="0"/>
          </a:p>
        </p:txBody>
      </p:sp>
      <p:sp>
        <p:nvSpPr>
          <p:cNvPr id="41" name="Shape 39"/>
          <p:cNvSpPr/>
          <p:nvPr/>
        </p:nvSpPr>
        <p:spPr>
          <a:xfrm>
            <a:off x="7964424" y="4937760"/>
            <a:ext cx="0" cy="914400"/>
          </a:xfrm>
          <a:prstGeom prst="line">
            <a:avLst/>
          </a:prstGeom>
          <a:noFill/>
          <a:ln w="6985">
            <a:solidFill>
              <a:srgbClr val="D6DEE8"/>
            </a:solidFill>
            <a:prstDash val="solid"/>
          </a:ln>
        </p:spPr>
      </p:sp>
      <p:sp>
        <p:nvSpPr>
          <p:cNvPr id="42" name="Text 40"/>
          <p:cNvSpPr/>
          <p:nvPr/>
        </p:nvSpPr>
        <p:spPr>
          <a:xfrm>
            <a:off x="8046720" y="4978908"/>
            <a:ext cx="3392424" cy="832104"/>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Apoyo preventivo con restricciones</a:t>
            </a:r>
            <a:endParaRPr lang="en-US" sz="1315" dirty="0"/>
          </a:p>
        </p:txBody>
      </p:sp>
      <p:sp>
        <p:nvSpPr>
          <p:cNvPr id="43" name="Shape 41"/>
          <p:cNvSpPr/>
          <p:nvPr/>
        </p:nvSpPr>
        <p:spPr>
          <a:xfrm>
            <a:off x="667512" y="5852160"/>
            <a:ext cx="10853928" cy="0"/>
          </a:xfrm>
          <a:prstGeom prst="line">
            <a:avLst/>
          </a:prstGeom>
          <a:noFill/>
          <a:ln w="6985">
            <a:solidFill>
              <a:srgbClr val="D6DEE8"/>
            </a:solidFill>
            <a:prstDash val="solid"/>
          </a:ln>
        </p:spPr>
      </p:sp>
      <p:sp>
        <p:nvSpPr>
          <p:cNvPr id="44" name="Shape 42"/>
          <p:cNvSpPr/>
          <p:nvPr/>
        </p:nvSpPr>
        <p:spPr>
          <a:xfrm>
            <a:off x="704088" y="5943600"/>
            <a:ext cx="10753344" cy="402336"/>
          </a:xfrm>
          <a:prstGeom prst="roundRect">
            <a:avLst/>
          </a:prstGeom>
          <a:solidFill>
            <a:srgbClr val="E8F4F3"/>
          </a:solidFill>
          <a:ln w="12700">
            <a:solidFill>
              <a:srgbClr val="FFFFFF">
                <a:alpha val="0"/>
              </a:srgbClr>
            </a:solidFill>
            <a:prstDash val="solid"/>
          </a:ln>
        </p:spPr>
      </p:sp>
      <p:sp>
        <p:nvSpPr>
          <p:cNvPr id="45" name="Shape 43"/>
          <p:cNvSpPr/>
          <p:nvPr/>
        </p:nvSpPr>
        <p:spPr>
          <a:xfrm>
            <a:off x="704088" y="5943600"/>
            <a:ext cx="73152" cy="402336"/>
          </a:xfrm>
          <a:prstGeom prst="rect">
            <a:avLst/>
          </a:prstGeom>
          <a:solidFill>
            <a:srgbClr val="168B91"/>
          </a:solidFill>
          <a:ln w="12700">
            <a:solidFill>
              <a:srgbClr val="FFFFFF">
                <a:alpha val="0"/>
              </a:srgbClr>
            </a:solidFill>
            <a:prstDash val="solid"/>
          </a:ln>
        </p:spPr>
      </p:sp>
      <p:sp>
        <p:nvSpPr>
          <p:cNvPr id="46" name="Text 44"/>
          <p:cNvSpPr/>
          <p:nvPr/>
        </p:nvSpPr>
        <p:spPr>
          <a:xfrm>
            <a:off x="896112" y="6035040"/>
            <a:ext cx="10387584" cy="237744"/>
          </a:xfrm>
          <a:prstGeom prst="rect">
            <a:avLst/>
          </a:prstGeom>
          <a:noFill/>
          <a:ln/>
        </p:spPr>
        <p:txBody>
          <a:bodyPr wrap="square" lIns="0" tIns="0" rIns="0" bIns="0" rtlCol="0" anchor="ctr">
            <a:normAutofit/>
          </a:bodyPr>
          <a:lstStyle/>
          <a:p>
            <a:pPr algn="l" indent="0" marL="0">
              <a:buNone/>
            </a:pPr>
            <a:r>
              <a:rPr lang="en-US" sz="1320" b="1" dirty="0">
                <a:solidFill>
                  <a:srgbClr val="111E37"/>
                </a:solidFill>
                <a:latin typeface="Aptos" pitchFamily="34" charset="0"/>
                <a:ea typeface="Aptos" pitchFamily="34" charset="-122"/>
                <a:cs typeface="Aptos" pitchFamily="34" charset="-120"/>
              </a:rPr>
              <a:t>Con los cuatro objetivos respondidos, el objetivo general se alcanza en la construcción y evaluación del sistema; la hipótesis general obtiene respaldo parcial.</a:t>
            </a:r>
            <a:endParaRPr lang="en-US" sz="13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CONTRASTACIÓN</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Prueba y decisión de las hipótesis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Regla: para mejoras comparativas, IC 95 % favorable excluye cero; para construcción, evidencia funcional.</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XXI y sección 4.7.</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31</a:t>
            </a:r>
            <a:endParaRPr lang="en-US" sz="1040" dirty="0"/>
          </a:p>
        </p:txBody>
      </p:sp>
      <p:sp>
        <p:nvSpPr>
          <p:cNvPr id="9" name="Shape 7"/>
          <p:cNvSpPr/>
          <p:nvPr/>
        </p:nvSpPr>
        <p:spPr>
          <a:xfrm>
            <a:off x="713232" y="1755648"/>
            <a:ext cx="10725912" cy="548640"/>
          </a:xfrm>
          <a:prstGeom prst="rect">
            <a:avLst/>
          </a:prstGeom>
          <a:solidFill>
            <a:srgbClr val="111E37"/>
          </a:solidFill>
          <a:ln w="12700">
            <a:solidFill>
              <a:srgbClr val="FFFFFF">
                <a:alpha val="0"/>
              </a:srgbClr>
            </a:solidFill>
            <a:prstDash val="solid"/>
          </a:ln>
        </p:spPr>
      </p:sp>
      <p:sp>
        <p:nvSpPr>
          <p:cNvPr id="10" name="Text 8"/>
          <p:cNvSpPr/>
          <p:nvPr/>
        </p:nvSpPr>
        <p:spPr>
          <a:xfrm>
            <a:off x="795528" y="1796796"/>
            <a:ext cx="1024128" cy="46634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HIPÓTESIS</a:t>
            </a:r>
            <a:endParaRPr lang="en-US" sz="1200" dirty="0"/>
          </a:p>
        </p:txBody>
      </p:sp>
      <p:sp>
        <p:nvSpPr>
          <p:cNvPr id="11" name="Shape 9"/>
          <p:cNvSpPr/>
          <p:nvPr/>
        </p:nvSpPr>
        <p:spPr>
          <a:xfrm>
            <a:off x="1901952" y="1755648"/>
            <a:ext cx="0" cy="548640"/>
          </a:xfrm>
          <a:prstGeom prst="line">
            <a:avLst/>
          </a:prstGeom>
          <a:noFill/>
          <a:ln w="6985">
            <a:solidFill>
              <a:srgbClr val="506078"/>
            </a:solidFill>
            <a:prstDash val="solid"/>
          </a:ln>
        </p:spPr>
      </p:sp>
      <p:sp>
        <p:nvSpPr>
          <p:cNvPr id="12" name="Text 10"/>
          <p:cNvSpPr/>
          <p:nvPr/>
        </p:nvSpPr>
        <p:spPr>
          <a:xfrm>
            <a:off x="1984248" y="1796796"/>
            <a:ext cx="6647688" cy="46634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EVIDENCIA PARA LA DECISIÓN</a:t>
            </a:r>
            <a:endParaRPr lang="en-US" sz="1200" dirty="0"/>
          </a:p>
        </p:txBody>
      </p:sp>
      <p:sp>
        <p:nvSpPr>
          <p:cNvPr id="13" name="Shape 11"/>
          <p:cNvSpPr/>
          <p:nvPr/>
        </p:nvSpPr>
        <p:spPr>
          <a:xfrm>
            <a:off x="8714232" y="1755648"/>
            <a:ext cx="0" cy="548640"/>
          </a:xfrm>
          <a:prstGeom prst="line">
            <a:avLst/>
          </a:prstGeom>
          <a:noFill/>
          <a:ln w="6985">
            <a:solidFill>
              <a:srgbClr val="506078"/>
            </a:solidFill>
            <a:prstDash val="solid"/>
          </a:ln>
        </p:spPr>
      </p:sp>
      <p:sp>
        <p:nvSpPr>
          <p:cNvPr id="14" name="Text 12"/>
          <p:cNvSpPr/>
          <p:nvPr/>
        </p:nvSpPr>
        <p:spPr>
          <a:xfrm>
            <a:off x="8796528" y="1796796"/>
            <a:ext cx="2560320" cy="46634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DICTAMEN</a:t>
            </a:r>
            <a:endParaRPr lang="en-US" sz="1200" dirty="0"/>
          </a:p>
        </p:txBody>
      </p:sp>
      <p:sp>
        <p:nvSpPr>
          <p:cNvPr id="15" name="Shape 13"/>
          <p:cNvSpPr/>
          <p:nvPr/>
        </p:nvSpPr>
        <p:spPr>
          <a:xfrm>
            <a:off x="713232" y="2304288"/>
            <a:ext cx="10725912" cy="0"/>
          </a:xfrm>
          <a:prstGeom prst="line">
            <a:avLst/>
          </a:prstGeom>
          <a:noFill/>
          <a:ln w="6985">
            <a:solidFill>
              <a:srgbClr val="D6DEE8"/>
            </a:solidFill>
            <a:prstDash val="solid"/>
          </a:ln>
        </p:spPr>
      </p:sp>
      <p:sp>
        <p:nvSpPr>
          <p:cNvPr id="16" name="Shape 14"/>
          <p:cNvSpPr/>
          <p:nvPr/>
        </p:nvSpPr>
        <p:spPr>
          <a:xfrm>
            <a:off x="713232" y="2304288"/>
            <a:ext cx="10725912" cy="731520"/>
          </a:xfrm>
          <a:prstGeom prst="rect">
            <a:avLst/>
          </a:prstGeom>
          <a:solidFill>
            <a:srgbClr val="FFFFFF"/>
          </a:solidFill>
          <a:ln w="12700">
            <a:solidFill>
              <a:srgbClr val="FFFFFF">
                <a:alpha val="0"/>
              </a:srgbClr>
            </a:solidFill>
            <a:prstDash val="solid"/>
          </a:ln>
        </p:spPr>
      </p:sp>
      <p:sp>
        <p:nvSpPr>
          <p:cNvPr id="17" name="Text 15"/>
          <p:cNvSpPr/>
          <p:nvPr/>
        </p:nvSpPr>
        <p:spPr>
          <a:xfrm>
            <a:off x="795528" y="2345436"/>
            <a:ext cx="102412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HE1</a:t>
            </a:r>
            <a:endParaRPr lang="en-US" sz="1390" dirty="0"/>
          </a:p>
        </p:txBody>
      </p:sp>
      <p:sp>
        <p:nvSpPr>
          <p:cNvPr id="18" name="Shape 16"/>
          <p:cNvSpPr/>
          <p:nvPr/>
        </p:nvSpPr>
        <p:spPr>
          <a:xfrm>
            <a:off x="1901952" y="2304288"/>
            <a:ext cx="0" cy="731520"/>
          </a:xfrm>
          <a:prstGeom prst="line">
            <a:avLst/>
          </a:prstGeom>
          <a:noFill/>
          <a:ln w="6985">
            <a:solidFill>
              <a:srgbClr val="D6DEE8"/>
            </a:solidFill>
            <a:prstDash val="solid"/>
          </a:ln>
        </p:spPr>
      </p:sp>
      <p:sp>
        <p:nvSpPr>
          <p:cNvPr id="19" name="Text 17"/>
          <p:cNvSpPr/>
          <p:nvPr/>
        </p:nvSpPr>
        <p:spPr>
          <a:xfrm>
            <a:off x="1984248" y="2345436"/>
            <a:ext cx="664768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Conjunto depurado y trazable; completitud 99,54 %</a:t>
            </a:r>
            <a:endParaRPr lang="en-US" sz="1390" dirty="0"/>
          </a:p>
        </p:txBody>
      </p:sp>
      <p:sp>
        <p:nvSpPr>
          <p:cNvPr id="20" name="Shape 18"/>
          <p:cNvSpPr/>
          <p:nvPr/>
        </p:nvSpPr>
        <p:spPr>
          <a:xfrm>
            <a:off x="8714232" y="2304288"/>
            <a:ext cx="0" cy="731520"/>
          </a:xfrm>
          <a:prstGeom prst="line">
            <a:avLst/>
          </a:prstGeom>
          <a:noFill/>
          <a:ln w="6985">
            <a:solidFill>
              <a:srgbClr val="D6DEE8"/>
            </a:solidFill>
            <a:prstDash val="solid"/>
          </a:ln>
        </p:spPr>
      </p:sp>
      <p:sp>
        <p:nvSpPr>
          <p:cNvPr id="21" name="Text 19"/>
          <p:cNvSpPr/>
          <p:nvPr/>
        </p:nvSpPr>
        <p:spPr>
          <a:xfrm>
            <a:off x="8796528" y="2345436"/>
            <a:ext cx="2560320"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Respaldada</a:t>
            </a:r>
            <a:endParaRPr lang="en-US" sz="1390" dirty="0"/>
          </a:p>
        </p:txBody>
      </p:sp>
      <p:sp>
        <p:nvSpPr>
          <p:cNvPr id="22" name="Shape 20"/>
          <p:cNvSpPr/>
          <p:nvPr/>
        </p:nvSpPr>
        <p:spPr>
          <a:xfrm>
            <a:off x="713232" y="3035808"/>
            <a:ext cx="10725912" cy="0"/>
          </a:xfrm>
          <a:prstGeom prst="line">
            <a:avLst/>
          </a:prstGeom>
          <a:noFill/>
          <a:ln w="6985">
            <a:solidFill>
              <a:srgbClr val="D6DEE8"/>
            </a:solidFill>
            <a:prstDash val="solid"/>
          </a:ln>
        </p:spPr>
      </p:sp>
      <p:sp>
        <p:nvSpPr>
          <p:cNvPr id="23" name="Shape 21"/>
          <p:cNvSpPr/>
          <p:nvPr/>
        </p:nvSpPr>
        <p:spPr>
          <a:xfrm>
            <a:off x="713232" y="3035808"/>
            <a:ext cx="10725912" cy="731520"/>
          </a:xfrm>
          <a:prstGeom prst="rect">
            <a:avLst/>
          </a:prstGeom>
          <a:solidFill>
            <a:srgbClr val="EDF2F8"/>
          </a:solidFill>
          <a:ln w="12700">
            <a:solidFill>
              <a:srgbClr val="FFFFFF">
                <a:alpha val="0"/>
              </a:srgbClr>
            </a:solidFill>
            <a:prstDash val="solid"/>
          </a:ln>
        </p:spPr>
      </p:sp>
      <p:sp>
        <p:nvSpPr>
          <p:cNvPr id="24" name="Text 22"/>
          <p:cNvSpPr/>
          <p:nvPr/>
        </p:nvSpPr>
        <p:spPr>
          <a:xfrm>
            <a:off x="795528" y="3076956"/>
            <a:ext cx="102412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HE2</a:t>
            </a:r>
            <a:endParaRPr lang="en-US" sz="1390" dirty="0"/>
          </a:p>
        </p:txBody>
      </p:sp>
      <p:sp>
        <p:nvSpPr>
          <p:cNvPr id="25" name="Shape 23"/>
          <p:cNvSpPr/>
          <p:nvPr/>
        </p:nvSpPr>
        <p:spPr>
          <a:xfrm>
            <a:off x="1901952" y="3035808"/>
            <a:ext cx="0" cy="731520"/>
          </a:xfrm>
          <a:prstGeom prst="line">
            <a:avLst/>
          </a:prstGeom>
          <a:noFill/>
          <a:ln w="6985">
            <a:solidFill>
              <a:srgbClr val="D6DEE8"/>
            </a:solidFill>
            <a:prstDash val="solid"/>
          </a:ln>
        </p:spPr>
      </p:sp>
      <p:sp>
        <p:nvSpPr>
          <p:cNvPr id="26" name="Text 24"/>
          <p:cNvSpPr/>
          <p:nvPr/>
        </p:nvSpPr>
        <p:spPr>
          <a:xfrm>
            <a:off x="1984248" y="3076956"/>
            <a:ext cx="664768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Módulos integrados y salidas funcionales reproducibles</a:t>
            </a:r>
            <a:endParaRPr lang="en-US" sz="1390" dirty="0"/>
          </a:p>
        </p:txBody>
      </p:sp>
      <p:sp>
        <p:nvSpPr>
          <p:cNvPr id="27" name="Shape 25"/>
          <p:cNvSpPr/>
          <p:nvPr/>
        </p:nvSpPr>
        <p:spPr>
          <a:xfrm>
            <a:off x="8714232" y="3035808"/>
            <a:ext cx="0" cy="731520"/>
          </a:xfrm>
          <a:prstGeom prst="line">
            <a:avLst/>
          </a:prstGeom>
          <a:noFill/>
          <a:ln w="6985">
            <a:solidFill>
              <a:srgbClr val="D6DEE8"/>
            </a:solidFill>
            <a:prstDash val="solid"/>
          </a:ln>
        </p:spPr>
      </p:sp>
      <p:sp>
        <p:nvSpPr>
          <p:cNvPr id="28" name="Text 26"/>
          <p:cNvSpPr/>
          <p:nvPr/>
        </p:nvSpPr>
        <p:spPr>
          <a:xfrm>
            <a:off x="8796528" y="3076956"/>
            <a:ext cx="2560320"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Respaldada</a:t>
            </a:r>
            <a:endParaRPr lang="en-US" sz="1390" dirty="0"/>
          </a:p>
        </p:txBody>
      </p:sp>
      <p:sp>
        <p:nvSpPr>
          <p:cNvPr id="29" name="Shape 27"/>
          <p:cNvSpPr/>
          <p:nvPr/>
        </p:nvSpPr>
        <p:spPr>
          <a:xfrm>
            <a:off x="713232" y="3767328"/>
            <a:ext cx="10725912" cy="0"/>
          </a:xfrm>
          <a:prstGeom prst="line">
            <a:avLst/>
          </a:prstGeom>
          <a:noFill/>
          <a:ln w="6985">
            <a:solidFill>
              <a:srgbClr val="D6DEE8"/>
            </a:solidFill>
            <a:prstDash val="solid"/>
          </a:ln>
        </p:spPr>
      </p:sp>
      <p:sp>
        <p:nvSpPr>
          <p:cNvPr id="30" name="Shape 28"/>
          <p:cNvSpPr/>
          <p:nvPr/>
        </p:nvSpPr>
        <p:spPr>
          <a:xfrm>
            <a:off x="713232" y="3767328"/>
            <a:ext cx="10725912" cy="731520"/>
          </a:xfrm>
          <a:prstGeom prst="rect">
            <a:avLst/>
          </a:prstGeom>
          <a:solidFill>
            <a:srgbClr val="FFFFFF"/>
          </a:solidFill>
          <a:ln w="12700">
            <a:solidFill>
              <a:srgbClr val="FFFFFF">
                <a:alpha val="0"/>
              </a:srgbClr>
            </a:solidFill>
            <a:prstDash val="solid"/>
          </a:ln>
        </p:spPr>
      </p:sp>
      <p:sp>
        <p:nvSpPr>
          <p:cNvPr id="31" name="Text 29"/>
          <p:cNvSpPr/>
          <p:nvPr/>
        </p:nvSpPr>
        <p:spPr>
          <a:xfrm>
            <a:off x="795528" y="3808476"/>
            <a:ext cx="102412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HE3</a:t>
            </a:r>
            <a:endParaRPr lang="en-US" sz="1390" dirty="0"/>
          </a:p>
        </p:txBody>
      </p:sp>
      <p:sp>
        <p:nvSpPr>
          <p:cNvPr id="32" name="Shape 30"/>
          <p:cNvSpPr/>
          <p:nvPr/>
        </p:nvSpPr>
        <p:spPr>
          <a:xfrm>
            <a:off x="1901952" y="3767328"/>
            <a:ext cx="0" cy="731520"/>
          </a:xfrm>
          <a:prstGeom prst="line">
            <a:avLst/>
          </a:prstGeom>
          <a:noFill/>
          <a:ln w="6985">
            <a:solidFill>
              <a:srgbClr val="D6DEE8"/>
            </a:solidFill>
            <a:prstDash val="solid"/>
          </a:ln>
        </p:spPr>
      </p:sp>
      <p:sp>
        <p:nvSpPr>
          <p:cNvPr id="33" name="Text 31"/>
          <p:cNvSpPr/>
          <p:nvPr/>
        </p:nvSpPr>
        <p:spPr>
          <a:xfrm>
            <a:off x="1984248" y="3808476"/>
            <a:ext cx="664768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MCS y tasa mejoran; F1 no concluyente, RSSI mixto</a:t>
            </a:r>
            <a:endParaRPr lang="en-US" sz="1390" dirty="0"/>
          </a:p>
        </p:txBody>
      </p:sp>
      <p:sp>
        <p:nvSpPr>
          <p:cNvPr id="34" name="Shape 32"/>
          <p:cNvSpPr/>
          <p:nvPr/>
        </p:nvSpPr>
        <p:spPr>
          <a:xfrm>
            <a:off x="8714232" y="3767328"/>
            <a:ext cx="0" cy="731520"/>
          </a:xfrm>
          <a:prstGeom prst="line">
            <a:avLst/>
          </a:prstGeom>
          <a:noFill/>
          <a:ln w="6985">
            <a:solidFill>
              <a:srgbClr val="D6DEE8"/>
            </a:solidFill>
            <a:prstDash val="solid"/>
          </a:ln>
        </p:spPr>
      </p:sp>
      <p:sp>
        <p:nvSpPr>
          <p:cNvPr id="35" name="Text 33"/>
          <p:cNvSpPr/>
          <p:nvPr/>
        </p:nvSpPr>
        <p:spPr>
          <a:xfrm>
            <a:off x="8796528" y="3808476"/>
            <a:ext cx="2560320"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Parcial</a:t>
            </a:r>
            <a:endParaRPr lang="en-US" sz="1390" dirty="0"/>
          </a:p>
        </p:txBody>
      </p:sp>
      <p:sp>
        <p:nvSpPr>
          <p:cNvPr id="36" name="Shape 34"/>
          <p:cNvSpPr/>
          <p:nvPr/>
        </p:nvSpPr>
        <p:spPr>
          <a:xfrm>
            <a:off x="713232" y="4498848"/>
            <a:ext cx="10725912" cy="0"/>
          </a:xfrm>
          <a:prstGeom prst="line">
            <a:avLst/>
          </a:prstGeom>
          <a:noFill/>
          <a:ln w="6985">
            <a:solidFill>
              <a:srgbClr val="D6DEE8"/>
            </a:solidFill>
            <a:prstDash val="solid"/>
          </a:ln>
        </p:spPr>
      </p:sp>
      <p:sp>
        <p:nvSpPr>
          <p:cNvPr id="37" name="Shape 35"/>
          <p:cNvSpPr/>
          <p:nvPr/>
        </p:nvSpPr>
        <p:spPr>
          <a:xfrm>
            <a:off x="713232" y="4498848"/>
            <a:ext cx="10725912" cy="731520"/>
          </a:xfrm>
          <a:prstGeom prst="rect">
            <a:avLst/>
          </a:prstGeom>
          <a:solidFill>
            <a:srgbClr val="EDF2F8"/>
          </a:solidFill>
          <a:ln w="12700">
            <a:solidFill>
              <a:srgbClr val="FFFFFF">
                <a:alpha val="0"/>
              </a:srgbClr>
            </a:solidFill>
            <a:prstDash val="solid"/>
          </a:ln>
        </p:spPr>
      </p:sp>
      <p:sp>
        <p:nvSpPr>
          <p:cNvPr id="38" name="Text 36"/>
          <p:cNvSpPr/>
          <p:nvPr/>
        </p:nvSpPr>
        <p:spPr>
          <a:xfrm>
            <a:off x="795528" y="4539996"/>
            <a:ext cx="102412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HE4</a:t>
            </a:r>
            <a:endParaRPr lang="en-US" sz="1390" dirty="0"/>
          </a:p>
        </p:txBody>
      </p:sp>
      <p:sp>
        <p:nvSpPr>
          <p:cNvPr id="39" name="Shape 37"/>
          <p:cNvSpPr/>
          <p:nvPr/>
        </p:nvSpPr>
        <p:spPr>
          <a:xfrm>
            <a:off x="1901952" y="4498848"/>
            <a:ext cx="0" cy="731520"/>
          </a:xfrm>
          <a:prstGeom prst="line">
            <a:avLst/>
          </a:prstGeom>
          <a:noFill/>
          <a:ln w="6985">
            <a:solidFill>
              <a:srgbClr val="D6DEE8"/>
            </a:solidFill>
            <a:prstDash val="solid"/>
          </a:ln>
        </p:spPr>
      </p:sp>
      <p:sp>
        <p:nvSpPr>
          <p:cNvPr id="40" name="Text 38"/>
          <p:cNvSpPr/>
          <p:nvPr/>
        </p:nvSpPr>
        <p:spPr>
          <a:xfrm>
            <a:off x="1984248" y="4539996"/>
            <a:ext cx="664768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Mayor recall y explicación, más falsas alertas, etiquetas proxy</a:t>
            </a:r>
            <a:endParaRPr lang="en-US" sz="1390" dirty="0"/>
          </a:p>
        </p:txBody>
      </p:sp>
      <p:sp>
        <p:nvSpPr>
          <p:cNvPr id="41" name="Shape 39"/>
          <p:cNvSpPr/>
          <p:nvPr/>
        </p:nvSpPr>
        <p:spPr>
          <a:xfrm>
            <a:off x="8714232" y="4498848"/>
            <a:ext cx="0" cy="731520"/>
          </a:xfrm>
          <a:prstGeom prst="line">
            <a:avLst/>
          </a:prstGeom>
          <a:noFill/>
          <a:ln w="6985">
            <a:solidFill>
              <a:srgbClr val="D6DEE8"/>
            </a:solidFill>
            <a:prstDash val="solid"/>
          </a:ln>
        </p:spPr>
      </p:sp>
      <p:sp>
        <p:nvSpPr>
          <p:cNvPr id="42" name="Text 40"/>
          <p:cNvSpPr/>
          <p:nvPr/>
        </p:nvSpPr>
        <p:spPr>
          <a:xfrm>
            <a:off x="8796528" y="4539996"/>
            <a:ext cx="2560320"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Parcial</a:t>
            </a:r>
            <a:endParaRPr lang="en-US" sz="1390" dirty="0"/>
          </a:p>
        </p:txBody>
      </p:sp>
      <p:sp>
        <p:nvSpPr>
          <p:cNvPr id="43" name="Shape 41"/>
          <p:cNvSpPr/>
          <p:nvPr/>
        </p:nvSpPr>
        <p:spPr>
          <a:xfrm>
            <a:off x="713232" y="5230368"/>
            <a:ext cx="10725912" cy="0"/>
          </a:xfrm>
          <a:prstGeom prst="line">
            <a:avLst/>
          </a:prstGeom>
          <a:noFill/>
          <a:ln w="6985">
            <a:solidFill>
              <a:srgbClr val="D6DEE8"/>
            </a:solidFill>
            <a:prstDash val="solid"/>
          </a:ln>
        </p:spPr>
      </p:sp>
      <p:sp>
        <p:nvSpPr>
          <p:cNvPr id="44" name="Shape 42"/>
          <p:cNvSpPr/>
          <p:nvPr/>
        </p:nvSpPr>
        <p:spPr>
          <a:xfrm>
            <a:off x="713232" y="5230368"/>
            <a:ext cx="10725912" cy="731520"/>
          </a:xfrm>
          <a:prstGeom prst="rect">
            <a:avLst/>
          </a:prstGeom>
          <a:solidFill>
            <a:srgbClr val="FFFFFF"/>
          </a:solidFill>
          <a:ln w="12700">
            <a:solidFill>
              <a:srgbClr val="FFFFFF">
                <a:alpha val="0"/>
              </a:srgbClr>
            </a:solidFill>
            <a:prstDash val="solid"/>
          </a:ln>
        </p:spPr>
      </p:sp>
      <p:sp>
        <p:nvSpPr>
          <p:cNvPr id="45" name="Text 43"/>
          <p:cNvSpPr/>
          <p:nvPr/>
        </p:nvSpPr>
        <p:spPr>
          <a:xfrm>
            <a:off x="795528" y="5271516"/>
            <a:ext cx="102412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HG</a:t>
            </a:r>
            <a:endParaRPr lang="en-US" sz="1390" dirty="0"/>
          </a:p>
        </p:txBody>
      </p:sp>
      <p:sp>
        <p:nvSpPr>
          <p:cNvPr id="46" name="Shape 44"/>
          <p:cNvSpPr/>
          <p:nvPr/>
        </p:nvSpPr>
        <p:spPr>
          <a:xfrm>
            <a:off x="1901952" y="5230368"/>
            <a:ext cx="0" cy="731520"/>
          </a:xfrm>
          <a:prstGeom prst="line">
            <a:avLst/>
          </a:prstGeom>
          <a:noFill/>
          <a:ln w="6985">
            <a:solidFill>
              <a:srgbClr val="D6DEE8"/>
            </a:solidFill>
            <a:prstDash val="solid"/>
          </a:ln>
        </p:spPr>
      </p:sp>
      <p:sp>
        <p:nvSpPr>
          <p:cNvPr id="47" name="Text 45"/>
          <p:cNvSpPr/>
          <p:nvPr/>
        </p:nvSpPr>
        <p:spPr>
          <a:xfrm>
            <a:off x="1984248" y="5271516"/>
            <a:ext cx="6647688"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No hay mejora significativa integral en todas las tareas</a:t>
            </a:r>
            <a:endParaRPr lang="en-US" sz="1390" dirty="0"/>
          </a:p>
        </p:txBody>
      </p:sp>
      <p:sp>
        <p:nvSpPr>
          <p:cNvPr id="48" name="Shape 46"/>
          <p:cNvSpPr/>
          <p:nvPr/>
        </p:nvSpPr>
        <p:spPr>
          <a:xfrm>
            <a:off x="8714232" y="5230368"/>
            <a:ext cx="0" cy="731520"/>
          </a:xfrm>
          <a:prstGeom prst="line">
            <a:avLst/>
          </a:prstGeom>
          <a:noFill/>
          <a:ln w="6985">
            <a:solidFill>
              <a:srgbClr val="D6DEE8"/>
            </a:solidFill>
            <a:prstDash val="solid"/>
          </a:ln>
        </p:spPr>
      </p:sp>
      <p:sp>
        <p:nvSpPr>
          <p:cNvPr id="49" name="Text 47"/>
          <p:cNvSpPr/>
          <p:nvPr/>
        </p:nvSpPr>
        <p:spPr>
          <a:xfrm>
            <a:off x="8796528" y="5271516"/>
            <a:ext cx="2560320" cy="649224"/>
          </a:xfrm>
          <a:prstGeom prst="rect">
            <a:avLst/>
          </a:prstGeom>
          <a:noFill/>
          <a:ln/>
        </p:spPr>
        <p:txBody>
          <a:bodyPr wrap="square" lIns="0" tIns="0" rIns="0" bIns="0" rtlCol="0" anchor="ctr">
            <a:normAutofit/>
          </a:bodyPr>
          <a:lstStyle/>
          <a:p>
            <a:pPr algn="l" indent="0" marL="0">
              <a:buNone/>
            </a:pPr>
            <a:r>
              <a:rPr lang="en-US" sz="1390" dirty="0">
                <a:solidFill>
                  <a:srgbClr val="202B3C"/>
                </a:solidFill>
                <a:latin typeface="Aptos" pitchFamily="34" charset="0"/>
                <a:ea typeface="Aptos" pitchFamily="34" charset="-122"/>
                <a:cs typeface="Aptos" pitchFamily="34" charset="-120"/>
              </a:rPr>
              <a:t>Respaldo parcial</a:t>
            </a:r>
            <a:endParaRPr lang="en-US" sz="1390" dirty="0"/>
          </a:p>
        </p:txBody>
      </p:sp>
      <p:sp>
        <p:nvSpPr>
          <p:cNvPr id="50" name="Shape 48"/>
          <p:cNvSpPr/>
          <p:nvPr/>
        </p:nvSpPr>
        <p:spPr>
          <a:xfrm>
            <a:off x="713232" y="5961888"/>
            <a:ext cx="10725912" cy="0"/>
          </a:xfrm>
          <a:prstGeom prst="line">
            <a:avLst/>
          </a:prstGeom>
          <a:noFill/>
          <a:ln w="6985">
            <a:solidFill>
              <a:srgbClr val="D6DEE8"/>
            </a:solidFill>
            <a:prstDash val="solid"/>
          </a:ln>
        </p:spPr>
      </p:sp>
      <p:sp>
        <p:nvSpPr>
          <p:cNvPr id="51" name="Shape 49"/>
          <p:cNvSpPr/>
          <p:nvPr/>
        </p:nvSpPr>
        <p:spPr>
          <a:xfrm>
            <a:off x="731520" y="6089904"/>
            <a:ext cx="10652760" cy="292608"/>
          </a:xfrm>
          <a:prstGeom prst="roundRect">
            <a:avLst/>
          </a:prstGeom>
          <a:solidFill>
            <a:srgbClr val="E8F4F3"/>
          </a:solidFill>
          <a:ln w="12700">
            <a:solidFill>
              <a:srgbClr val="FFFFFF">
                <a:alpha val="0"/>
              </a:srgbClr>
            </a:solidFill>
            <a:prstDash val="solid"/>
          </a:ln>
        </p:spPr>
      </p:sp>
      <p:sp>
        <p:nvSpPr>
          <p:cNvPr id="52" name="Shape 50"/>
          <p:cNvSpPr/>
          <p:nvPr/>
        </p:nvSpPr>
        <p:spPr>
          <a:xfrm>
            <a:off x="731520" y="6089904"/>
            <a:ext cx="73152" cy="292608"/>
          </a:xfrm>
          <a:prstGeom prst="rect">
            <a:avLst/>
          </a:prstGeom>
          <a:solidFill>
            <a:srgbClr val="168B91"/>
          </a:solidFill>
          <a:ln w="12700">
            <a:solidFill>
              <a:srgbClr val="FFFFFF">
                <a:alpha val="0"/>
              </a:srgbClr>
            </a:solidFill>
            <a:prstDash val="solid"/>
          </a:ln>
        </p:spPr>
      </p:sp>
      <p:sp>
        <p:nvSpPr>
          <p:cNvPr id="53" name="Text 51"/>
          <p:cNvSpPr/>
          <p:nvPr/>
        </p:nvSpPr>
        <p:spPr>
          <a:xfrm>
            <a:off x="923544" y="6181344"/>
            <a:ext cx="10287000" cy="128016"/>
          </a:xfrm>
          <a:prstGeom prst="rect">
            <a:avLst/>
          </a:prstGeom>
          <a:noFill/>
          <a:ln/>
        </p:spPr>
        <p:txBody>
          <a:bodyPr wrap="square" lIns="0" tIns="0" rIns="0" bIns="0" rtlCol="0" anchor="ctr">
            <a:normAutofit/>
          </a:bodyPr>
          <a:lstStyle/>
          <a:p>
            <a:pPr algn="l" indent="0" marL="0">
              <a:buNone/>
            </a:pPr>
            <a:r>
              <a:rPr lang="en-US" sz="1110" b="1" dirty="0">
                <a:solidFill>
                  <a:srgbClr val="111E37"/>
                </a:solidFill>
                <a:latin typeface="Aptos" pitchFamily="34" charset="0"/>
                <a:ea typeface="Aptos" pitchFamily="34" charset="-122"/>
                <a:cs typeface="Aptos" pitchFamily="34" charset="-120"/>
              </a:rPr>
              <a:t>«Respaldo parcial» es una conclusión metodológicamente necesaria: identifica con precisión los efectos respaldados y los límites de inferencia.</a:t>
            </a:r>
            <a:endParaRPr lang="en-US" sz="111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DISCUSIÓN</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Aporte científico y tecnológico de una investigación en campo</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 contribución principal es un procedimiento reproducible sometido a contrastación, no un algoritmo nuevo.</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32</a:t>
            </a:r>
            <a:endParaRPr lang="en-US" sz="1040" dirty="0"/>
          </a:p>
        </p:txBody>
      </p:sp>
      <p:sp>
        <p:nvSpPr>
          <p:cNvPr id="9" name="Shape 7"/>
          <p:cNvSpPr/>
          <p:nvPr/>
        </p:nvSpPr>
        <p:spPr>
          <a:xfrm>
            <a:off x="740664" y="1691640"/>
            <a:ext cx="3410712" cy="3355848"/>
          </a:xfrm>
          <a:prstGeom prst="roundRect">
            <a:avLst/>
          </a:prstGeom>
          <a:solidFill>
            <a:srgbClr val="FFFFFF"/>
          </a:solidFill>
          <a:ln w="10160">
            <a:solidFill>
              <a:srgbClr val="DBE3ED"/>
            </a:solidFill>
            <a:prstDash val="solid"/>
          </a:ln>
        </p:spPr>
      </p:sp>
      <p:sp>
        <p:nvSpPr>
          <p:cNvPr id="10" name="Shape 8"/>
          <p:cNvSpPr/>
          <p:nvPr/>
        </p:nvSpPr>
        <p:spPr>
          <a:xfrm>
            <a:off x="740664" y="1691640"/>
            <a:ext cx="64008" cy="3355848"/>
          </a:xfrm>
          <a:prstGeom prst="rect">
            <a:avLst/>
          </a:prstGeom>
          <a:solidFill>
            <a:srgbClr val="2861A1"/>
          </a:solidFill>
          <a:ln w="12700">
            <a:solidFill>
              <a:srgbClr val="FFFFFF">
                <a:alpha val="0"/>
              </a:srgbClr>
            </a:solidFill>
            <a:prstDash val="solid"/>
          </a:ln>
        </p:spPr>
      </p:sp>
      <p:sp>
        <p:nvSpPr>
          <p:cNvPr id="11" name="Text 9"/>
          <p:cNvSpPr/>
          <p:nvPr/>
        </p:nvSpPr>
        <p:spPr>
          <a:xfrm>
            <a:off x="950976" y="1828800"/>
            <a:ext cx="2999232" cy="411480"/>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APORTE CIENTÍFICO</a:t>
            </a:r>
            <a:endParaRPr lang="en-US" sz="1600" dirty="0"/>
          </a:p>
        </p:txBody>
      </p:sp>
      <p:sp>
        <p:nvSpPr>
          <p:cNvPr id="12" name="Text 10"/>
          <p:cNvSpPr/>
          <p:nvPr/>
        </p:nvSpPr>
        <p:spPr>
          <a:xfrm>
            <a:off x="950976" y="2350008"/>
            <a:ext cx="2990088" cy="2560320"/>
          </a:xfrm>
          <a:prstGeom prst="rect">
            <a:avLst/>
          </a:prstGeom>
          <a:noFill/>
          <a:ln/>
        </p:spPr>
        <p:txBody>
          <a:bodyPr wrap="square" lIns="0" tIns="0" rIns="0" bIns="0" rtlCol="0" anchor="t">
            <a:normAutofit/>
          </a:bodyPr>
          <a:lstStyle/>
          <a:p>
            <a:pPr algn="l" indent="0" marL="0">
              <a:buNone/>
            </a:pPr>
            <a:r>
              <a:rPr lang="en-US" sz="1610" dirty="0">
                <a:solidFill>
                  <a:srgbClr val="64748B"/>
                </a:solidFill>
                <a:latin typeface="Aptos" pitchFamily="34" charset="0"/>
                <a:ea typeface="Aptos" pitchFamily="34" charset="-122"/>
                <a:cs typeface="Aptos" pitchFamily="34" charset="-120"/>
              </a:rPr>
              <a:t>Evidencia específica sobre qué indicadores y modelos ofrecen ganancia predictiva en un radioenlace rural altoandino, con resultados negativos y positivos documentados.</a:t>
            </a:r>
            <a:endParaRPr lang="en-US" sz="1610" dirty="0"/>
          </a:p>
        </p:txBody>
      </p:sp>
      <p:sp>
        <p:nvSpPr>
          <p:cNvPr id="13" name="Shape 11"/>
          <p:cNvSpPr/>
          <p:nvPr/>
        </p:nvSpPr>
        <p:spPr>
          <a:xfrm>
            <a:off x="4389120" y="1691640"/>
            <a:ext cx="3410712" cy="3355848"/>
          </a:xfrm>
          <a:prstGeom prst="roundRect">
            <a:avLst/>
          </a:prstGeom>
          <a:solidFill>
            <a:srgbClr val="FFFFFF"/>
          </a:solidFill>
          <a:ln w="10160">
            <a:solidFill>
              <a:srgbClr val="DBE3ED"/>
            </a:solidFill>
            <a:prstDash val="solid"/>
          </a:ln>
        </p:spPr>
      </p:sp>
      <p:sp>
        <p:nvSpPr>
          <p:cNvPr id="14" name="Shape 12"/>
          <p:cNvSpPr/>
          <p:nvPr/>
        </p:nvSpPr>
        <p:spPr>
          <a:xfrm>
            <a:off x="4389120" y="1691640"/>
            <a:ext cx="64008" cy="3355848"/>
          </a:xfrm>
          <a:prstGeom prst="rect">
            <a:avLst/>
          </a:prstGeom>
          <a:solidFill>
            <a:srgbClr val="168B91"/>
          </a:solidFill>
          <a:ln w="12700">
            <a:solidFill>
              <a:srgbClr val="FFFFFF">
                <a:alpha val="0"/>
              </a:srgbClr>
            </a:solidFill>
            <a:prstDash val="solid"/>
          </a:ln>
        </p:spPr>
      </p:sp>
      <p:sp>
        <p:nvSpPr>
          <p:cNvPr id="15" name="Text 13"/>
          <p:cNvSpPr/>
          <p:nvPr/>
        </p:nvSpPr>
        <p:spPr>
          <a:xfrm>
            <a:off x="4599432" y="1828800"/>
            <a:ext cx="2999232" cy="411480"/>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APORTE METODOLÓGICO</a:t>
            </a:r>
            <a:endParaRPr lang="en-US" sz="1600" dirty="0"/>
          </a:p>
        </p:txBody>
      </p:sp>
      <p:sp>
        <p:nvSpPr>
          <p:cNvPr id="16" name="Text 14"/>
          <p:cNvSpPr/>
          <p:nvPr/>
        </p:nvSpPr>
        <p:spPr>
          <a:xfrm>
            <a:off x="4599432" y="2350008"/>
            <a:ext cx="2990088" cy="2560320"/>
          </a:xfrm>
          <a:prstGeom prst="rect">
            <a:avLst/>
          </a:prstGeom>
          <a:noFill/>
          <a:ln/>
        </p:spPr>
        <p:txBody>
          <a:bodyPr wrap="square" lIns="0" tIns="0" rIns="0" bIns="0" rtlCol="0" anchor="t">
            <a:normAutofit/>
          </a:bodyPr>
          <a:lstStyle/>
          <a:p>
            <a:pPr algn="l" indent="0" marL="0">
              <a:buNone/>
            </a:pPr>
            <a:r>
              <a:rPr lang="en-US" sz="1610" dirty="0">
                <a:solidFill>
                  <a:srgbClr val="64748B"/>
                </a:solidFill>
                <a:latin typeface="Aptos" pitchFamily="34" charset="0"/>
                <a:ea typeface="Aptos" pitchFamily="34" charset="-122"/>
                <a:cs typeface="Aptos" pitchFamily="34" charset="-120"/>
              </a:rPr>
              <a:t>Integración de telemetría, controles de calidad, características causales, prueba cronológica, referentes simples y bootstrap por bloques.</a:t>
            </a:r>
            <a:endParaRPr lang="en-US" sz="1610" dirty="0"/>
          </a:p>
        </p:txBody>
      </p:sp>
      <p:sp>
        <p:nvSpPr>
          <p:cNvPr id="17" name="Shape 15"/>
          <p:cNvSpPr/>
          <p:nvPr/>
        </p:nvSpPr>
        <p:spPr>
          <a:xfrm>
            <a:off x="8046720" y="1691640"/>
            <a:ext cx="3410712" cy="3355848"/>
          </a:xfrm>
          <a:prstGeom prst="roundRect">
            <a:avLst/>
          </a:prstGeom>
          <a:solidFill>
            <a:srgbClr val="FFFFFF"/>
          </a:solidFill>
          <a:ln w="10160">
            <a:solidFill>
              <a:srgbClr val="DBE3ED"/>
            </a:solidFill>
            <a:prstDash val="solid"/>
          </a:ln>
        </p:spPr>
      </p:sp>
      <p:sp>
        <p:nvSpPr>
          <p:cNvPr id="18" name="Shape 16"/>
          <p:cNvSpPr/>
          <p:nvPr/>
        </p:nvSpPr>
        <p:spPr>
          <a:xfrm>
            <a:off x="8046720" y="1691640"/>
            <a:ext cx="64008" cy="3355848"/>
          </a:xfrm>
          <a:prstGeom prst="rect">
            <a:avLst/>
          </a:prstGeom>
          <a:solidFill>
            <a:srgbClr val="E7B755"/>
          </a:solidFill>
          <a:ln w="12700">
            <a:solidFill>
              <a:srgbClr val="FFFFFF">
                <a:alpha val="0"/>
              </a:srgbClr>
            </a:solidFill>
            <a:prstDash val="solid"/>
          </a:ln>
        </p:spPr>
      </p:sp>
      <p:sp>
        <p:nvSpPr>
          <p:cNvPr id="19" name="Text 17"/>
          <p:cNvSpPr/>
          <p:nvPr/>
        </p:nvSpPr>
        <p:spPr>
          <a:xfrm>
            <a:off x="8257032" y="1828800"/>
            <a:ext cx="2999232" cy="411480"/>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APORTE TECNOLÓGICO</a:t>
            </a:r>
            <a:endParaRPr lang="en-US" sz="1600" dirty="0"/>
          </a:p>
        </p:txBody>
      </p:sp>
      <p:sp>
        <p:nvSpPr>
          <p:cNvPr id="20" name="Text 18"/>
          <p:cNvSpPr/>
          <p:nvPr/>
        </p:nvSpPr>
        <p:spPr>
          <a:xfrm>
            <a:off x="8257032" y="2350008"/>
            <a:ext cx="2990088" cy="2560320"/>
          </a:xfrm>
          <a:prstGeom prst="rect">
            <a:avLst/>
          </a:prstGeom>
          <a:noFill/>
          <a:ln/>
        </p:spPr>
        <p:txBody>
          <a:bodyPr wrap="square" lIns="0" tIns="0" rIns="0" bIns="0" rtlCol="0" anchor="t">
            <a:normAutofit/>
          </a:bodyPr>
          <a:lstStyle/>
          <a:p>
            <a:pPr algn="l" indent="0" marL="0">
              <a:buNone/>
            </a:pPr>
            <a:r>
              <a:rPr lang="en-US" sz="1610" dirty="0">
                <a:solidFill>
                  <a:srgbClr val="64748B"/>
                </a:solidFill>
                <a:latin typeface="Aptos" pitchFamily="34" charset="0"/>
                <a:ea typeface="Aptos" pitchFamily="34" charset="-122"/>
                <a:cs typeface="Aptos" pitchFamily="34" charset="-120"/>
              </a:rPr>
              <a:t>Artefacto modular para clasificar, priorizar anomalías, pronosticar indicadores e interpretar alertas orientadas a supervisión técnica.</a:t>
            </a:r>
            <a:endParaRPr lang="en-US" sz="1610" dirty="0"/>
          </a:p>
        </p:txBody>
      </p:sp>
      <p:sp>
        <p:nvSpPr>
          <p:cNvPr id="21" name="Shape 19"/>
          <p:cNvSpPr/>
          <p:nvPr/>
        </p:nvSpPr>
        <p:spPr>
          <a:xfrm>
            <a:off x="758952" y="5358384"/>
            <a:ext cx="10625328" cy="658368"/>
          </a:xfrm>
          <a:prstGeom prst="roundRect">
            <a:avLst/>
          </a:prstGeom>
          <a:solidFill>
            <a:srgbClr val="E8F4F3"/>
          </a:solidFill>
          <a:ln w="12700">
            <a:solidFill>
              <a:srgbClr val="FFFFFF">
                <a:alpha val="0"/>
              </a:srgbClr>
            </a:solidFill>
            <a:prstDash val="solid"/>
          </a:ln>
        </p:spPr>
      </p:sp>
      <p:sp>
        <p:nvSpPr>
          <p:cNvPr id="22" name="Shape 20"/>
          <p:cNvSpPr/>
          <p:nvPr/>
        </p:nvSpPr>
        <p:spPr>
          <a:xfrm>
            <a:off x="758952" y="5358384"/>
            <a:ext cx="73152" cy="658368"/>
          </a:xfrm>
          <a:prstGeom prst="rect">
            <a:avLst/>
          </a:prstGeom>
          <a:solidFill>
            <a:srgbClr val="168B91"/>
          </a:solidFill>
          <a:ln w="12700">
            <a:solidFill>
              <a:srgbClr val="FFFFFF">
                <a:alpha val="0"/>
              </a:srgbClr>
            </a:solidFill>
            <a:prstDash val="solid"/>
          </a:ln>
        </p:spPr>
      </p:sp>
      <p:sp>
        <p:nvSpPr>
          <p:cNvPr id="23" name="Text 21"/>
          <p:cNvSpPr/>
          <p:nvPr/>
        </p:nvSpPr>
        <p:spPr>
          <a:xfrm>
            <a:off x="950976" y="5449824"/>
            <a:ext cx="10259568" cy="493776"/>
          </a:xfrm>
          <a:prstGeom prst="rect">
            <a:avLst/>
          </a:prstGeom>
          <a:noFill/>
          <a:ln/>
        </p:spPr>
        <p:txBody>
          <a:bodyPr wrap="square" lIns="0" tIns="0" rIns="0" bIns="0" rtlCol="0" anchor="ctr">
            <a:normAutofit/>
          </a:bodyPr>
          <a:lstStyle/>
          <a:p>
            <a:pPr algn="l" indent="0" marL="0">
              <a:buNone/>
            </a:pPr>
            <a:r>
              <a:rPr lang="en-US" sz="1510" b="1" dirty="0">
                <a:solidFill>
                  <a:srgbClr val="111E37"/>
                </a:solidFill>
                <a:latin typeface="Aptos" pitchFamily="34" charset="0"/>
                <a:ea typeface="Aptos" pitchFamily="34" charset="-122"/>
                <a:cs typeface="Aptos" pitchFamily="34" charset="-120"/>
              </a:rPr>
              <a:t>No generaliza automáticamente a todos los enlaces: aporta evidencia de caso y una metodología transferible con recalibración.</a:t>
            </a:r>
            <a:endParaRPr lang="en-US" sz="151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PROYECCIÓN UNC</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Una línea de investigación a desarrollar con escenarios reales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Propuesta de ruta académica a partir de esta tesis; no se presenta como política institucional ya aprobada.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33</a:t>
            </a:r>
            <a:endParaRPr lang="en-US" sz="1040" dirty="0"/>
          </a:p>
        </p:txBody>
      </p:sp>
      <p:sp>
        <p:nvSpPr>
          <p:cNvPr id="9" name="Shape 7"/>
          <p:cNvSpPr/>
          <p:nvPr/>
        </p:nvSpPr>
        <p:spPr>
          <a:xfrm>
            <a:off x="694944" y="1819656"/>
            <a:ext cx="2633472" cy="2423160"/>
          </a:xfrm>
          <a:prstGeom prst="roundRect">
            <a:avLst/>
          </a:prstGeom>
          <a:solidFill>
            <a:srgbClr val="FFFFFF"/>
          </a:solidFill>
          <a:ln w="10160">
            <a:solidFill>
              <a:srgbClr val="DBE3ED"/>
            </a:solidFill>
            <a:prstDash val="solid"/>
          </a:ln>
        </p:spPr>
      </p:sp>
      <p:sp>
        <p:nvSpPr>
          <p:cNvPr id="10" name="Shape 8"/>
          <p:cNvSpPr/>
          <p:nvPr/>
        </p:nvSpPr>
        <p:spPr>
          <a:xfrm>
            <a:off x="859536" y="2020824"/>
            <a:ext cx="457200" cy="457200"/>
          </a:xfrm>
          <a:prstGeom prst="ellipse">
            <a:avLst/>
          </a:prstGeom>
          <a:solidFill>
            <a:srgbClr val="168B91"/>
          </a:solidFill>
          <a:ln w="12700">
            <a:solidFill>
              <a:srgbClr val="FFFFFF">
                <a:alpha val="0"/>
              </a:srgbClr>
            </a:solidFill>
            <a:prstDash val="solid"/>
          </a:ln>
        </p:spPr>
      </p:sp>
      <p:sp>
        <p:nvSpPr>
          <p:cNvPr id="11" name="Text 9"/>
          <p:cNvSpPr/>
          <p:nvPr/>
        </p:nvSpPr>
        <p:spPr>
          <a:xfrm>
            <a:off x="969264" y="2093976"/>
            <a:ext cx="246888" cy="26517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2" name="Text 10"/>
          <p:cNvSpPr/>
          <p:nvPr/>
        </p:nvSpPr>
        <p:spPr>
          <a:xfrm>
            <a:off x="877824" y="2715768"/>
            <a:ext cx="2240280" cy="466344"/>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Infraestructura existente</a:t>
            </a:r>
            <a:endParaRPr lang="en-US" sz="1620" dirty="0"/>
          </a:p>
        </p:txBody>
      </p:sp>
      <p:sp>
        <p:nvSpPr>
          <p:cNvPr id="13" name="Text 11"/>
          <p:cNvSpPr/>
          <p:nvPr/>
        </p:nvSpPr>
        <p:spPr>
          <a:xfrm>
            <a:off x="877824" y="3246120"/>
            <a:ext cx="2231136" cy="649224"/>
          </a:xfrm>
          <a:prstGeom prst="rect">
            <a:avLst/>
          </a:prstGeom>
          <a:noFill/>
          <a:ln/>
        </p:spPr>
        <p:txBody>
          <a:bodyPr wrap="square" lIns="0" tIns="0" rIns="0" bIns="0" rtlCol="0" anchor="ctr">
            <a:normAutofit/>
          </a:bodyPr>
          <a:lstStyle/>
          <a:p>
            <a:pPr algn="l" indent="0" marL="0">
              <a:buNone/>
            </a:pPr>
            <a:r>
              <a:rPr lang="en-US" sz="1330" dirty="0">
                <a:solidFill>
                  <a:srgbClr val="64748B"/>
                </a:solidFill>
                <a:latin typeface="Aptos" pitchFamily="34" charset="0"/>
                <a:ea typeface="Aptos" pitchFamily="34" charset="-122"/>
                <a:cs typeface="Aptos" pitchFamily="34" charset="-120"/>
              </a:rPr>
              <a:t>Radioenlaces en servicio con permisos y trazabilidad</a:t>
            </a:r>
            <a:endParaRPr lang="en-US" sz="1330" dirty="0"/>
          </a:p>
        </p:txBody>
      </p:sp>
      <p:sp>
        <p:nvSpPr>
          <p:cNvPr id="14" name="Shape 12"/>
          <p:cNvSpPr/>
          <p:nvPr/>
        </p:nvSpPr>
        <p:spPr>
          <a:xfrm>
            <a:off x="3355848" y="2907792"/>
            <a:ext cx="173736" cy="0"/>
          </a:xfrm>
          <a:prstGeom prst="line">
            <a:avLst/>
          </a:prstGeom>
          <a:noFill/>
          <a:ln w="19050">
            <a:solidFill>
              <a:srgbClr val="E7B755"/>
            </a:solidFill>
            <a:prstDash val="solid"/>
            <a:headEnd type="none"/>
            <a:tailEnd type="triangle"/>
          </a:ln>
        </p:spPr>
      </p:sp>
      <p:sp>
        <p:nvSpPr>
          <p:cNvPr id="15" name="Shape 13"/>
          <p:cNvSpPr/>
          <p:nvPr/>
        </p:nvSpPr>
        <p:spPr>
          <a:xfrm>
            <a:off x="3557016" y="1819656"/>
            <a:ext cx="2633472" cy="2423160"/>
          </a:xfrm>
          <a:prstGeom prst="roundRect">
            <a:avLst/>
          </a:prstGeom>
          <a:solidFill>
            <a:srgbClr val="FFFFFF"/>
          </a:solidFill>
          <a:ln w="10160">
            <a:solidFill>
              <a:srgbClr val="DBE3ED"/>
            </a:solidFill>
            <a:prstDash val="solid"/>
          </a:ln>
        </p:spPr>
      </p:sp>
      <p:sp>
        <p:nvSpPr>
          <p:cNvPr id="16" name="Shape 14"/>
          <p:cNvSpPr/>
          <p:nvPr/>
        </p:nvSpPr>
        <p:spPr>
          <a:xfrm>
            <a:off x="3721608" y="2020824"/>
            <a:ext cx="457200" cy="457200"/>
          </a:xfrm>
          <a:prstGeom prst="ellipse">
            <a:avLst/>
          </a:prstGeom>
          <a:solidFill>
            <a:srgbClr val="168B91"/>
          </a:solidFill>
          <a:ln w="12700">
            <a:solidFill>
              <a:srgbClr val="FFFFFF">
                <a:alpha val="0"/>
              </a:srgbClr>
            </a:solidFill>
            <a:prstDash val="solid"/>
          </a:ln>
        </p:spPr>
      </p:sp>
      <p:sp>
        <p:nvSpPr>
          <p:cNvPr id="17" name="Text 15"/>
          <p:cNvSpPr/>
          <p:nvPr/>
        </p:nvSpPr>
        <p:spPr>
          <a:xfrm>
            <a:off x="3831336" y="2093976"/>
            <a:ext cx="246888" cy="26517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8" name="Text 16"/>
          <p:cNvSpPr/>
          <p:nvPr/>
        </p:nvSpPr>
        <p:spPr>
          <a:xfrm>
            <a:off x="3739896" y="2715768"/>
            <a:ext cx="2240280" cy="466344"/>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Datos observables</a:t>
            </a:r>
            <a:endParaRPr lang="en-US" sz="1620" dirty="0"/>
          </a:p>
        </p:txBody>
      </p:sp>
      <p:sp>
        <p:nvSpPr>
          <p:cNvPr id="19" name="Text 17"/>
          <p:cNvSpPr/>
          <p:nvPr/>
        </p:nvSpPr>
        <p:spPr>
          <a:xfrm>
            <a:off x="3739896" y="3246120"/>
            <a:ext cx="2231136" cy="649224"/>
          </a:xfrm>
          <a:prstGeom prst="rect">
            <a:avLst/>
          </a:prstGeom>
          <a:noFill/>
          <a:ln/>
        </p:spPr>
        <p:txBody>
          <a:bodyPr wrap="square" lIns="0" tIns="0" rIns="0" bIns="0" rtlCol="0" anchor="ctr">
            <a:normAutofit/>
          </a:bodyPr>
          <a:lstStyle/>
          <a:p>
            <a:pPr algn="l" indent="0" marL="0">
              <a:buNone/>
            </a:pPr>
            <a:r>
              <a:rPr lang="en-US" sz="1330" dirty="0">
                <a:solidFill>
                  <a:srgbClr val="64748B"/>
                </a:solidFill>
                <a:latin typeface="Aptos" pitchFamily="34" charset="0"/>
                <a:ea typeface="Aptos" pitchFamily="34" charset="-122"/>
                <a:cs typeface="Aptos" pitchFamily="34" charset="-120"/>
              </a:rPr>
              <a:t>Telemetría longitudinal, calidad y bitácoras</a:t>
            </a:r>
            <a:endParaRPr lang="en-US" sz="1330" dirty="0"/>
          </a:p>
        </p:txBody>
      </p:sp>
      <p:sp>
        <p:nvSpPr>
          <p:cNvPr id="20" name="Shape 18"/>
          <p:cNvSpPr/>
          <p:nvPr/>
        </p:nvSpPr>
        <p:spPr>
          <a:xfrm>
            <a:off x="6217920" y="2907792"/>
            <a:ext cx="173736" cy="0"/>
          </a:xfrm>
          <a:prstGeom prst="line">
            <a:avLst/>
          </a:prstGeom>
          <a:noFill/>
          <a:ln w="19050">
            <a:solidFill>
              <a:srgbClr val="E7B755"/>
            </a:solidFill>
            <a:prstDash val="solid"/>
            <a:headEnd type="none"/>
            <a:tailEnd type="triangle"/>
          </a:ln>
        </p:spPr>
      </p:sp>
      <p:sp>
        <p:nvSpPr>
          <p:cNvPr id="21" name="Shape 19"/>
          <p:cNvSpPr/>
          <p:nvPr/>
        </p:nvSpPr>
        <p:spPr>
          <a:xfrm>
            <a:off x="6419088" y="1819656"/>
            <a:ext cx="2633472" cy="2423160"/>
          </a:xfrm>
          <a:prstGeom prst="roundRect">
            <a:avLst/>
          </a:prstGeom>
          <a:solidFill>
            <a:srgbClr val="FFFFFF"/>
          </a:solidFill>
          <a:ln w="10160">
            <a:solidFill>
              <a:srgbClr val="DBE3ED"/>
            </a:solidFill>
            <a:prstDash val="solid"/>
          </a:ln>
        </p:spPr>
      </p:sp>
      <p:sp>
        <p:nvSpPr>
          <p:cNvPr id="22" name="Shape 20"/>
          <p:cNvSpPr/>
          <p:nvPr/>
        </p:nvSpPr>
        <p:spPr>
          <a:xfrm>
            <a:off x="6583680" y="2020824"/>
            <a:ext cx="457200" cy="457200"/>
          </a:xfrm>
          <a:prstGeom prst="ellipse">
            <a:avLst/>
          </a:prstGeom>
          <a:solidFill>
            <a:srgbClr val="168B91"/>
          </a:solidFill>
          <a:ln w="12700">
            <a:solidFill>
              <a:srgbClr val="FFFFFF">
                <a:alpha val="0"/>
              </a:srgbClr>
            </a:solidFill>
            <a:prstDash val="solid"/>
          </a:ln>
        </p:spPr>
      </p:sp>
      <p:sp>
        <p:nvSpPr>
          <p:cNvPr id="23" name="Text 21"/>
          <p:cNvSpPr/>
          <p:nvPr/>
        </p:nvSpPr>
        <p:spPr>
          <a:xfrm>
            <a:off x="6693408" y="2093976"/>
            <a:ext cx="246888" cy="26517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4" name="Text 22"/>
          <p:cNvSpPr/>
          <p:nvPr/>
        </p:nvSpPr>
        <p:spPr>
          <a:xfrm>
            <a:off x="6601968" y="2715768"/>
            <a:ext cx="2240280" cy="466344"/>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Contraste riguroso</a:t>
            </a:r>
            <a:endParaRPr lang="en-US" sz="1620" dirty="0"/>
          </a:p>
        </p:txBody>
      </p:sp>
      <p:sp>
        <p:nvSpPr>
          <p:cNvPr id="25" name="Text 23"/>
          <p:cNvSpPr/>
          <p:nvPr/>
        </p:nvSpPr>
        <p:spPr>
          <a:xfrm>
            <a:off x="6601968" y="3246120"/>
            <a:ext cx="2231136" cy="649224"/>
          </a:xfrm>
          <a:prstGeom prst="rect">
            <a:avLst/>
          </a:prstGeom>
          <a:noFill/>
          <a:ln/>
        </p:spPr>
        <p:txBody>
          <a:bodyPr wrap="square" lIns="0" tIns="0" rIns="0" bIns="0" rtlCol="0" anchor="ctr">
            <a:normAutofit/>
          </a:bodyPr>
          <a:lstStyle/>
          <a:p>
            <a:pPr algn="l" indent="0" marL="0">
              <a:buNone/>
            </a:pPr>
            <a:r>
              <a:rPr lang="en-US" sz="1330" dirty="0">
                <a:solidFill>
                  <a:srgbClr val="64748B"/>
                </a:solidFill>
                <a:latin typeface="Aptos" pitchFamily="34" charset="0"/>
                <a:ea typeface="Aptos" pitchFamily="34" charset="-122"/>
                <a:cs typeface="Aptos" pitchFamily="34" charset="-120"/>
              </a:rPr>
              <a:t>Baselines, validación temporal y métricas operativas</a:t>
            </a:r>
            <a:endParaRPr lang="en-US" sz="1330" dirty="0"/>
          </a:p>
        </p:txBody>
      </p:sp>
      <p:sp>
        <p:nvSpPr>
          <p:cNvPr id="26" name="Shape 24"/>
          <p:cNvSpPr/>
          <p:nvPr/>
        </p:nvSpPr>
        <p:spPr>
          <a:xfrm>
            <a:off x="9079992" y="2907792"/>
            <a:ext cx="173736" cy="0"/>
          </a:xfrm>
          <a:prstGeom prst="line">
            <a:avLst/>
          </a:prstGeom>
          <a:noFill/>
          <a:ln w="19050">
            <a:solidFill>
              <a:srgbClr val="E7B755"/>
            </a:solidFill>
            <a:prstDash val="solid"/>
            <a:headEnd type="none"/>
            <a:tailEnd type="triangle"/>
          </a:ln>
        </p:spPr>
      </p:sp>
      <p:sp>
        <p:nvSpPr>
          <p:cNvPr id="27" name="Shape 25"/>
          <p:cNvSpPr/>
          <p:nvPr/>
        </p:nvSpPr>
        <p:spPr>
          <a:xfrm>
            <a:off x="9281160" y="1819656"/>
            <a:ext cx="2633472" cy="2423160"/>
          </a:xfrm>
          <a:prstGeom prst="roundRect">
            <a:avLst/>
          </a:prstGeom>
          <a:solidFill>
            <a:srgbClr val="FFFFFF"/>
          </a:solidFill>
          <a:ln w="10160">
            <a:solidFill>
              <a:srgbClr val="DBE3ED"/>
            </a:solidFill>
            <a:prstDash val="solid"/>
          </a:ln>
        </p:spPr>
      </p:sp>
      <p:sp>
        <p:nvSpPr>
          <p:cNvPr id="28" name="Shape 26"/>
          <p:cNvSpPr/>
          <p:nvPr/>
        </p:nvSpPr>
        <p:spPr>
          <a:xfrm>
            <a:off x="9445752" y="2020824"/>
            <a:ext cx="457200" cy="457200"/>
          </a:xfrm>
          <a:prstGeom prst="ellipse">
            <a:avLst/>
          </a:prstGeom>
          <a:solidFill>
            <a:srgbClr val="E7B755"/>
          </a:solidFill>
          <a:ln w="12700">
            <a:solidFill>
              <a:srgbClr val="FFFFFF">
                <a:alpha val="0"/>
              </a:srgbClr>
            </a:solidFill>
            <a:prstDash val="solid"/>
          </a:ln>
        </p:spPr>
      </p:sp>
      <p:sp>
        <p:nvSpPr>
          <p:cNvPr id="29" name="Text 27"/>
          <p:cNvSpPr/>
          <p:nvPr/>
        </p:nvSpPr>
        <p:spPr>
          <a:xfrm>
            <a:off x="9555480" y="2093976"/>
            <a:ext cx="246888" cy="265176"/>
          </a:xfrm>
          <a:prstGeom prst="rect">
            <a:avLst/>
          </a:prstGeom>
          <a:noFill/>
          <a:ln/>
        </p:spPr>
        <p:txBody>
          <a:bodyPr wrap="square" lIns="0" tIns="0" rIns="0" bIns="0" rtlCol="0" anchor="ctr">
            <a:normAutofit/>
          </a:bodyPr>
          <a:lstStyle/>
          <a:p>
            <a:pPr algn="ctr" indent="0" marL="0">
              <a:buNone/>
            </a:pPr>
            <a:r>
              <a:rPr lang="en-US" sz="1400" b="1" dirty="0">
                <a:solidFill>
                  <a:srgbClr val="111E37"/>
                </a:solidFill>
                <a:latin typeface="Aptos" pitchFamily="34" charset="0"/>
                <a:ea typeface="Aptos" pitchFamily="34" charset="-122"/>
                <a:cs typeface="Aptos" pitchFamily="34" charset="-120"/>
              </a:rPr>
              <a:t>4</a:t>
            </a:r>
            <a:endParaRPr lang="en-US" sz="1400" dirty="0"/>
          </a:p>
        </p:txBody>
      </p:sp>
      <p:sp>
        <p:nvSpPr>
          <p:cNvPr id="30" name="Text 28"/>
          <p:cNvSpPr/>
          <p:nvPr/>
        </p:nvSpPr>
        <p:spPr>
          <a:xfrm>
            <a:off x="9464040" y="2715768"/>
            <a:ext cx="2240280" cy="466344"/>
          </a:xfrm>
          <a:prstGeom prst="rect">
            <a:avLst/>
          </a:prstGeom>
          <a:noFill/>
          <a:ln/>
        </p:spPr>
        <p:txBody>
          <a:bodyPr wrap="square" lIns="0" tIns="0" rIns="0" bIns="0" rtlCol="0" anchor="ctr">
            <a:normAutofit/>
          </a:bodyPr>
          <a:lstStyle/>
          <a:p>
            <a:pPr algn="l" indent="0" marL="0">
              <a:buNone/>
            </a:pPr>
            <a:r>
              <a:rPr lang="en-US" sz="1620" b="1" dirty="0">
                <a:solidFill>
                  <a:srgbClr val="111E37"/>
                </a:solidFill>
                <a:latin typeface="Aptos" pitchFamily="34" charset="0"/>
                <a:ea typeface="Aptos" pitchFamily="34" charset="-122"/>
                <a:cs typeface="Aptos" pitchFamily="34" charset="-120"/>
              </a:rPr>
              <a:t>Transferencia</a:t>
            </a:r>
            <a:endParaRPr lang="en-US" sz="1620" dirty="0"/>
          </a:p>
        </p:txBody>
      </p:sp>
      <p:sp>
        <p:nvSpPr>
          <p:cNvPr id="31" name="Text 29"/>
          <p:cNvSpPr/>
          <p:nvPr/>
        </p:nvSpPr>
        <p:spPr>
          <a:xfrm>
            <a:off x="9464040" y="3246120"/>
            <a:ext cx="2231136" cy="649224"/>
          </a:xfrm>
          <a:prstGeom prst="rect">
            <a:avLst/>
          </a:prstGeom>
          <a:noFill/>
          <a:ln/>
        </p:spPr>
        <p:txBody>
          <a:bodyPr wrap="square" lIns="0" tIns="0" rIns="0" bIns="0" rtlCol="0" anchor="ctr">
            <a:normAutofit/>
          </a:bodyPr>
          <a:lstStyle/>
          <a:p>
            <a:pPr algn="l" indent="0" marL="0">
              <a:buNone/>
            </a:pPr>
            <a:r>
              <a:rPr lang="en-US" sz="1330" dirty="0">
                <a:solidFill>
                  <a:srgbClr val="64748B"/>
                </a:solidFill>
                <a:latin typeface="Aptos" pitchFamily="34" charset="0"/>
                <a:ea typeface="Aptos" pitchFamily="34" charset="-122"/>
                <a:cs typeface="Aptos" pitchFamily="34" charset="-120"/>
              </a:rPr>
              <a:t>Herramientas reproducibles, publicaciones y formación</a:t>
            </a:r>
            <a:endParaRPr lang="en-US" sz="1330" dirty="0"/>
          </a:p>
        </p:txBody>
      </p:sp>
      <p:sp>
        <p:nvSpPr>
          <p:cNvPr id="32" name="Shape 30"/>
          <p:cNvSpPr/>
          <p:nvPr/>
        </p:nvSpPr>
        <p:spPr>
          <a:xfrm>
            <a:off x="740664" y="4828032"/>
            <a:ext cx="10707624" cy="777240"/>
          </a:xfrm>
          <a:prstGeom prst="roundRect">
            <a:avLst/>
          </a:prstGeom>
          <a:solidFill>
            <a:srgbClr val="E8F4F3"/>
          </a:solidFill>
          <a:ln w="12700">
            <a:solidFill>
              <a:srgbClr val="FFFFFF">
                <a:alpha val="0"/>
              </a:srgbClr>
            </a:solidFill>
            <a:prstDash val="solid"/>
          </a:ln>
        </p:spPr>
      </p:sp>
      <p:sp>
        <p:nvSpPr>
          <p:cNvPr id="33" name="Shape 31"/>
          <p:cNvSpPr/>
          <p:nvPr/>
        </p:nvSpPr>
        <p:spPr>
          <a:xfrm>
            <a:off x="740664" y="4828032"/>
            <a:ext cx="73152" cy="777240"/>
          </a:xfrm>
          <a:prstGeom prst="rect">
            <a:avLst/>
          </a:prstGeom>
          <a:solidFill>
            <a:srgbClr val="168B91"/>
          </a:solidFill>
          <a:ln w="12700">
            <a:solidFill>
              <a:srgbClr val="FFFFFF">
                <a:alpha val="0"/>
              </a:srgbClr>
            </a:solidFill>
            <a:prstDash val="solid"/>
          </a:ln>
        </p:spPr>
      </p:sp>
      <p:sp>
        <p:nvSpPr>
          <p:cNvPr id="34" name="Text 32"/>
          <p:cNvSpPr/>
          <p:nvPr/>
        </p:nvSpPr>
        <p:spPr>
          <a:xfrm>
            <a:off x="932688" y="4919472"/>
            <a:ext cx="10341864" cy="612648"/>
          </a:xfrm>
          <a:prstGeom prst="rect">
            <a:avLst/>
          </a:prstGeom>
          <a:noFill/>
          <a:ln/>
        </p:spPr>
        <p:txBody>
          <a:bodyPr wrap="square" lIns="0" tIns="0" rIns="0" bIns="0" rtlCol="0" anchor="ctr">
            <a:normAutofit/>
          </a:bodyPr>
          <a:lstStyle/>
          <a:p>
            <a:pPr algn="l" indent="0" marL="0">
              <a:buNone/>
            </a:pPr>
            <a:r>
              <a:rPr lang="en-US" sz="1700" b="1" dirty="0">
                <a:solidFill>
                  <a:srgbClr val="111E37"/>
                </a:solidFill>
                <a:latin typeface="Aptos" pitchFamily="34" charset="0"/>
                <a:ea typeface="Aptos" pitchFamily="34" charset="-122"/>
                <a:cs typeface="Aptos" pitchFamily="34" charset="-120"/>
              </a:rPr>
              <a:t>La innovación institucional propuesta es investigar sobre operación real, sin exigir necesariamente infraestructura adicional para cada proyecto.</a:t>
            </a:r>
            <a:endParaRPr lang="en-US" sz="1700" dirty="0"/>
          </a:p>
        </p:txBody>
      </p:sp>
      <p:sp>
        <p:nvSpPr>
          <p:cNvPr id="35" name="Text 33"/>
          <p:cNvSpPr/>
          <p:nvPr/>
        </p:nvSpPr>
        <p:spPr>
          <a:xfrm>
            <a:off x="749808" y="5751576"/>
            <a:ext cx="10689336" cy="411480"/>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Extensiones posibles: validación de incidencias, condiciones atmosféricas, deriva temporal, alertas calibradas y replicabilidad entre periodos.</a:t>
            </a:r>
            <a:endParaRPr lang="en-US" sz="13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CONCLUSIONES</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Conclusiones por objetivo específico</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Cada conclusión responde a una pregunta y delimita la fuerza de la evidencia.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capítulo VI.</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34</a:t>
            </a:r>
            <a:endParaRPr lang="en-US" sz="1040" dirty="0"/>
          </a:p>
        </p:txBody>
      </p:sp>
      <p:sp>
        <p:nvSpPr>
          <p:cNvPr id="9" name="Shape 7"/>
          <p:cNvSpPr/>
          <p:nvPr/>
        </p:nvSpPr>
        <p:spPr>
          <a:xfrm>
            <a:off x="749808" y="1673352"/>
            <a:ext cx="10661904" cy="868680"/>
          </a:xfrm>
          <a:prstGeom prst="roundRect">
            <a:avLst/>
          </a:prstGeom>
          <a:solidFill>
            <a:srgbClr val="E8F2F6"/>
          </a:solidFill>
          <a:ln w="10160">
            <a:solidFill>
              <a:srgbClr val="DBE3ED"/>
            </a:solidFill>
            <a:prstDash val="solid"/>
          </a:ln>
        </p:spPr>
      </p:sp>
      <p:sp>
        <p:nvSpPr>
          <p:cNvPr id="10" name="Shape 8"/>
          <p:cNvSpPr/>
          <p:nvPr/>
        </p:nvSpPr>
        <p:spPr>
          <a:xfrm>
            <a:off x="749808" y="1673352"/>
            <a:ext cx="64008" cy="868680"/>
          </a:xfrm>
          <a:prstGeom prst="rect">
            <a:avLst/>
          </a:prstGeom>
          <a:solidFill>
            <a:srgbClr val="168B91"/>
          </a:solidFill>
          <a:ln w="12700">
            <a:solidFill>
              <a:srgbClr val="FFFFFF">
                <a:alpha val="0"/>
              </a:srgbClr>
            </a:solidFill>
            <a:prstDash val="solid"/>
          </a:ln>
        </p:spPr>
      </p:sp>
      <p:sp>
        <p:nvSpPr>
          <p:cNvPr id="11" name="Text 9"/>
          <p:cNvSpPr/>
          <p:nvPr/>
        </p:nvSpPr>
        <p:spPr>
          <a:xfrm>
            <a:off x="960120" y="1828800"/>
            <a:ext cx="2852928" cy="51206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OE1 · Conjunto temporal</a:t>
            </a:r>
            <a:endParaRPr lang="en-US" sz="1600" dirty="0"/>
          </a:p>
        </p:txBody>
      </p:sp>
      <p:sp>
        <p:nvSpPr>
          <p:cNvPr id="12" name="Text 10"/>
          <p:cNvSpPr/>
          <p:nvPr/>
        </p:nvSpPr>
        <p:spPr>
          <a:xfrm>
            <a:off x="3904488" y="1783080"/>
            <a:ext cx="7242048" cy="621792"/>
          </a:xfrm>
          <a:prstGeom prst="rect">
            <a:avLst/>
          </a:prstGeom>
          <a:noFill/>
          <a:ln/>
        </p:spPr>
        <p:txBody>
          <a:bodyPr wrap="square" lIns="0" tIns="0" rIns="0" bIns="0" rtlCol="0" anchor="ctr">
            <a:normAutofit/>
          </a:bodyPr>
          <a:lstStyle/>
          <a:p>
            <a:pPr algn="l" indent="0" marL="0">
              <a:buNone/>
            </a:pPr>
            <a:r>
              <a:rPr lang="en-US" sz="1360" dirty="0">
                <a:solidFill>
                  <a:srgbClr val="202B3C"/>
                </a:solidFill>
                <a:latin typeface="Aptos" pitchFamily="34" charset="0"/>
                <a:ea typeface="Aptos" pitchFamily="34" charset="-122"/>
                <a:cs typeface="Aptos" pitchFamily="34" charset="-120"/>
              </a:rPr>
              <a:t>117 911 registros multivariables completos; alta consistencia entre los observados; cobertura temporal incompleta.</a:t>
            </a:r>
            <a:endParaRPr lang="en-US" sz="1360" dirty="0"/>
          </a:p>
        </p:txBody>
      </p:sp>
      <p:sp>
        <p:nvSpPr>
          <p:cNvPr id="13" name="Shape 11"/>
          <p:cNvSpPr/>
          <p:nvPr/>
        </p:nvSpPr>
        <p:spPr>
          <a:xfrm>
            <a:off x="749808" y="2706624"/>
            <a:ext cx="10661904" cy="868680"/>
          </a:xfrm>
          <a:prstGeom prst="roundRect">
            <a:avLst/>
          </a:prstGeom>
          <a:solidFill>
            <a:srgbClr val="FFFFFF"/>
          </a:solidFill>
          <a:ln w="10160">
            <a:solidFill>
              <a:srgbClr val="DBE3ED"/>
            </a:solidFill>
            <a:prstDash val="solid"/>
          </a:ln>
        </p:spPr>
      </p:sp>
      <p:sp>
        <p:nvSpPr>
          <p:cNvPr id="14" name="Shape 12"/>
          <p:cNvSpPr/>
          <p:nvPr/>
        </p:nvSpPr>
        <p:spPr>
          <a:xfrm>
            <a:off x="749808" y="2706624"/>
            <a:ext cx="64008" cy="868680"/>
          </a:xfrm>
          <a:prstGeom prst="rect">
            <a:avLst/>
          </a:prstGeom>
          <a:solidFill>
            <a:srgbClr val="168B91"/>
          </a:solidFill>
          <a:ln w="12700">
            <a:solidFill>
              <a:srgbClr val="FFFFFF">
                <a:alpha val="0"/>
              </a:srgbClr>
            </a:solidFill>
            <a:prstDash val="solid"/>
          </a:ln>
        </p:spPr>
      </p:sp>
      <p:sp>
        <p:nvSpPr>
          <p:cNvPr id="15" name="Text 13"/>
          <p:cNvSpPr/>
          <p:nvPr/>
        </p:nvSpPr>
        <p:spPr>
          <a:xfrm>
            <a:off x="960120" y="2862072"/>
            <a:ext cx="2852928" cy="51206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OE2 · Sistema integrado</a:t>
            </a:r>
            <a:endParaRPr lang="en-US" sz="1600" dirty="0"/>
          </a:p>
        </p:txBody>
      </p:sp>
      <p:sp>
        <p:nvSpPr>
          <p:cNvPr id="16" name="Text 14"/>
          <p:cNvSpPr/>
          <p:nvPr/>
        </p:nvSpPr>
        <p:spPr>
          <a:xfrm>
            <a:off x="3904488" y="2816352"/>
            <a:ext cx="7242048" cy="621792"/>
          </a:xfrm>
          <a:prstGeom prst="rect">
            <a:avLst/>
          </a:prstGeom>
          <a:noFill/>
          <a:ln/>
        </p:spPr>
        <p:txBody>
          <a:bodyPr wrap="square" lIns="0" tIns="0" rIns="0" bIns="0" rtlCol="0" anchor="ctr">
            <a:normAutofit/>
          </a:bodyPr>
          <a:lstStyle/>
          <a:p>
            <a:pPr algn="l" indent="0" marL="0">
              <a:buNone/>
            </a:pPr>
            <a:r>
              <a:rPr lang="en-US" sz="1360" dirty="0">
                <a:solidFill>
                  <a:srgbClr val="202B3C"/>
                </a:solidFill>
                <a:latin typeface="Aptos" pitchFamily="34" charset="0"/>
                <a:ea typeface="Aptos" pitchFamily="34" charset="-122"/>
                <a:cs typeface="Aptos" pitchFamily="34" charset="-120"/>
              </a:rPr>
              <a:t>Preparación, clasificación, anomalías, pronóstico y explicabilidad verificadas funcionalmente.</a:t>
            </a:r>
            <a:endParaRPr lang="en-US" sz="1360" dirty="0"/>
          </a:p>
        </p:txBody>
      </p:sp>
      <p:sp>
        <p:nvSpPr>
          <p:cNvPr id="17" name="Shape 15"/>
          <p:cNvSpPr/>
          <p:nvPr/>
        </p:nvSpPr>
        <p:spPr>
          <a:xfrm>
            <a:off x="749808" y="3739896"/>
            <a:ext cx="10661904" cy="868680"/>
          </a:xfrm>
          <a:prstGeom prst="roundRect">
            <a:avLst/>
          </a:prstGeom>
          <a:solidFill>
            <a:srgbClr val="E8F2F6"/>
          </a:solidFill>
          <a:ln w="10160">
            <a:solidFill>
              <a:srgbClr val="DBE3ED"/>
            </a:solidFill>
            <a:prstDash val="solid"/>
          </a:ln>
        </p:spPr>
      </p:sp>
      <p:sp>
        <p:nvSpPr>
          <p:cNvPr id="18" name="Shape 16"/>
          <p:cNvSpPr/>
          <p:nvPr/>
        </p:nvSpPr>
        <p:spPr>
          <a:xfrm>
            <a:off x="749808" y="3739896"/>
            <a:ext cx="64008" cy="868680"/>
          </a:xfrm>
          <a:prstGeom prst="rect">
            <a:avLst/>
          </a:prstGeom>
          <a:solidFill>
            <a:srgbClr val="E7B755"/>
          </a:solidFill>
          <a:ln w="12700">
            <a:solidFill>
              <a:srgbClr val="FFFFFF">
                <a:alpha val="0"/>
              </a:srgbClr>
            </a:solidFill>
            <a:prstDash val="solid"/>
          </a:ln>
        </p:spPr>
      </p:sp>
      <p:sp>
        <p:nvSpPr>
          <p:cNvPr id="19" name="Text 17"/>
          <p:cNvSpPr/>
          <p:nvPr/>
        </p:nvSpPr>
        <p:spPr>
          <a:xfrm>
            <a:off x="960120" y="3895344"/>
            <a:ext cx="2852928" cy="51206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OE3 · Desempeño comparado</a:t>
            </a:r>
            <a:endParaRPr lang="en-US" sz="1600" dirty="0"/>
          </a:p>
        </p:txBody>
      </p:sp>
      <p:sp>
        <p:nvSpPr>
          <p:cNvPr id="20" name="Text 18"/>
          <p:cNvSpPr/>
          <p:nvPr/>
        </p:nvSpPr>
        <p:spPr>
          <a:xfrm>
            <a:off x="3904488" y="3849624"/>
            <a:ext cx="7242048" cy="621792"/>
          </a:xfrm>
          <a:prstGeom prst="rect">
            <a:avLst/>
          </a:prstGeom>
          <a:noFill/>
          <a:ln/>
        </p:spPr>
        <p:txBody>
          <a:bodyPr wrap="square" lIns="0" tIns="0" rIns="0" bIns="0" rtlCol="0" anchor="ctr">
            <a:normAutofit/>
          </a:bodyPr>
          <a:lstStyle/>
          <a:p>
            <a:pPr algn="l" indent="0" marL="0">
              <a:buNone/>
            </a:pPr>
            <a:r>
              <a:rPr lang="en-US" sz="1360" dirty="0">
                <a:solidFill>
                  <a:srgbClr val="202B3C"/>
                </a:solidFill>
                <a:latin typeface="Aptos" pitchFamily="34" charset="0"/>
                <a:ea typeface="Aptos" pitchFamily="34" charset="-122"/>
                <a:cs typeface="Aptos" pitchFamily="34" charset="-120"/>
              </a:rPr>
              <a:t>Mejora robusta en MCS y tasa DL; sin superioridad uniforme en RSSI ni clasificación multiclase.</a:t>
            </a:r>
            <a:endParaRPr lang="en-US" sz="1360" dirty="0"/>
          </a:p>
        </p:txBody>
      </p:sp>
      <p:sp>
        <p:nvSpPr>
          <p:cNvPr id="21" name="Shape 19"/>
          <p:cNvSpPr/>
          <p:nvPr/>
        </p:nvSpPr>
        <p:spPr>
          <a:xfrm>
            <a:off x="749808" y="4773168"/>
            <a:ext cx="10661904" cy="868680"/>
          </a:xfrm>
          <a:prstGeom prst="roundRect">
            <a:avLst/>
          </a:prstGeom>
          <a:solidFill>
            <a:srgbClr val="FFFFFF"/>
          </a:solidFill>
          <a:ln w="10160">
            <a:solidFill>
              <a:srgbClr val="DBE3ED"/>
            </a:solidFill>
            <a:prstDash val="solid"/>
          </a:ln>
        </p:spPr>
      </p:sp>
      <p:sp>
        <p:nvSpPr>
          <p:cNvPr id="22" name="Shape 20"/>
          <p:cNvSpPr/>
          <p:nvPr/>
        </p:nvSpPr>
        <p:spPr>
          <a:xfrm>
            <a:off x="749808" y="4773168"/>
            <a:ext cx="64008" cy="868680"/>
          </a:xfrm>
          <a:prstGeom prst="rect">
            <a:avLst/>
          </a:prstGeom>
          <a:solidFill>
            <a:srgbClr val="E7B755"/>
          </a:solidFill>
          <a:ln w="12700">
            <a:solidFill>
              <a:srgbClr val="FFFFFF">
                <a:alpha val="0"/>
              </a:srgbClr>
            </a:solidFill>
            <a:prstDash val="solid"/>
          </a:ln>
        </p:spPr>
      </p:sp>
      <p:sp>
        <p:nvSpPr>
          <p:cNvPr id="23" name="Text 21"/>
          <p:cNvSpPr/>
          <p:nvPr/>
        </p:nvSpPr>
        <p:spPr>
          <a:xfrm>
            <a:off x="960120" y="4928616"/>
            <a:ext cx="2852928" cy="512064"/>
          </a:xfrm>
          <a:prstGeom prst="rect">
            <a:avLst/>
          </a:prstGeom>
          <a:noFill/>
          <a:ln/>
        </p:spPr>
        <p:txBody>
          <a:bodyPr wrap="square" lIns="0" tIns="0" rIns="0" bIns="0" rtlCol="0" anchor="ctr">
            <a:normAutofit/>
          </a:bodyPr>
          <a:lstStyle/>
          <a:p>
            <a:pPr algn="l" indent="0" marL="0">
              <a:buNone/>
            </a:pPr>
            <a:r>
              <a:rPr lang="en-US" sz="1600" b="1" dirty="0">
                <a:solidFill>
                  <a:srgbClr val="111E37"/>
                </a:solidFill>
                <a:latin typeface="Aptos" pitchFamily="34" charset="0"/>
                <a:ea typeface="Aptos" pitchFamily="34" charset="-122"/>
                <a:cs typeface="Aptos" pitchFamily="34" charset="-120"/>
              </a:rPr>
              <a:t>OE4 · Anticipación</a:t>
            </a:r>
            <a:endParaRPr lang="en-US" sz="1600" dirty="0"/>
          </a:p>
        </p:txBody>
      </p:sp>
      <p:sp>
        <p:nvSpPr>
          <p:cNvPr id="24" name="Text 22"/>
          <p:cNvSpPr/>
          <p:nvPr/>
        </p:nvSpPr>
        <p:spPr>
          <a:xfrm>
            <a:off x="3904488" y="4882896"/>
            <a:ext cx="7242048" cy="621792"/>
          </a:xfrm>
          <a:prstGeom prst="rect">
            <a:avLst/>
          </a:prstGeom>
          <a:noFill/>
          <a:ln/>
        </p:spPr>
        <p:txBody>
          <a:bodyPr wrap="square" lIns="0" tIns="0" rIns="0" bIns="0" rtlCol="0" anchor="ctr">
            <a:normAutofit/>
          </a:bodyPr>
          <a:lstStyle/>
          <a:p>
            <a:pPr algn="l" indent="0" marL="0">
              <a:buNone/>
            </a:pPr>
            <a:r>
              <a:rPr lang="en-US" sz="1360" dirty="0">
                <a:solidFill>
                  <a:srgbClr val="202B3C"/>
                </a:solidFill>
                <a:latin typeface="Aptos" pitchFamily="34" charset="0"/>
                <a:ea typeface="Aptos" pitchFamily="34" charset="-122"/>
                <a:cs typeface="Aptos" pitchFamily="34" charset="-120"/>
              </a:rPr>
              <a:t>46,71 % de condiciones proxy no normales anticipadas a 15 min; 10,75 % de falsas alertas; SNR DL principal.</a:t>
            </a:r>
            <a:endParaRPr lang="en-US" sz="1360" dirty="0"/>
          </a:p>
        </p:txBody>
      </p:sp>
      <p:sp>
        <p:nvSpPr>
          <p:cNvPr id="25" name="Shape 23"/>
          <p:cNvSpPr/>
          <p:nvPr/>
        </p:nvSpPr>
        <p:spPr>
          <a:xfrm>
            <a:off x="768096" y="5934456"/>
            <a:ext cx="10616184" cy="356616"/>
          </a:xfrm>
          <a:prstGeom prst="roundRect">
            <a:avLst/>
          </a:prstGeom>
          <a:solidFill>
            <a:srgbClr val="E8F4F3"/>
          </a:solidFill>
          <a:ln w="12700">
            <a:solidFill>
              <a:srgbClr val="FFFFFF">
                <a:alpha val="0"/>
              </a:srgbClr>
            </a:solidFill>
            <a:prstDash val="solid"/>
          </a:ln>
        </p:spPr>
      </p:sp>
      <p:sp>
        <p:nvSpPr>
          <p:cNvPr id="26" name="Shape 24"/>
          <p:cNvSpPr/>
          <p:nvPr/>
        </p:nvSpPr>
        <p:spPr>
          <a:xfrm>
            <a:off x="768096" y="5934456"/>
            <a:ext cx="73152" cy="356616"/>
          </a:xfrm>
          <a:prstGeom prst="rect">
            <a:avLst/>
          </a:prstGeom>
          <a:solidFill>
            <a:srgbClr val="168B91"/>
          </a:solidFill>
          <a:ln w="12700">
            <a:solidFill>
              <a:srgbClr val="FFFFFF">
                <a:alpha val="0"/>
              </a:srgbClr>
            </a:solidFill>
            <a:prstDash val="solid"/>
          </a:ln>
        </p:spPr>
      </p:sp>
      <p:sp>
        <p:nvSpPr>
          <p:cNvPr id="27" name="Text 25"/>
          <p:cNvSpPr/>
          <p:nvPr/>
        </p:nvSpPr>
        <p:spPr>
          <a:xfrm>
            <a:off x="960120" y="6025896"/>
            <a:ext cx="10250424" cy="192024"/>
          </a:xfrm>
          <a:prstGeom prst="rect">
            <a:avLst/>
          </a:prstGeom>
          <a:noFill/>
          <a:ln/>
        </p:spPr>
        <p:txBody>
          <a:bodyPr wrap="square" lIns="0" tIns="0" rIns="0" bIns="0" rtlCol="0" anchor="ctr">
            <a:normAutofit/>
          </a:bodyPr>
          <a:lstStyle/>
          <a:p>
            <a:pPr algn="l" indent="0" marL="0">
              <a:buNone/>
            </a:pPr>
            <a:r>
              <a:rPr lang="en-US" sz="1340" b="1" dirty="0">
                <a:solidFill>
                  <a:srgbClr val="111E37"/>
                </a:solidFill>
                <a:latin typeface="Aptos" pitchFamily="34" charset="0"/>
                <a:ea typeface="Aptos" pitchFamily="34" charset="-122"/>
                <a:cs typeface="Aptos" pitchFamily="34" charset="-120"/>
              </a:rPr>
              <a:t>Conclusión general: artefacto reproducible y útil como apoyo técnico; hipótesis general respaldada parcialmente.</a:t>
            </a:r>
            <a:endParaRPr lang="en-US" sz="13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RECOMENDACIONES</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Recomendaciones según evidencia y limitaciones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Las siguientes acciones fortalecen la aplicabilidad sin desvirtuar el estudio terminado.</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capítulo VI.</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35</a:t>
            </a:r>
            <a:endParaRPr lang="en-US" sz="1040" dirty="0"/>
          </a:p>
        </p:txBody>
      </p:sp>
      <p:sp>
        <p:nvSpPr>
          <p:cNvPr id="9" name="Shape 7"/>
          <p:cNvSpPr/>
          <p:nvPr/>
        </p:nvSpPr>
        <p:spPr>
          <a:xfrm>
            <a:off x="777240" y="1673352"/>
            <a:ext cx="10616184" cy="676656"/>
          </a:xfrm>
          <a:prstGeom prst="roundRect">
            <a:avLst/>
          </a:prstGeom>
          <a:solidFill>
            <a:srgbClr val="FFFFFF"/>
          </a:solidFill>
          <a:ln w="10160">
            <a:solidFill>
              <a:srgbClr val="DBE3ED"/>
            </a:solidFill>
            <a:prstDash val="solid"/>
          </a:ln>
        </p:spPr>
      </p:sp>
      <p:sp>
        <p:nvSpPr>
          <p:cNvPr id="10" name="Shape 8"/>
          <p:cNvSpPr/>
          <p:nvPr/>
        </p:nvSpPr>
        <p:spPr>
          <a:xfrm>
            <a:off x="950976" y="1874520"/>
            <a:ext cx="402336"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1033272" y="1874520"/>
            <a:ext cx="237744"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01</a:t>
            </a:r>
            <a:endParaRPr lang="en-US" sz="940" dirty="0"/>
          </a:p>
        </p:txBody>
      </p:sp>
      <p:sp>
        <p:nvSpPr>
          <p:cNvPr id="12" name="Text 10"/>
          <p:cNvSpPr/>
          <p:nvPr/>
        </p:nvSpPr>
        <p:spPr>
          <a:xfrm>
            <a:off x="1517904" y="1792224"/>
            <a:ext cx="3255264"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Bitácora digital sincronizada</a:t>
            </a:r>
            <a:endParaRPr lang="en-US" sz="1570" dirty="0"/>
          </a:p>
        </p:txBody>
      </p:sp>
      <p:sp>
        <p:nvSpPr>
          <p:cNvPr id="13" name="Text 11"/>
          <p:cNvSpPr/>
          <p:nvPr/>
        </p:nvSpPr>
        <p:spPr>
          <a:xfrm>
            <a:off x="4754880" y="1773936"/>
            <a:ext cx="6382512" cy="466344"/>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Confirmar fallas, mantenimientos y cambios de configuración para validar etiquetas.</a:t>
            </a:r>
            <a:endParaRPr lang="en-US" sz="1340" dirty="0"/>
          </a:p>
        </p:txBody>
      </p:sp>
      <p:sp>
        <p:nvSpPr>
          <p:cNvPr id="14" name="Shape 12"/>
          <p:cNvSpPr/>
          <p:nvPr/>
        </p:nvSpPr>
        <p:spPr>
          <a:xfrm>
            <a:off x="777240" y="2505456"/>
            <a:ext cx="10616184" cy="676656"/>
          </a:xfrm>
          <a:prstGeom prst="roundRect">
            <a:avLst/>
          </a:prstGeom>
          <a:solidFill>
            <a:srgbClr val="FFFFFF"/>
          </a:solidFill>
          <a:ln w="10160">
            <a:solidFill>
              <a:srgbClr val="DBE3ED"/>
            </a:solidFill>
            <a:prstDash val="solid"/>
          </a:ln>
        </p:spPr>
      </p:sp>
      <p:sp>
        <p:nvSpPr>
          <p:cNvPr id="15" name="Shape 13"/>
          <p:cNvSpPr/>
          <p:nvPr/>
        </p:nvSpPr>
        <p:spPr>
          <a:xfrm>
            <a:off x="950976" y="2706624"/>
            <a:ext cx="402336" cy="265176"/>
          </a:xfrm>
          <a:prstGeom prst="roundRect">
            <a:avLst/>
          </a:prstGeom>
          <a:solidFill>
            <a:srgbClr val="168B91"/>
          </a:solidFill>
          <a:ln w="12700">
            <a:solidFill>
              <a:srgbClr val="FFFFFF">
                <a:alpha val="0"/>
              </a:srgbClr>
            </a:solidFill>
            <a:prstDash val="solid"/>
          </a:ln>
        </p:spPr>
      </p:sp>
      <p:sp>
        <p:nvSpPr>
          <p:cNvPr id="16" name="Text 14"/>
          <p:cNvSpPr/>
          <p:nvPr/>
        </p:nvSpPr>
        <p:spPr>
          <a:xfrm>
            <a:off x="1033272" y="2706624"/>
            <a:ext cx="237744"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02</a:t>
            </a:r>
            <a:endParaRPr lang="en-US" sz="940" dirty="0"/>
          </a:p>
        </p:txBody>
      </p:sp>
      <p:sp>
        <p:nvSpPr>
          <p:cNvPr id="17" name="Text 15"/>
          <p:cNvSpPr/>
          <p:nvPr/>
        </p:nvSpPr>
        <p:spPr>
          <a:xfrm>
            <a:off x="1517904" y="2624328"/>
            <a:ext cx="3255264"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Continuidad de adquisición</a:t>
            </a:r>
            <a:endParaRPr lang="en-US" sz="1570" dirty="0"/>
          </a:p>
        </p:txBody>
      </p:sp>
      <p:sp>
        <p:nvSpPr>
          <p:cNvPr id="18" name="Text 16"/>
          <p:cNvSpPr/>
          <p:nvPr/>
        </p:nvSpPr>
        <p:spPr>
          <a:xfrm>
            <a:off x="4754880" y="2606040"/>
            <a:ext cx="6382512" cy="466344"/>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Capturar nuevas estaciones y condiciones sin ocultar vacíos de telemetría.</a:t>
            </a:r>
            <a:endParaRPr lang="en-US" sz="1340" dirty="0"/>
          </a:p>
        </p:txBody>
      </p:sp>
      <p:sp>
        <p:nvSpPr>
          <p:cNvPr id="19" name="Shape 17"/>
          <p:cNvSpPr/>
          <p:nvPr/>
        </p:nvSpPr>
        <p:spPr>
          <a:xfrm>
            <a:off x="777240" y="3337560"/>
            <a:ext cx="10616184" cy="676656"/>
          </a:xfrm>
          <a:prstGeom prst="roundRect">
            <a:avLst/>
          </a:prstGeom>
          <a:solidFill>
            <a:srgbClr val="FFFFFF"/>
          </a:solidFill>
          <a:ln w="10160">
            <a:solidFill>
              <a:srgbClr val="DBE3ED"/>
            </a:solidFill>
            <a:prstDash val="solid"/>
          </a:ln>
        </p:spPr>
      </p:sp>
      <p:sp>
        <p:nvSpPr>
          <p:cNvPr id="20" name="Shape 18"/>
          <p:cNvSpPr/>
          <p:nvPr/>
        </p:nvSpPr>
        <p:spPr>
          <a:xfrm>
            <a:off x="950976" y="3538728"/>
            <a:ext cx="402336" cy="265176"/>
          </a:xfrm>
          <a:prstGeom prst="roundRect">
            <a:avLst/>
          </a:prstGeom>
          <a:solidFill>
            <a:srgbClr val="168B91"/>
          </a:solidFill>
          <a:ln w="12700">
            <a:solidFill>
              <a:srgbClr val="FFFFFF">
                <a:alpha val="0"/>
              </a:srgbClr>
            </a:solidFill>
            <a:prstDash val="solid"/>
          </a:ln>
        </p:spPr>
      </p:sp>
      <p:sp>
        <p:nvSpPr>
          <p:cNvPr id="21" name="Text 19"/>
          <p:cNvSpPr/>
          <p:nvPr/>
        </p:nvSpPr>
        <p:spPr>
          <a:xfrm>
            <a:off x="1033272" y="3538728"/>
            <a:ext cx="237744"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03</a:t>
            </a:r>
            <a:endParaRPr lang="en-US" sz="940" dirty="0"/>
          </a:p>
        </p:txBody>
      </p:sp>
      <p:sp>
        <p:nvSpPr>
          <p:cNvPr id="22" name="Text 20"/>
          <p:cNvSpPr/>
          <p:nvPr/>
        </p:nvSpPr>
        <p:spPr>
          <a:xfrm>
            <a:off x="1517904" y="3456432"/>
            <a:ext cx="3255264"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Calibración operativa</a:t>
            </a:r>
            <a:endParaRPr lang="en-US" sz="1570" dirty="0"/>
          </a:p>
        </p:txBody>
      </p:sp>
      <p:sp>
        <p:nvSpPr>
          <p:cNvPr id="23" name="Text 21"/>
          <p:cNvSpPr/>
          <p:nvPr/>
        </p:nvSpPr>
        <p:spPr>
          <a:xfrm>
            <a:off x="4754880" y="3438144"/>
            <a:ext cx="6382512" cy="466344"/>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Ajustar umbrales y balance entre recall y carga de falsas alertas.</a:t>
            </a:r>
            <a:endParaRPr lang="en-US" sz="1340" dirty="0"/>
          </a:p>
        </p:txBody>
      </p:sp>
      <p:sp>
        <p:nvSpPr>
          <p:cNvPr id="24" name="Shape 22"/>
          <p:cNvSpPr/>
          <p:nvPr/>
        </p:nvSpPr>
        <p:spPr>
          <a:xfrm>
            <a:off x="777240" y="4169664"/>
            <a:ext cx="10616184" cy="676656"/>
          </a:xfrm>
          <a:prstGeom prst="roundRect">
            <a:avLst/>
          </a:prstGeom>
          <a:solidFill>
            <a:srgbClr val="FFFFFF"/>
          </a:solidFill>
          <a:ln w="10160">
            <a:solidFill>
              <a:srgbClr val="DBE3ED"/>
            </a:solidFill>
            <a:prstDash val="solid"/>
          </a:ln>
        </p:spPr>
      </p:sp>
      <p:sp>
        <p:nvSpPr>
          <p:cNvPr id="25" name="Shape 23"/>
          <p:cNvSpPr/>
          <p:nvPr/>
        </p:nvSpPr>
        <p:spPr>
          <a:xfrm>
            <a:off x="950976" y="4370832"/>
            <a:ext cx="402336" cy="265176"/>
          </a:xfrm>
          <a:prstGeom prst="roundRect">
            <a:avLst/>
          </a:prstGeom>
          <a:solidFill>
            <a:srgbClr val="168B91"/>
          </a:solidFill>
          <a:ln w="12700">
            <a:solidFill>
              <a:srgbClr val="FFFFFF">
                <a:alpha val="0"/>
              </a:srgbClr>
            </a:solidFill>
            <a:prstDash val="solid"/>
          </a:ln>
        </p:spPr>
      </p:sp>
      <p:sp>
        <p:nvSpPr>
          <p:cNvPr id="26" name="Text 24"/>
          <p:cNvSpPr/>
          <p:nvPr/>
        </p:nvSpPr>
        <p:spPr>
          <a:xfrm>
            <a:off x="1033272" y="4370832"/>
            <a:ext cx="237744"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04</a:t>
            </a:r>
            <a:endParaRPr lang="en-US" sz="940" dirty="0"/>
          </a:p>
        </p:txBody>
      </p:sp>
      <p:sp>
        <p:nvSpPr>
          <p:cNvPr id="27" name="Text 25"/>
          <p:cNvSpPr/>
          <p:nvPr/>
        </p:nvSpPr>
        <p:spPr>
          <a:xfrm>
            <a:off x="1517904" y="4288536"/>
            <a:ext cx="3255264"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Extensión controlada</a:t>
            </a:r>
            <a:endParaRPr lang="en-US" sz="1570" dirty="0"/>
          </a:p>
        </p:txBody>
      </p:sp>
      <p:sp>
        <p:nvSpPr>
          <p:cNvPr id="28" name="Text 26"/>
          <p:cNvSpPr/>
          <p:nvPr/>
        </p:nvSpPr>
        <p:spPr>
          <a:xfrm>
            <a:off x="4754880" y="4270248"/>
            <a:ext cx="6382512" cy="466344"/>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Validación externa cuando sea factible, con recalibración por radio y contexto.</a:t>
            </a:r>
            <a:endParaRPr lang="en-US" sz="1340" dirty="0"/>
          </a:p>
        </p:txBody>
      </p:sp>
      <p:sp>
        <p:nvSpPr>
          <p:cNvPr id="29" name="Shape 27"/>
          <p:cNvSpPr/>
          <p:nvPr/>
        </p:nvSpPr>
        <p:spPr>
          <a:xfrm>
            <a:off x="777240" y="5001768"/>
            <a:ext cx="10616184" cy="676656"/>
          </a:xfrm>
          <a:prstGeom prst="roundRect">
            <a:avLst/>
          </a:prstGeom>
          <a:solidFill>
            <a:srgbClr val="FFFFFF"/>
          </a:solidFill>
          <a:ln w="10160">
            <a:solidFill>
              <a:srgbClr val="DBE3ED"/>
            </a:solidFill>
            <a:prstDash val="solid"/>
          </a:ln>
        </p:spPr>
      </p:sp>
      <p:sp>
        <p:nvSpPr>
          <p:cNvPr id="30" name="Shape 28"/>
          <p:cNvSpPr/>
          <p:nvPr/>
        </p:nvSpPr>
        <p:spPr>
          <a:xfrm>
            <a:off x="950976" y="5202936"/>
            <a:ext cx="402336" cy="265176"/>
          </a:xfrm>
          <a:prstGeom prst="roundRect">
            <a:avLst/>
          </a:prstGeom>
          <a:solidFill>
            <a:srgbClr val="168B91"/>
          </a:solidFill>
          <a:ln w="12700">
            <a:solidFill>
              <a:srgbClr val="FFFFFF">
                <a:alpha val="0"/>
              </a:srgbClr>
            </a:solidFill>
            <a:prstDash val="solid"/>
          </a:ln>
        </p:spPr>
      </p:sp>
      <p:sp>
        <p:nvSpPr>
          <p:cNvPr id="31" name="Text 29"/>
          <p:cNvSpPr/>
          <p:nvPr/>
        </p:nvSpPr>
        <p:spPr>
          <a:xfrm>
            <a:off x="1033272" y="5202936"/>
            <a:ext cx="237744"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FFFFF"/>
                </a:solidFill>
                <a:latin typeface="Aptos" pitchFamily="34" charset="0"/>
                <a:ea typeface="Aptos" pitchFamily="34" charset="-122"/>
                <a:cs typeface="Aptos" pitchFamily="34" charset="-120"/>
              </a:rPr>
              <a:t>05</a:t>
            </a:r>
            <a:endParaRPr lang="en-US" sz="940" dirty="0"/>
          </a:p>
        </p:txBody>
      </p:sp>
      <p:sp>
        <p:nvSpPr>
          <p:cNvPr id="32" name="Text 30"/>
          <p:cNvSpPr/>
          <p:nvPr/>
        </p:nvSpPr>
        <p:spPr>
          <a:xfrm>
            <a:off x="1517904" y="5120640"/>
            <a:ext cx="3255264" cy="438912"/>
          </a:xfrm>
          <a:prstGeom prst="rect">
            <a:avLst/>
          </a:prstGeom>
          <a:noFill/>
          <a:ln/>
        </p:spPr>
        <p:txBody>
          <a:bodyPr wrap="square" lIns="0" tIns="0" rIns="0" bIns="0" rtlCol="0" anchor="ctr">
            <a:normAutofit/>
          </a:bodyPr>
          <a:lstStyle/>
          <a:p>
            <a:pPr algn="l" indent="0" marL="0">
              <a:buNone/>
            </a:pPr>
            <a:r>
              <a:rPr lang="en-US" sz="1570" b="1" dirty="0">
                <a:solidFill>
                  <a:srgbClr val="111E37"/>
                </a:solidFill>
                <a:latin typeface="Aptos" pitchFamily="34" charset="0"/>
                <a:ea typeface="Aptos" pitchFamily="34" charset="-122"/>
                <a:cs typeface="Aptos" pitchFamily="34" charset="-120"/>
              </a:rPr>
              <a:t>Modelos adicionales</a:t>
            </a:r>
            <a:endParaRPr lang="en-US" sz="1570" dirty="0"/>
          </a:p>
        </p:txBody>
      </p:sp>
      <p:sp>
        <p:nvSpPr>
          <p:cNvPr id="33" name="Text 31"/>
          <p:cNvSpPr/>
          <p:nvPr/>
        </p:nvSpPr>
        <p:spPr>
          <a:xfrm>
            <a:off x="4754880" y="5102352"/>
            <a:ext cx="6382512" cy="466344"/>
          </a:xfrm>
          <a:prstGeom prst="rect">
            <a:avLst/>
          </a:prstGeom>
          <a:noFill/>
          <a:ln/>
        </p:spPr>
        <p:txBody>
          <a:bodyPr wrap="square" lIns="0" tIns="0" rIns="0" bIns="0" rtlCol="0" anchor="ctr">
            <a:normAutofit/>
          </a:bodyPr>
          <a:lstStyle/>
          <a:p>
            <a:pPr algn="l" indent="0" marL="0">
              <a:buNone/>
            </a:pPr>
            <a:r>
              <a:rPr lang="en-US" sz="1340" dirty="0">
                <a:solidFill>
                  <a:srgbClr val="64748B"/>
                </a:solidFill>
                <a:latin typeface="Aptos" pitchFamily="34" charset="0"/>
                <a:ea typeface="Aptos" pitchFamily="34" charset="-122"/>
                <a:cs typeface="Aptos" pitchFamily="34" charset="-120"/>
              </a:rPr>
              <a:t>Solo cuando exista evidencia suficiente de incidentes; valorar explicabilidad y costo.</a:t>
            </a:r>
            <a:endParaRPr lang="en-US" sz="13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E37"/>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7B755"/>
          </a:solidFill>
          <a:ln w="12700">
            <a:solidFill>
              <a:srgbClr val="FFFFFF">
                <a:alpha val="0"/>
              </a:srgbClr>
            </a:solidFill>
            <a:prstDash val="solid"/>
          </a:ln>
        </p:spPr>
      </p:sp>
      <p:sp>
        <p:nvSpPr>
          <p:cNvPr id="3" name="Shape 1"/>
          <p:cNvSpPr/>
          <p:nvPr/>
        </p:nvSpPr>
        <p:spPr>
          <a:xfrm>
            <a:off x="7498080" y="0"/>
            <a:ext cx="4206240" cy="6858000"/>
          </a:xfrm>
          <a:prstGeom prst="line">
            <a:avLst/>
          </a:prstGeom>
          <a:noFill/>
          <a:ln w="6350">
            <a:solidFill>
              <a:srgbClr val="293C59"/>
            </a:solidFill>
            <a:prstDash val="solid"/>
          </a:ln>
        </p:spPr>
      </p:sp>
      <p:sp>
        <p:nvSpPr>
          <p:cNvPr id="4" name="Shape 2"/>
          <p:cNvSpPr/>
          <p:nvPr/>
        </p:nvSpPr>
        <p:spPr>
          <a:xfrm>
            <a:off x="7991856" y="0"/>
            <a:ext cx="3913632" cy="6858000"/>
          </a:xfrm>
          <a:prstGeom prst="line">
            <a:avLst/>
          </a:prstGeom>
          <a:noFill/>
          <a:ln w="6350">
            <a:solidFill>
              <a:srgbClr val="293C59"/>
            </a:solidFill>
            <a:prstDash val="solid"/>
          </a:ln>
        </p:spPr>
      </p:sp>
      <p:sp>
        <p:nvSpPr>
          <p:cNvPr id="5" name="Shape 3"/>
          <p:cNvSpPr/>
          <p:nvPr/>
        </p:nvSpPr>
        <p:spPr>
          <a:xfrm>
            <a:off x="8485632" y="0"/>
            <a:ext cx="3621024" cy="6858000"/>
          </a:xfrm>
          <a:prstGeom prst="line">
            <a:avLst/>
          </a:prstGeom>
          <a:noFill/>
          <a:ln w="6350">
            <a:solidFill>
              <a:srgbClr val="293C59"/>
            </a:solidFill>
            <a:prstDash val="solid"/>
          </a:ln>
        </p:spPr>
      </p:sp>
      <p:sp>
        <p:nvSpPr>
          <p:cNvPr id="6" name="Shape 4"/>
          <p:cNvSpPr/>
          <p:nvPr/>
        </p:nvSpPr>
        <p:spPr>
          <a:xfrm>
            <a:off x="8979408" y="0"/>
            <a:ext cx="3328416" cy="6858000"/>
          </a:xfrm>
          <a:prstGeom prst="line">
            <a:avLst/>
          </a:prstGeom>
          <a:noFill/>
          <a:ln w="6350">
            <a:solidFill>
              <a:srgbClr val="293C59"/>
            </a:solidFill>
            <a:prstDash val="solid"/>
          </a:ln>
        </p:spPr>
      </p:sp>
      <p:sp>
        <p:nvSpPr>
          <p:cNvPr id="7" name="Shape 5"/>
          <p:cNvSpPr/>
          <p:nvPr/>
        </p:nvSpPr>
        <p:spPr>
          <a:xfrm>
            <a:off x="9473184" y="0"/>
            <a:ext cx="3035808" cy="6858000"/>
          </a:xfrm>
          <a:prstGeom prst="line">
            <a:avLst/>
          </a:prstGeom>
          <a:noFill/>
          <a:ln w="6350">
            <a:solidFill>
              <a:srgbClr val="293C59"/>
            </a:solidFill>
            <a:prstDash val="solid"/>
          </a:ln>
        </p:spPr>
      </p:sp>
      <p:sp>
        <p:nvSpPr>
          <p:cNvPr id="8" name="Shape 6"/>
          <p:cNvSpPr/>
          <p:nvPr/>
        </p:nvSpPr>
        <p:spPr>
          <a:xfrm>
            <a:off x="9966960" y="0"/>
            <a:ext cx="2743200" cy="6858000"/>
          </a:xfrm>
          <a:prstGeom prst="line">
            <a:avLst/>
          </a:prstGeom>
          <a:noFill/>
          <a:ln w="6350">
            <a:solidFill>
              <a:srgbClr val="293C59"/>
            </a:solidFill>
            <a:prstDash val="solid"/>
          </a:ln>
        </p:spPr>
      </p:sp>
      <p:sp>
        <p:nvSpPr>
          <p:cNvPr id="9" name="Shape 7"/>
          <p:cNvSpPr/>
          <p:nvPr/>
        </p:nvSpPr>
        <p:spPr>
          <a:xfrm>
            <a:off x="10460736" y="0"/>
            <a:ext cx="2450592" cy="6858000"/>
          </a:xfrm>
          <a:prstGeom prst="line">
            <a:avLst/>
          </a:prstGeom>
          <a:noFill/>
          <a:ln w="6350">
            <a:solidFill>
              <a:srgbClr val="293C59"/>
            </a:solidFill>
            <a:prstDash val="solid"/>
          </a:ln>
        </p:spPr>
      </p:sp>
      <p:sp>
        <p:nvSpPr>
          <p:cNvPr id="10" name="Shape 8"/>
          <p:cNvSpPr/>
          <p:nvPr/>
        </p:nvSpPr>
        <p:spPr>
          <a:xfrm>
            <a:off x="603504" y="649224"/>
            <a:ext cx="2935224"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685800" y="649224"/>
            <a:ext cx="2770632"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CIERRE DE SUSTENTACIÓN</a:t>
            </a:r>
            <a:endParaRPr lang="en-US" sz="940" dirty="0"/>
          </a:p>
        </p:txBody>
      </p:sp>
      <p:sp>
        <p:nvSpPr>
          <p:cNvPr id="12" name="Text 10"/>
          <p:cNvSpPr/>
          <p:nvPr/>
        </p:nvSpPr>
        <p:spPr>
          <a:xfrm>
            <a:off x="594360" y="1371600"/>
            <a:ext cx="10744200" cy="1325880"/>
          </a:xfrm>
          <a:prstGeom prst="rect">
            <a:avLst/>
          </a:prstGeom>
          <a:noFill/>
          <a:ln/>
        </p:spPr>
        <p:txBody>
          <a:bodyPr wrap="square" lIns="0" tIns="0" rIns="0" bIns="0" rtlCol="0" anchor="ctr">
            <a:normAutofit/>
          </a:bodyPr>
          <a:lstStyle/>
          <a:p>
            <a:pPr algn="l" indent="0" marL="0">
              <a:buNone/>
            </a:pPr>
            <a:r>
              <a:rPr lang="en-US" sz="3900" b="1" dirty="0">
                <a:solidFill>
                  <a:srgbClr val="FFFFFF"/>
                </a:solidFill>
                <a:latin typeface="Aptos Display" pitchFamily="34" charset="0"/>
                <a:ea typeface="Aptos Display" pitchFamily="34" charset="-122"/>
                <a:cs typeface="Aptos Display" pitchFamily="34" charset="-120"/>
              </a:rPr>
              <a:t>Del registro al diagnóstico defendible</a:t>
            </a:r>
            <a:endParaRPr lang="en-US" sz="3900" dirty="0"/>
          </a:p>
        </p:txBody>
      </p:sp>
      <p:sp>
        <p:nvSpPr>
          <p:cNvPr id="13" name="Text 11"/>
          <p:cNvSpPr/>
          <p:nvPr/>
        </p:nvSpPr>
        <p:spPr>
          <a:xfrm>
            <a:off x="630936" y="2971800"/>
            <a:ext cx="9235440" cy="914400"/>
          </a:xfrm>
          <a:prstGeom prst="rect">
            <a:avLst/>
          </a:prstGeom>
          <a:noFill/>
          <a:ln/>
        </p:spPr>
        <p:txBody>
          <a:bodyPr wrap="square" lIns="0" tIns="0" rIns="0" bIns="0" rtlCol="0" anchor="ctr">
            <a:normAutofit/>
          </a:bodyPr>
          <a:lstStyle/>
          <a:p>
            <a:pPr algn="l" indent="0" marL="0">
              <a:buNone/>
            </a:pPr>
            <a:r>
              <a:rPr lang="en-US" sz="1900" dirty="0">
                <a:solidFill>
                  <a:srgbClr val="BDCDDF"/>
                </a:solidFill>
                <a:latin typeface="Aptos" pitchFamily="34" charset="0"/>
                <a:ea typeface="Aptos" pitchFamily="34" charset="-122"/>
                <a:cs typeface="Aptos" pitchFamily="34" charset="-120"/>
              </a:rPr>
              <a:t>La relevancia científica consiste en saber qué mejora, cuánto mejora, bajo qué condiciones y con qué evidencia.</a:t>
            </a:r>
            <a:endParaRPr lang="en-US" sz="1900" dirty="0"/>
          </a:p>
        </p:txBody>
      </p:sp>
      <p:sp>
        <p:nvSpPr>
          <p:cNvPr id="14" name="Shape 12"/>
          <p:cNvSpPr/>
          <p:nvPr/>
        </p:nvSpPr>
        <p:spPr>
          <a:xfrm>
            <a:off x="621792" y="6153912"/>
            <a:ext cx="10899648" cy="0"/>
          </a:xfrm>
          <a:prstGeom prst="line">
            <a:avLst/>
          </a:prstGeom>
          <a:noFill/>
          <a:ln w="8890">
            <a:solidFill>
              <a:srgbClr val="62708C"/>
            </a:solidFill>
            <a:prstDash val="solid"/>
          </a:ln>
        </p:spPr>
      </p:sp>
      <p:sp>
        <p:nvSpPr>
          <p:cNvPr id="15" name="Text 13"/>
          <p:cNvSpPr/>
          <p:nvPr/>
        </p:nvSpPr>
        <p:spPr>
          <a:xfrm>
            <a:off x="621792" y="6281928"/>
            <a:ext cx="10058400" cy="228600"/>
          </a:xfrm>
          <a:prstGeom prst="rect">
            <a:avLst/>
          </a:prstGeom>
          <a:noFill/>
          <a:ln/>
        </p:spPr>
        <p:txBody>
          <a:bodyPr wrap="square" lIns="0" tIns="0" rIns="0" bIns="0" rtlCol="0" anchor="ctr">
            <a:normAutofit/>
          </a:bodyPr>
          <a:lstStyle/>
          <a:p>
            <a:pPr algn="l" indent="0" marL="0">
              <a:buNone/>
            </a:pPr>
            <a:r>
              <a:rPr lang="en-US" sz="1010" b="1" spc="100" kern="0" dirty="0">
                <a:solidFill>
                  <a:srgbClr val="BDCDDF"/>
                </a:solidFill>
                <a:latin typeface="Aptos" pitchFamily="34" charset="0"/>
                <a:ea typeface="Aptos" pitchFamily="34" charset="-122"/>
                <a:cs typeface="Aptos" pitchFamily="34" charset="-120"/>
              </a:rPr>
              <a:t>UNIVERSIDAD NACIONAL DE CAJAMARCA · INGENIERÍA DE SISTEMAS</a:t>
            </a:r>
            <a:endParaRPr lang="en-US" sz="1010" dirty="0"/>
          </a:p>
        </p:txBody>
      </p:sp>
      <p:sp>
        <p:nvSpPr>
          <p:cNvPr id="16" name="Text 14"/>
          <p:cNvSpPr/>
          <p:nvPr/>
        </p:nvSpPr>
        <p:spPr>
          <a:xfrm>
            <a:off x="11201400" y="6254496"/>
            <a:ext cx="292608" cy="228600"/>
          </a:xfrm>
          <a:prstGeom prst="rect">
            <a:avLst/>
          </a:prstGeom>
          <a:noFill/>
          <a:ln/>
        </p:spPr>
        <p:txBody>
          <a:bodyPr wrap="square" lIns="0" tIns="0" rIns="0" bIns="0" rtlCol="0" anchor="ctr">
            <a:normAutofit/>
          </a:bodyPr>
          <a:lstStyle/>
          <a:p>
            <a:pPr algn="r" indent="0" marL="0">
              <a:buNone/>
            </a:pPr>
            <a:r>
              <a:rPr lang="en-US" sz="1000" b="1" dirty="0">
                <a:solidFill>
                  <a:srgbClr val="F4CE84"/>
                </a:solidFill>
                <a:latin typeface="Aptos" pitchFamily="34" charset="0"/>
                <a:ea typeface="Aptos" pitchFamily="34" charset="-122"/>
                <a:cs typeface="Aptos" pitchFamily="34" charset="-120"/>
              </a:rPr>
              <a:t>36</a:t>
            </a:r>
            <a:endParaRPr lang="en-US" sz="1000" dirty="0"/>
          </a:p>
        </p:txBody>
      </p:sp>
      <p:sp>
        <p:nvSpPr>
          <p:cNvPr id="17" name="Shape 15"/>
          <p:cNvSpPr/>
          <p:nvPr/>
        </p:nvSpPr>
        <p:spPr>
          <a:xfrm>
            <a:off x="658368" y="4837176"/>
            <a:ext cx="2176272" cy="265176"/>
          </a:xfrm>
          <a:prstGeom prst="roundRect">
            <a:avLst/>
          </a:prstGeom>
          <a:solidFill>
            <a:srgbClr val="1B3154"/>
          </a:solidFill>
          <a:ln w="12700">
            <a:solidFill>
              <a:srgbClr val="FFFFFF">
                <a:alpha val="0"/>
              </a:srgbClr>
            </a:solidFill>
            <a:prstDash val="solid"/>
          </a:ln>
        </p:spPr>
      </p:sp>
      <p:sp>
        <p:nvSpPr>
          <p:cNvPr id="18" name="Text 16"/>
          <p:cNvSpPr/>
          <p:nvPr/>
        </p:nvSpPr>
        <p:spPr>
          <a:xfrm>
            <a:off x="740664" y="4837176"/>
            <a:ext cx="2011680"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APORTE REPRODUCIBLE</a:t>
            </a:r>
            <a:endParaRPr lang="en-US" sz="940" dirty="0"/>
          </a:p>
        </p:txBody>
      </p:sp>
      <p:sp>
        <p:nvSpPr>
          <p:cNvPr id="19" name="Text 17"/>
          <p:cNvSpPr/>
          <p:nvPr/>
        </p:nvSpPr>
        <p:spPr>
          <a:xfrm>
            <a:off x="658368" y="5303520"/>
            <a:ext cx="10753344" cy="457200"/>
          </a:xfrm>
          <a:prstGeom prst="rect">
            <a:avLst/>
          </a:prstGeom>
          <a:noFill/>
          <a:ln/>
        </p:spPr>
        <p:txBody>
          <a:bodyPr wrap="square" lIns="0" tIns="0" rIns="0" bIns="0" rtlCol="0" anchor="ctr">
            <a:normAutofit/>
          </a:bodyPr>
          <a:lstStyle/>
          <a:p>
            <a:pPr algn="l" indent="0" marL="0">
              <a:buNone/>
            </a:pPr>
            <a:r>
              <a:rPr lang="en-US" sz="1870" b="1" dirty="0">
                <a:solidFill>
                  <a:srgbClr val="FFFFFF"/>
                </a:solidFill>
                <a:latin typeface="Aptos" pitchFamily="34" charset="0"/>
                <a:ea typeface="Aptos" pitchFamily="34" charset="-122"/>
                <a:cs typeface="Aptos" pitchFamily="34" charset="-120"/>
              </a:rPr>
              <a:t>Telemetría real  ·  Trazabilidad  ·  Validación temporal  ·  Resultados contrastados</a:t>
            </a:r>
            <a:endParaRPr lang="en-US" sz="187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E37"/>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E7B755"/>
          </a:solidFill>
          <a:ln w="12700">
            <a:solidFill>
              <a:srgbClr val="FFFFFF">
                <a:alpha val="0"/>
              </a:srgbClr>
            </a:solidFill>
            <a:prstDash val="solid"/>
          </a:ln>
        </p:spPr>
      </p:sp>
      <p:sp>
        <p:nvSpPr>
          <p:cNvPr id="3" name="Shape 1"/>
          <p:cNvSpPr/>
          <p:nvPr/>
        </p:nvSpPr>
        <p:spPr>
          <a:xfrm>
            <a:off x="7498080" y="0"/>
            <a:ext cx="4206240" cy="6858000"/>
          </a:xfrm>
          <a:prstGeom prst="line">
            <a:avLst/>
          </a:prstGeom>
          <a:noFill/>
          <a:ln w="6350">
            <a:solidFill>
              <a:srgbClr val="293C59"/>
            </a:solidFill>
            <a:prstDash val="solid"/>
          </a:ln>
        </p:spPr>
      </p:sp>
      <p:sp>
        <p:nvSpPr>
          <p:cNvPr id="4" name="Shape 2"/>
          <p:cNvSpPr/>
          <p:nvPr/>
        </p:nvSpPr>
        <p:spPr>
          <a:xfrm>
            <a:off x="7991856" y="0"/>
            <a:ext cx="3913632" cy="6858000"/>
          </a:xfrm>
          <a:prstGeom prst="line">
            <a:avLst/>
          </a:prstGeom>
          <a:noFill/>
          <a:ln w="6350">
            <a:solidFill>
              <a:srgbClr val="293C59"/>
            </a:solidFill>
            <a:prstDash val="solid"/>
          </a:ln>
        </p:spPr>
      </p:sp>
      <p:sp>
        <p:nvSpPr>
          <p:cNvPr id="5" name="Shape 3"/>
          <p:cNvSpPr/>
          <p:nvPr/>
        </p:nvSpPr>
        <p:spPr>
          <a:xfrm>
            <a:off x="8485632" y="0"/>
            <a:ext cx="3621024" cy="6858000"/>
          </a:xfrm>
          <a:prstGeom prst="line">
            <a:avLst/>
          </a:prstGeom>
          <a:noFill/>
          <a:ln w="6350">
            <a:solidFill>
              <a:srgbClr val="293C59"/>
            </a:solidFill>
            <a:prstDash val="solid"/>
          </a:ln>
        </p:spPr>
      </p:sp>
      <p:sp>
        <p:nvSpPr>
          <p:cNvPr id="6" name="Shape 4"/>
          <p:cNvSpPr/>
          <p:nvPr/>
        </p:nvSpPr>
        <p:spPr>
          <a:xfrm>
            <a:off x="8979408" y="0"/>
            <a:ext cx="3328416" cy="6858000"/>
          </a:xfrm>
          <a:prstGeom prst="line">
            <a:avLst/>
          </a:prstGeom>
          <a:noFill/>
          <a:ln w="6350">
            <a:solidFill>
              <a:srgbClr val="293C59"/>
            </a:solidFill>
            <a:prstDash val="solid"/>
          </a:ln>
        </p:spPr>
      </p:sp>
      <p:sp>
        <p:nvSpPr>
          <p:cNvPr id="7" name="Shape 5"/>
          <p:cNvSpPr/>
          <p:nvPr/>
        </p:nvSpPr>
        <p:spPr>
          <a:xfrm>
            <a:off x="9473184" y="0"/>
            <a:ext cx="3035808" cy="6858000"/>
          </a:xfrm>
          <a:prstGeom prst="line">
            <a:avLst/>
          </a:prstGeom>
          <a:noFill/>
          <a:ln w="6350">
            <a:solidFill>
              <a:srgbClr val="293C59"/>
            </a:solidFill>
            <a:prstDash val="solid"/>
          </a:ln>
        </p:spPr>
      </p:sp>
      <p:sp>
        <p:nvSpPr>
          <p:cNvPr id="8" name="Shape 6"/>
          <p:cNvSpPr/>
          <p:nvPr/>
        </p:nvSpPr>
        <p:spPr>
          <a:xfrm>
            <a:off x="9966960" y="0"/>
            <a:ext cx="2743200" cy="6858000"/>
          </a:xfrm>
          <a:prstGeom prst="line">
            <a:avLst/>
          </a:prstGeom>
          <a:noFill/>
          <a:ln w="6350">
            <a:solidFill>
              <a:srgbClr val="293C59"/>
            </a:solidFill>
            <a:prstDash val="solid"/>
          </a:ln>
        </p:spPr>
      </p:sp>
      <p:sp>
        <p:nvSpPr>
          <p:cNvPr id="9" name="Shape 7"/>
          <p:cNvSpPr/>
          <p:nvPr/>
        </p:nvSpPr>
        <p:spPr>
          <a:xfrm>
            <a:off x="10460736" y="0"/>
            <a:ext cx="2450592" cy="6858000"/>
          </a:xfrm>
          <a:prstGeom prst="line">
            <a:avLst/>
          </a:prstGeom>
          <a:noFill/>
          <a:ln w="6350">
            <a:solidFill>
              <a:srgbClr val="293C59"/>
            </a:solidFill>
            <a:prstDash val="solid"/>
          </a:ln>
        </p:spPr>
      </p:sp>
      <p:sp>
        <p:nvSpPr>
          <p:cNvPr id="10" name="Shape 8"/>
          <p:cNvSpPr/>
          <p:nvPr/>
        </p:nvSpPr>
        <p:spPr>
          <a:xfrm>
            <a:off x="603504" y="649224"/>
            <a:ext cx="2697480" cy="265176"/>
          </a:xfrm>
          <a:prstGeom prst="roundRect">
            <a:avLst/>
          </a:prstGeom>
          <a:solidFill>
            <a:srgbClr val="1B3154"/>
          </a:solidFill>
          <a:ln w="12700">
            <a:solidFill>
              <a:srgbClr val="FFFFFF">
                <a:alpha val="0"/>
              </a:srgbClr>
            </a:solidFill>
            <a:prstDash val="solid"/>
          </a:ln>
        </p:spPr>
      </p:sp>
      <p:sp>
        <p:nvSpPr>
          <p:cNvPr id="11" name="Text 9"/>
          <p:cNvSpPr/>
          <p:nvPr/>
        </p:nvSpPr>
        <p:spPr>
          <a:xfrm>
            <a:off x="685800" y="649224"/>
            <a:ext cx="2532888" cy="256032"/>
          </a:xfrm>
          <a:prstGeom prst="rect">
            <a:avLst/>
          </a:prstGeom>
          <a:noFill/>
          <a:ln/>
        </p:spPr>
        <p:txBody>
          <a:bodyPr wrap="square" lIns="0" tIns="0" rIns="0" bIns="0" rtlCol="0" anchor="ctr">
            <a:normAutofit/>
          </a:bodyPr>
          <a:lstStyle/>
          <a:p>
            <a:pPr algn="l" indent="0" marL="0">
              <a:buNone/>
            </a:pPr>
            <a:r>
              <a:rPr lang="en-US" sz="940" b="1" spc="60" kern="0" dirty="0">
                <a:solidFill>
                  <a:srgbClr val="F4CE84"/>
                </a:solidFill>
                <a:latin typeface="Aptos" pitchFamily="34" charset="0"/>
                <a:ea typeface="Aptos" pitchFamily="34" charset="-122"/>
                <a:cs typeface="Aptos" pitchFamily="34" charset="-120"/>
              </a:rPr>
              <a:t>MATERIAL DE RESPALDO</a:t>
            </a:r>
            <a:endParaRPr lang="en-US" sz="940" dirty="0"/>
          </a:p>
        </p:txBody>
      </p:sp>
      <p:sp>
        <p:nvSpPr>
          <p:cNvPr id="12" name="Text 10"/>
          <p:cNvSpPr/>
          <p:nvPr/>
        </p:nvSpPr>
        <p:spPr>
          <a:xfrm>
            <a:off x="594360" y="1371600"/>
            <a:ext cx="10744200" cy="1325880"/>
          </a:xfrm>
          <a:prstGeom prst="rect">
            <a:avLst/>
          </a:prstGeom>
          <a:noFill/>
          <a:ln/>
        </p:spPr>
        <p:txBody>
          <a:bodyPr wrap="square" lIns="0" tIns="0" rIns="0" bIns="0" rtlCol="0" anchor="ctr">
            <a:normAutofit/>
          </a:bodyPr>
          <a:lstStyle/>
          <a:p>
            <a:pPr algn="l" indent="0" marL="0">
              <a:buNone/>
            </a:pPr>
            <a:r>
              <a:rPr lang="en-US" sz="3900" b="1" dirty="0">
                <a:solidFill>
                  <a:srgbClr val="FFFFFF"/>
                </a:solidFill>
                <a:latin typeface="Aptos Display" pitchFamily="34" charset="0"/>
                <a:ea typeface="Aptos Display" pitchFamily="34" charset="-122"/>
                <a:cs typeface="Aptos Display" pitchFamily="34" charset="-120"/>
              </a:rPr>
              <a:t>Matrices y argumentos de defensa</a:t>
            </a:r>
            <a:endParaRPr lang="en-US" sz="3900" dirty="0"/>
          </a:p>
        </p:txBody>
      </p:sp>
      <p:sp>
        <p:nvSpPr>
          <p:cNvPr id="13" name="Text 11"/>
          <p:cNvSpPr/>
          <p:nvPr/>
        </p:nvSpPr>
        <p:spPr>
          <a:xfrm>
            <a:off x="630936" y="2971800"/>
            <a:ext cx="9235440" cy="914400"/>
          </a:xfrm>
          <a:prstGeom prst="rect">
            <a:avLst/>
          </a:prstGeom>
          <a:noFill/>
          <a:ln/>
        </p:spPr>
        <p:txBody>
          <a:bodyPr wrap="square" lIns="0" tIns="0" rIns="0" bIns="0" rtlCol="0" anchor="ctr">
            <a:normAutofit/>
          </a:bodyPr>
          <a:lstStyle/>
          <a:p>
            <a:pPr algn="l" indent="0" marL="0">
              <a:buNone/>
            </a:pPr>
            <a:r>
              <a:rPr lang="en-US" sz="1900" dirty="0">
                <a:solidFill>
                  <a:srgbClr val="BDCDDF"/>
                </a:solidFill>
                <a:latin typeface="Aptos" pitchFamily="34" charset="0"/>
                <a:ea typeface="Aptos" pitchFamily="34" charset="-122"/>
                <a:cs typeface="Aptos" pitchFamily="34" charset="-120"/>
              </a:rPr>
              <a:t>Apéndice para preguntas del jurado: operacionalización, consistencia y límites de validez.</a:t>
            </a:r>
            <a:endParaRPr lang="en-US" sz="1900" dirty="0"/>
          </a:p>
        </p:txBody>
      </p:sp>
      <p:sp>
        <p:nvSpPr>
          <p:cNvPr id="14" name="Shape 12"/>
          <p:cNvSpPr/>
          <p:nvPr/>
        </p:nvSpPr>
        <p:spPr>
          <a:xfrm>
            <a:off x="621792" y="6153912"/>
            <a:ext cx="10899648" cy="0"/>
          </a:xfrm>
          <a:prstGeom prst="line">
            <a:avLst/>
          </a:prstGeom>
          <a:noFill/>
          <a:ln w="8890">
            <a:solidFill>
              <a:srgbClr val="62708C"/>
            </a:solidFill>
            <a:prstDash val="solid"/>
          </a:ln>
        </p:spPr>
      </p:sp>
      <p:sp>
        <p:nvSpPr>
          <p:cNvPr id="15" name="Text 13"/>
          <p:cNvSpPr/>
          <p:nvPr/>
        </p:nvSpPr>
        <p:spPr>
          <a:xfrm>
            <a:off x="621792" y="6281928"/>
            <a:ext cx="10058400" cy="228600"/>
          </a:xfrm>
          <a:prstGeom prst="rect">
            <a:avLst/>
          </a:prstGeom>
          <a:noFill/>
          <a:ln/>
        </p:spPr>
        <p:txBody>
          <a:bodyPr wrap="square" lIns="0" tIns="0" rIns="0" bIns="0" rtlCol="0" anchor="ctr">
            <a:normAutofit/>
          </a:bodyPr>
          <a:lstStyle/>
          <a:p>
            <a:pPr algn="l" indent="0" marL="0">
              <a:buNone/>
            </a:pPr>
            <a:r>
              <a:rPr lang="en-US" sz="1010" b="1" spc="100" kern="0" dirty="0">
                <a:solidFill>
                  <a:srgbClr val="BDCDDF"/>
                </a:solidFill>
                <a:latin typeface="Aptos" pitchFamily="34" charset="0"/>
                <a:ea typeface="Aptos" pitchFamily="34" charset="-122"/>
                <a:cs typeface="Aptos" pitchFamily="34" charset="-120"/>
              </a:rPr>
              <a:t>UNIVERSIDAD NACIONAL DE CAJAMARCA · INGENIERÍA DE SISTEMAS</a:t>
            </a:r>
            <a:endParaRPr lang="en-US" sz="1010" dirty="0"/>
          </a:p>
        </p:txBody>
      </p:sp>
      <p:sp>
        <p:nvSpPr>
          <p:cNvPr id="16" name="Text 14"/>
          <p:cNvSpPr/>
          <p:nvPr/>
        </p:nvSpPr>
        <p:spPr>
          <a:xfrm>
            <a:off x="11201400" y="6254496"/>
            <a:ext cx="292608" cy="228600"/>
          </a:xfrm>
          <a:prstGeom prst="rect">
            <a:avLst/>
          </a:prstGeom>
          <a:noFill/>
          <a:ln/>
        </p:spPr>
        <p:txBody>
          <a:bodyPr wrap="square" lIns="0" tIns="0" rIns="0" bIns="0" rtlCol="0" anchor="ctr">
            <a:normAutofit/>
          </a:bodyPr>
          <a:lstStyle/>
          <a:p>
            <a:pPr algn="r" indent="0" marL="0">
              <a:buNone/>
            </a:pPr>
            <a:r>
              <a:rPr lang="en-US" sz="1000" b="1" dirty="0">
                <a:solidFill>
                  <a:srgbClr val="F4CE84"/>
                </a:solidFill>
                <a:latin typeface="Aptos" pitchFamily="34" charset="0"/>
                <a:ea typeface="Aptos" pitchFamily="34" charset="-122"/>
                <a:cs typeface="Aptos"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Tabla VII — operacionalización detallada · variable independiente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Reorganización tipográfica para proyección; se mantienen dimensiones, indicadores y técnicas/instrumentos de la tesis.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38</a:t>
            </a:r>
            <a:endParaRPr lang="en-US" sz="1040" dirty="0"/>
          </a:p>
        </p:txBody>
      </p:sp>
      <p:sp>
        <p:nvSpPr>
          <p:cNvPr id="9" name="Shape 7"/>
          <p:cNvSpPr/>
          <p:nvPr/>
        </p:nvSpPr>
        <p:spPr>
          <a:xfrm>
            <a:off x="658368" y="1618488"/>
            <a:ext cx="10890504" cy="548640"/>
          </a:xfrm>
          <a:prstGeom prst="rect">
            <a:avLst/>
          </a:prstGeom>
          <a:solidFill>
            <a:srgbClr val="111E37"/>
          </a:solidFill>
          <a:ln w="12700">
            <a:solidFill>
              <a:srgbClr val="FFFFFF">
                <a:alpha val="0"/>
              </a:srgbClr>
            </a:solidFill>
            <a:prstDash val="solid"/>
          </a:ln>
        </p:spPr>
      </p:sp>
      <p:sp>
        <p:nvSpPr>
          <p:cNvPr id="10" name="Text 8"/>
          <p:cNvSpPr/>
          <p:nvPr/>
        </p:nvSpPr>
        <p:spPr>
          <a:xfrm>
            <a:off x="740664" y="1659636"/>
            <a:ext cx="2130552"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DIMENSIÓN</a:t>
            </a:r>
            <a:endParaRPr lang="en-US" sz="1170" dirty="0"/>
          </a:p>
        </p:txBody>
      </p:sp>
      <p:sp>
        <p:nvSpPr>
          <p:cNvPr id="11" name="Shape 9"/>
          <p:cNvSpPr/>
          <p:nvPr/>
        </p:nvSpPr>
        <p:spPr>
          <a:xfrm>
            <a:off x="2953512" y="1618488"/>
            <a:ext cx="0" cy="548640"/>
          </a:xfrm>
          <a:prstGeom prst="line">
            <a:avLst/>
          </a:prstGeom>
          <a:noFill/>
          <a:ln w="6985">
            <a:solidFill>
              <a:srgbClr val="506078"/>
            </a:solidFill>
            <a:prstDash val="solid"/>
          </a:ln>
        </p:spPr>
      </p:sp>
      <p:sp>
        <p:nvSpPr>
          <p:cNvPr id="12" name="Text 10"/>
          <p:cNvSpPr/>
          <p:nvPr/>
        </p:nvSpPr>
        <p:spPr>
          <a:xfrm>
            <a:off x="3035808" y="1659636"/>
            <a:ext cx="4754880"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INDICADORES</a:t>
            </a:r>
            <a:endParaRPr lang="en-US" sz="1170" dirty="0"/>
          </a:p>
        </p:txBody>
      </p:sp>
      <p:sp>
        <p:nvSpPr>
          <p:cNvPr id="13" name="Shape 11"/>
          <p:cNvSpPr/>
          <p:nvPr/>
        </p:nvSpPr>
        <p:spPr>
          <a:xfrm>
            <a:off x="7872984" y="1618488"/>
            <a:ext cx="0" cy="548640"/>
          </a:xfrm>
          <a:prstGeom prst="line">
            <a:avLst/>
          </a:prstGeom>
          <a:noFill/>
          <a:ln w="6985">
            <a:solidFill>
              <a:srgbClr val="506078"/>
            </a:solidFill>
            <a:prstDash val="solid"/>
          </a:ln>
        </p:spPr>
      </p:sp>
      <p:sp>
        <p:nvSpPr>
          <p:cNvPr id="14" name="Text 12"/>
          <p:cNvSpPr/>
          <p:nvPr/>
        </p:nvSpPr>
        <p:spPr>
          <a:xfrm>
            <a:off x="7955280" y="1659636"/>
            <a:ext cx="3511296"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TÉCNICA E INSTRUMENTO</a:t>
            </a:r>
            <a:endParaRPr lang="en-US" sz="1170" dirty="0"/>
          </a:p>
        </p:txBody>
      </p:sp>
      <p:sp>
        <p:nvSpPr>
          <p:cNvPr id="15" name="Shape 13"/>
          <p:cNvSpPr/>
          <p:nvPr/>
        </p:nvSpPr>
        <p:spPr>
          <a:xfrm>
            <a:off x="658368" y="2167128"/>
            <a:ext cx="10890504" cy="0"/>
          </a:xfrm>
          <a:prstGeom prst="line">
            <a:avLst/>
          </a:prstGeom>
          <a:noFill/>
          <a:ln w="6985">
            <a:solidFill>
              <a:srgbClr val="D6DEE8"/>
            </a:solidFill>
            <a:prstDash val="solid"/>
          </a:ln>
        </p:spPr>
      </p:sp>
      <p:sp>
        <p:nvSpPr>
          <p:cNvPr id="16" name="Shape 14"/>
          <p:cNvSpPr/>
          <p:nvPr/>
        </p:nvSpPr>
        <p:spPr>
          <a:xfrm>
            <a:off x="658368" y="2167128"/>
            <a:ext cx="10890504" cy="905256"/>
          </a:xfrm>
          <a:prstGeom prst="rect">
            <a:avLst/>
          </a:prstGeom>
          <a:solidFill>
            <a:srgbClr val="FFFFFF"/>
          </a:solidFill>
          <a:ln w="12700">
            <a:solidFill>
              <a:srgbClr val="FFFFFF">
                <a:alpha val="0"/>
              </a:srgbClr>
            </a:solidFill>
            <a:prstDash val="solid"/>
          </a:ln>
        </p:spPr>
      </p:sp>
      <p:sp>
        <p:nvSpPr>
          <p:cNvPr id="17" name="Text 15"/>
          <p:cNvSpPr/>
          <p:nvPr/>
        </p:nvSpPr>
        <p:spPr>
          <a:xfrm>
            <a:off x="740664" y="2208276"/>
            <a:ext cx="2130552"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Preparación de datos</a:t>
            </a:r>
            <a:endParaRPr lang="en-US" sz="1290" dirty="0"/>
          </a:p>
        </p:txBody>
      </p:sp>
      <p:sp>
        <p:nvSpPr>
          <p:cNvPr id="18" name="Shape 16"/>
          <p:cNvSpPr/>
          <p:nvPr/>
        </p:nvSpPr>
        <p:spPr>
          <a:xfrm>
            <a:off x="2953512" y="2167128"/>
            <a:ext cx="0" cy="905256"/>
          </a:xfrm>
          <a:prstGeom prst="line">
            <a:avLst/>
          </a:prstGeom>
          <a:noFill/>
          <a:ln w="6985">
            <a:solidFill>
              <a:srgbClr val="D6DEE8"/>
            </a:solidFill>
            <a:prstDash val="solid"/>
          </a:ln>
        </p:spPr>
      </p:sp>
      <p:sp>
        <p:nvSpPr>
          <p:cNvPr id="19" name="Text 17"/>
          <p:cNvSpPr/>
          <p:nvPr/>
        </p:nvSpPr>
        <p:spPr>
          <a:xfrm>
            <a:off x="3035808" y="2208276"/>
            <a:ext cx="4754880"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Cobertura temporal (%); completitud multivariable (%); registros válidos (%); duplicados, centinelas e inconsistencias.</a:t>
            </a:r>
            <a:endParaRPr lang="en-US" sz="1290" dirty="0"/>
          </a:p>
        </p:txBody>
      </p:sp>
      <p:sp>
        <p:nvSpPr>
          <p:cNvPr id="20" name="Shape 18"/>
          <p:cNvSpPr/>
          <p:nvPr/>
        </p:nvSpPr>
        <p:spPr>
          <a:xfrm>
            <a:off x="7872984" y="2167128"/>
            <a:ext cx="0" cy="905256"/>
          </a:xfrm>
          <a:prstGeom prst="line">
            <a:avLst/>
          </a:prstGeom>
          <a:noFill/>
          <a:ln w="6985">
            <a:solidFill>
              <a:srgbClr val="D6DEE8"/>
            </a:solidFill>
            <a:prstDash val="solid"/>
          </a:ln>
        </p:spPr>
      </p:sp>
      <p:sp>
        <p:nvSpPr>
          <p:cNvPr id="21" name="Text 19"/>
          <p:cNvSpPr/>
          <p:nvPr/>
        </p:nvSpPr>
        <p:spPr>
          <a:xfrm>
            <a:off x="7955280" y="2208276"/>
            <a:ext cx="3511296"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Análisis de datos; ficha de control de calidad.</a:t>
            </a:r>
            <a:endParaRPr lang="en-US" sz="1290" dirty="0"/>
          </a:p>
        </p:txBody>
      </p:sp>
      <p:sp>
        <p:nvSpPr>
          <p:cNvPr id="22" name="Shape 20"/>
          <p:cNvSpPr/>
          <p:nvPr/>
        </p:nvSpPr>
        <p:spPr>
          <a:xfrm>
            <a:off x="658368" y="3072384"/>
            <a:ext cx="10890504" cy="0"/>
          </a:xfrm>
          <a:prstGeom prst="line">
            <a:avLst/>
          </a:prstGeom>
          <a:noFill/>
          <a:ln w="6985">
            <a:solidFill>
              <a:srgbClr val="D6DEE8"/>
            </a:solidFill>
            <a:prstDash val="solid"/>
          </a:ln>
        </p:spPr>
      </p:sp>
      <p:sp>
        <p:nvSpPr>
          <p:cNvPr id="23" name="Shape 21"/>
          <p:cNvSpPr/>
          <p:nvPr/>
        </p:nvSpPr>
        <p:spPr>
          <a:xfrm>
            <a:off x="658368" y="3072384"/>
            <a:ext cx="10890504" cy="905256"/>
          </a:xfrm>
          <a:prstGeom prst="rect">
            <a:avLst/>
          </a:prstGeom>
          <a:solidFill>
            <a:srgbClr val="EDF2F8"/>
          </a:solidFill>
          <a:ln w="12700">
            <a:solidFill>
              <a:srgbClr val="FFFFFF">
                <a:alpha val="0"/>
              </a:srgbClr>
            </a:solidFill>
            <a:prstDash val="solid"/>
          </a:ln>
        </p:spPr>
      </p:sp>
      <p:sp>
        <p:nvSpPr>
          <p:cNvPr id="24" name="Text 22"/>
          <p:cNvSpPr/>
          <p:nvPr/>
        </p:nvSpPr>
        <p:spPr>
          <a:xfrm>
            <a:off x="740664" y="3113532"/>
            <a:ext cx="2130552"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Diagnóstico inteligente</a:t>
            </a:r>
            <a:endParaRPr lang="en-US" sz="1290" dirty="0"/>
          </a:p>
        </p:txBody>
      </p:sp>
      <p:sp>
        <p:nvSpPr>
          <p:cNvPr id="25" name="Shape 23"/>
          <p:cNvSpPr/>
          <p:nvPr/>
        </p:nvSpPr>
        <p:spPr>
          <a:xfrm>
            <a:off x="2953512" y="3072384"/>
            <a:ext cx="0" cy="905256"/>
          </a:xfrm>
          <a:prstGeom prst="line">
            <a:avLst/>
          </a:prstGeom>
          <a:noFill/>
          <a:ln w="6985">
            <a:solidFill>
              <a:srgbClr val="D6DEE8"/>
            </a:solidFill>
            <a:prstDash val="solid"/>
          </a:ln>
        </p:spPr>
      </p:sp>
      <p:sp>
        <p:nvSpPr>
          <p:cNvPr id="26" name="Text 24"/>
          <p:cNvSpPr/>
          <p:nvPr/>
        </p:nvSpPr>
        <p:spPr>
          <a:xfrm>
            <a:off x="3035808" y="3113532"/>
            <a:ext cx="4754880"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Estados operacionales clasificados; puntuación de anomalía; anomalías detectadas; pruebas funcionales superadas.</a:t>
            </a:r>
            <a:endParaRPr lang="en-US" sz="1290" dirty="0"/>
          </a:p>
        </p:txBody>
      </p:sp>
      <p:sp>
        <p:nvSpPr>
          <p:cNvPr id="27" name="Shape 25"/>
          <p:cNvSpPr/>
          <p:nvPr/>
        </p:nvSpPr>
        <p:spPr>
          <a:xfrm>
            <a:off x="7872984" y="3072384"/>
            <a:ext cx="0" cy="905256"/>
          </a:xfrm>
          <a:prstGeom prst="line">
            <a:avLst/>
          </a:prstGeom>
          <a:noFill/>
          <a:ln w="6985">
            <a:solidFill>
              <a:srgbClr val="D6DEE8"/>
            </a:solidFill>
            <a:prstDash val="solid"/>
          </a:ln>
        </p:spPr>
      </p:sp>
      <p:sp>
        <p:nvSpPr>
          <p:cNvPr id="28" name="Text 26"/>
          <p:cNvSpPr/>
          <p:nvPr/>
        </p:nvSpPr>
        <p:spPr>
          <a:xfrm>
            <a:off x="7955280" y="3113532"/>
            <a:ext cx="3511296"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Experimentación computacional; ficha de verificación funcional.</a:t>
            </a:r>
            <a:endParaRPr lang="en-US" sz="1290" dirty="0"/>
          </a:p>
        </p:txBody>
      </p:sp>
      <p:sp>
        <p:nvSpPr>
          <p:cNvPr id="29" name="Shape 27"/>
          <p:cNvSpPr/>
          <p:nvPr/>
        </p:nvSpPr>
        <p:spPr>
          <a:xfrm>
            <a:off x="658368" y="3977640"/>
            <a:ext cx="10890504" cy="0"/>
          </a:xfrm>
          <a:prstGeom prst="line">
            <a:avLst/>
          </a:prstGeom>
          <a:noFill/>
          <a:ln w="6985">
            <a:solidFill>
              <a:srgbClr val="D6DEE8"/>
            </a:solidFill>
            <a:prstDash val="solid"/>
          </a:ln>
        </p:spPr>
      </p:sp>
      <p:sp>
        <p:nvSpPr>
          <p:cNvPr id="30" name="Shape 28"/>
          <p:cNvSpPr/>
          <p:nvPr/>
        </p:nvSpPr>
        <p:spPr>
          <a:xfrm>
            <a:off x="658368" y="3977640"/>
            <a:ext cx="10890504" cy="905256"/>
          </a:xfrm>
          <a:prstGeom prst="rect">
            <a:avLst/>
          </a:prstGeom>
          <a:solidFill>
            <a:srgbClr val="FFFFFF"/>
          </a:solidFill>
          <a:ln w="12700">
            <a:solidFill>
              <a:srgbClr val="FFFFFF">
                <a:alpha val="0"/>
              </a:srgbClr>
            </a:solidFill>
            <a:prstDash val="solid"/>
          </a:ln>
        </p:spPr>
      </p:sp>
      <p:sp>
        <p:nvSpPr>
          <p:cNvPr id="31" name="Text 29"/>
          <p:cNvSpPr/>
          <p:nvPr/>
        </p:nvSpPr>
        <p:spPr>
          <a:xfrm>
            <a:off x="740664" y="4018788"/>
            <a:ext cx="2130552"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Pronóstico temporal</a:t>
            </a:r>
            <a:endParaRPr lang="en-US" sz="1290" dirty="0"/>
          </a:p>
        </p:txBody>
      </p:sp>
      <p:sp>
        <p:nvSpPr>
          <p:cNvPr id="32" name="Shape 30"/>
          <p:cNvSpPr/>
          <p:nvPr/>
        </p:nvSpPr>
        <p:spPr>
          <a:xfrm>
            <a:off x="2953512" y="3977640"/>
            <a:ext cx="0" cy="905256"/>
          </a:xfrm>
          <a:prstGeom prst="line">
            <a:avLst/>
          </a:prstGeom>
          <a:noFill/>
          <a:ln w="6985">
            <a:solidFill>
              <a:srgbClr val="D6DEE8"/>
            </a:solidFill>
            <a:prstDash val="solid"/>
          </a:ln>
        </p:spPr>
      </p:sp>
      <p:sp>
        <p:nvSpPr>
          <p:cNvPr id="33" name="Text 31"/>
          <p:cNvSpPr/>
          <p:nvPr/>
        </p:nvSpPr>
        <p:spPr>
          <a:xfrm>
            <a:off x="3035808" y="4018788"/>
            <a:ext cx="4754880"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Valores pronosticados de RSSI, MCS y tasa DL física; horizontes; modelos predictivos ejecutados.</a:t>
            </a:r>
            <a:endParaRPr lang="en-US" sz="1290" dirty="0"/>
          </a:p>
        </p:txBody>
      </p:sp>
      <p:sp>
        <p:nvSpPr>
          <p:cNvPr id="34" name="Shape 32"/>
          <p:cNvSpPr/>
          <p:nvPr/>
        </p:nvSpPr>
        <p:spPr>
          <a:xfrm>
            <a:off x="7872984" y="3977640"/>
            <a:ext cx="0" cy="905256"/>
          </a:xfrm>
          <a:prstGeom prst="line">
            <a:avLst/>
          </a:prstGeom>
          <a:noFill/>
          <a:ln w="6985">
            <a:solidFill>
              <a:srgbClr val="D6DEE8"/>
            </a:solidFill>
            <a:prstDash val="solid"/>
          </a:ln>
        </p:spPr>
      </p:sp>
      <p:sp>
        <p:nvSpPr>
          <p:cNvPr id="35" name="Text 33"/>
          <p:cNvSpPr/>
          <p:nvPr/>
        </p:nvSpPr>
        <p:spPr>
          <a:xfrm>
            <a:off x="7955280" y="4018788"/>
            <a:ext cx="3511296"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Experimentación computacional; registro de ejecución de pronósticos.</a:t>
            </a:r>
            <a:endParaRPr lang="en-US" sz="1290" dirty="0"/>
          </a:p>
        </p:txBody>
      </p:sp>
      <p:sp>
        <p:nvSpPr>
          <p:cNvPr id="36" name="Shape 34"/>
          <p:cNvSpPr/>
          <p:nvPr/>
        </p:nvSpPr>
        <p:spPr>
          <a:xfrm>
            <a:off x="658368" y="4882896"/>
            <a:ext cx="10890504" cy="0"/>
          </a:xfrm>
          <a:prstGeom prst="line">
            <a:avLst/>
          </a:prstGeom>
          <a:noFill/>
          <a:ln w="6985">
            <a:solidFill>
              <a:srgbClr val="D6DEE8"/>
            </a:solidFill>
            <a:prstDash val="solid"/>
          </a:ln>
        </p:spPr>
      </p:sp>
      <p:sp>
        <p:nvSpPr>
          <p:cNvPr id="37" name="Shape 35"/>
          <p:cNvSpPr/>
          <p:nvPr/>
        </p:nvSpPr>
        <p:spPr>
          <a:xfrm>
            <a:off x="658368" y="4882896"/>
            <a:ext cx="10890504" cy="905256"/>
          </a:xfrm>
          <a:prstGeom prst="rect">
            <a:avLst/>
          </a:prstGeom>
          <a:solidFill>
            <a:srgbClr val="EDF2F8"/>
          </a:solidFill>
          <a:ln w="12700">
            <a:solidFill>
              <a:srgbClr val="FFFFFF">
                <a:alpha val="0"/>
              </a:srgbClr>
            </a:solidFill>
            <a:prstDash val="solid"/>
          </a:ln>
        </p:spPr>
      </p:sp>
      <p:sp>
        <p:nvSpPr>
          <p:cNvPr id="38" name="Text 36"/>
          <p:cNvSpPr/>
          <p:nvPr/>
        </p:nvSpPr>
        <p:spPr>
          <a:xfrm>
            <a:off x="740664" y="4924044"/>
            <a:ext cx="2130552"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Explicabilidad del sistema</a:t>
            </a:r>
            <a:endParaRPr lang="en-US" sz="1290" dirty="0"/>
          </a:p>
        </p:txBody>
      </p:sp>
      <p:sp>
        <p:nvSpPr>
          <p:cNvPr id="39" name="Shape 37"/>
          <p:cNvSpPr/>
          <p:nvPr/>
        </p:nvSpPr>
        <p:spPr>
          <a:xfrm>
            <a:off x="2953512" y="4882896"/>
            <a:ext cx="0" cy="905256"/>
          </a:xfrm>
          <a:prstGeom prst="line">
            <a:avLst/>
          </a:prstGeom>
          <a:noFill/>
          <a:ln w="6985">
            <a:solidFill>
              <a:srgbClr val="D6DEE8"/>
            </a:solidFill>
            <a:prstDash val="solid"/>
          </a:ln>
        </p:spPr>
      </p:sp>
      <p:sp>
        <p:nvSpPr>
          <p:cNvPr id="40" name="Text 38"/>
          <p:cNvSpPr/>
          <p:nvPr/>
        </p:nvSpPr>
        <p:spPr>
          <a:xfrm>
            <a:off x="3035808" y="4924044"/>
            <a:ext cx="4754880"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Importancia global de variables; influencia de indicadores; consistencia de explicaciones.</a:t>
            </a:r>
            <a:endParaRPr lang="en-US" sz="1290" dirty="0"/>
          </a:p>
        </p:txBody>
      </p:sp>
      <p:sp>
        <p:nvSpPr>
          <p:cNvPr id="41" name="Shape 39"/>
          <p:cNvSpPr/>
          <p:nvPr/>
        </p:nvSpPr>
        <p:spPr>
          <a:xfrm>
            <a:off x="7872984" y="4882896"/>
            <a:ext cx="0" cy="905256"/>
          </a:xfrm>
          <a:prstGeom prst="line">
            <a:avLst/>
          </a:prstGeom>
          <a:noFill/>
          <a:ln w="6985">
            <a:solidFill>
              <a:srgbClr val="D6DEE8"/>
            </a:solidFill>
            <a:prstDash val="solid"/>
          </a:ln>
        </p:spPr>
      </p:sp>
      <p:sp>
        <p:nvSpPr>
          <p:cNvPr id="42" name="Text 40"/>
          <p:cNvSpPr/>
          <p:nvPr/>
        </p:nvSpPr>
        <p:spPr>
          <a:xfrm>
            <a:off x="7955280" y="4924044"/>
            <a:ext cx="3511296" cy="822960"/>
          </a:xfrm>
          <a:prstGeom prst="rect">
            <a:avLst/>
          </a:prstGeom>
          <a:noFill/>
          <a:ln/>
        </p:spPr>
        <p:txBody>
          <a:bodyPr wrap="square" lIns="0" tIns="0" rIns="0" bIns="0" rtlCol="0" anchor="ctr">
            <a:normAutofit/>
          </a:bodyPr>
          <a:lstStyle/>
          <a:p>
            <a:pPr algn="l" indent="0" marL="0">
              <a:buNone/>
            </a:pPr>
            <a:r>
              <a:rPr lang="en-US" sz="1290" dirty="0">
                <a:solidFill>
                  <a:srgbClr val="202B3C"/>
                </a:solidFill>
                <a:latin typeface="Aptos" pitchFamily="34" charset="0"/>
                <a:ea typeface="Aptos" pitchFamily="34" charset="-122"/>
                <a:cs typeface="Aptos" pitchFamily="34" charset="-120"/>
              </a:rPr>
              <a:t>Análisis de explicabilidad; reporte de importancia e influencia.</a:t>
            </a:r>
            <a:endParaRPr lang="en-US" sz="1290" dirty="0"/>
          </a:p>
        </p:txBody>
      </p:sp>
      <p:sp>
        <p:nvSpPr>
          <p:cNvPr id="43" name="Shape 41"/>
          <p:cNvSpPr/>
          <p:nvPr/>
        </p:nvSpPr>
        <p:spPr>
          <a:xfrm>
            <a:off x="658368" y="5788152"/>
            <a:ext cx="10890504" cy="0"/>
          </a:xfrm>
          <a:prstGeom prst="line">
            <a:avLst/>
          </a:prstGeom>
          <a:noFill/>
          <a:ln w="6985">
            <a:solidFill>
              <a:srgbClr val="D6DEE8"/>
            </a:solidFill>
            <a:prstDash val="solid"/>
          </a:ln>
        </p:spPr>
      </p:sp>
      <p:sp>
        <p:nvSpPr>
          <p:cNvPr id="44" name="Shape 42"/>
          <p:cNvSpPr/>
          <p:nvPr/>
        </p:nvSpPr>
        <p:spPr>
          <a:xfrm>
            <a:off x="685800" y="5943600"/>
            <a:ext cx="10863072" cy="365760"/>
          </a:xfrm>
          <a:prstGeom prst="roundRect">
            <a:avLst/>
          </a:prstGeom>
          <a:solidFill>
            <a:srgbClr val="E8F4F3"/>
          </a:solidFill>
          <a:ln w="12700">
            <a:solidFill>
              <a:srgbClr val="FFFFFF">
                <a:alpha val="0"/>
              </a:srgbClr>
            </a:solidFill>
            <a:prstDash val="solid"/>
          </a:ln>
        </p:spPr>
      </p:sp>
      <p:sp>
        <p:nvSpPr>
          <p:cNvPr id="45" name="Shape 43"/>
          <p:cNvSpPr/>
          <p:nvPr/>
        </p:nvSpPr>
        <p:spPr>
          <a:xfrm>
            <a:off x="685800" y="5943600"/>
            <a:ext cx="73152" cy="365760"/>
          </a:xfrm>
          <a:prstGeom prst="rect">
            <a:avLst/>
          </a:prstGeom>
          <a:solidFill>
            <a:srgbClr val="168B91"/>
          </a:solidFill>
          <a:ln w="12700">
            <a:solidFill>
              <a:srgbClr val="FFFFFF">
                <a:alpha val="0"/>
              </a:srgbClr>
            </a:solidFill>
            <a:prstDash val="solid"/>
          </a:ln>
        </p:spPr>
      </p:sp>
      <p:sp>
        <p:nvSpPr>
          <p:cNvPr id="46" name="Text 44"/>
          <p:cNvSpPr/>
          <p:nvPr/>
        </p:nvSpPr>
        <p:spPr>
          <a:xfrm>
            <a:off x="877824" y="6035040"/>
            <a:ext cx="10497312" cy="201168"/>
          </a:xfrm>
          <a:prstGeom prst="rect">
            <a:avLst/>
          </a:prstGeom>
          <a:noFill/>
          <a:ln/>
        </p:spPr>
        <p:txBody>
          <a:bodyPr wrap="square" lIns="0" tIns="0" rIns="0" bIns="0" rtlCol="0" anchor="ctr">
            <a:normAutofit/>
          </a:bodyPr>
          <a:lstStyle/>
          <a:p>
            <a:pPr algn="l" indent="0" marL="0">
              <a:buNone/>
            </a:pPr>
            <a:r>
              <a:rPr lang="en-US" sz="1190" b="1" dirty="0">
                <a:solidFill>
                  <a:srgbClr val="111E37"/>
                </a:solidFill>
                <a:latin typeface="Aptos" pitchFamily="34" charset="0"/>
                <a:ea typeface="Aptos" pitchFamily="34" charset="-122"/>
                <a:cs typeface="Aptos" pitchFamily="34" charset="-120"/>
              </a:rPr>
              <a:t>Variable: sistema inteligente basado en analítica de datos temporales. Definición: artefacto modular verificado mediante pruebas funcionales.</a:t>
            </a:r>
            <a:endParaRPr lang="en-US" sz="119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Tabla VII — operacionalización detallada · variable dependiente</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Reorganización tipográfica para proyección; indicadores medidos sobre prueba cronológica.</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39</a:t>
            </a:r>
            <a:endParaRPr lang="en-US" sz="1040" dirty="0"/>
          </a:p>
        </p:txBody>
      </p:sp>
      <p:sp>
        <p:nvSpPr>
          <p:cNvPr id="9" name="Shape 7"/>
          <p:cNvSpPr/>
          <p:nvPr/>
        </p:nvSpPr>
        <p:spPr>
          <a:xfrm>
            <a:off x="658368" y="1618488"/>
            <a:ext cx="10890504" cy="548640"/>
          </a:xfrm>
          <a:prstGeom prst="rect">
            <a:avLst/>
          </a:prstGeom>
          <a:solidFill>
            <a:srgbClr val="111E37"/>
          </a:solidFill>
          <a:ln w="12700">
            <a:solidFill>
              <a:srgbClr val="FFFFFF">
                <a:alpha val="0"/>
              </a:srgbClr>
            </a:solidFill>
            <a:prstDash val="solid"/>
          </a:ln>
        </p:spPr>
      </p:sp>
      <p:sp>
        <p:nvSpPr>
          <p:cNvPr id="10" name="Text 8"/>
          <p:cNvSpPr/>
          <p:nvPr/>
        </p:nvSpPr>
        <p:spPr>
          <a:xfrm>
            <a:off x="740664" y="1659636"/>
            <a:ext cx="2130552"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DIMENSIÓN</a:t>
            </a:r>
            <a:endParaRPr lang="en-US" sz="1170" dirty="0"/>
          </a:p>
        </p:txBody>
      </p:sp>
      <p:sp>
        <p:nvSpPr>
          <p:cNvPr id="11" name="Shape 9"/>
          <p:cNvSpPr/>
          <p:nvPr/>
        </p:nvSpPr>
        <p:spPr>
          <a:xfrm>
            <a:off x="2953512" y="1618488"/>
            <a:ext cx="0" cy="548640"/>
          </a:xfrm>
          <a:prstGeom prst="line">
            <a:avLst/>
          </a:prstGeom>
          <a:noFill/>
          <a:ln w="6985">
            <a:solidFill>
              <a:srgbClr val="506078"/>
            </a:solidFill>
            <a:prstDash val="solid"/>
          </a:ln>
        </p:spPr>
      </p:sp>
      <p:sp>
        <p:nvSpPr>
          <p:cNvPr id="12" name="Text 10"/>
          <p:cNvSpPr/>
          <p:nvPr/>
        </p:nvSpPr>
        <p:spPr>
          <a:xfrm>
            <a:off x="3035808" y="1659636"/>
            <a:ext cx="4754880"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INDICADORES</a:t>
            </a:r>
            <a:endParaRPr lang="en-US" sz="1170" dirty="0"/>
          </a:p>
        </p:txBody>
      </p:sp>
      <p:sp>
        <p:nvSpPr>
          <p:cNvPr id="13" name="Shape 11"/>
          <p:cNvSpPr/>
          <p:nvPr/>
        </p:nvSpPr>
        <p:spPr>
          <a:xfrm>
            <a:off x="7872984" y="1618488"/>
            <a:ext cx="0" cy="548640"/>
          </a:xfrm>
          <a:prstGeom prst="line">
            <a:avLst/>
          </a:prstGeom>
          <a:noFill/>
          <a:ln w="6985">
            <a:solidFill>
              <a:srgbClr val="506078"/>
            </a:solidFill>
            <a:prstDash val="solid"/>
          </a:ln>
        </p:spPr>
      </p:sp>
      <p:sp>
        <p:nvSpPr>
          <p:cNvPr id="14" name="Text 12"/>
          <p:cNvSpPr/>
          <p:nvPr/>
        </p:nvSpPr>
        <p:spPr>
          <a:xfrm>
            <a:off x="7955280" y="1659636"/>
            <a:ext cx="3511296" cy="466344"/>
          </a:xfrm>
          <a:prstGeom prst="rect">
            <a:avLst/>
          </a:prstGeom>
          <a:noFill/>
          <a:ln/>
        </p:spPr>
        <p:txBody>
          <a:bodyPr wrap="square" lIns="0" tIns="0" rIns="0" bIns="0" rtlCol="0" anchor="ctr">
            <a:normAutofit/>
          </a:bodyPr>
          <a:lstStyle/>
          <a:p>
            <a:pPr algn="l" indent="0" marL="0">
              <a:buNone/>
            </a:pPr>
            <a:r>
              <a:rPr lang="en-US" sz="1170" b="1" dirty="0">
                <a:solidFill>
                  <a:srgbClr val="FFFFFF"/>
                </a:solidFill>
                <a:latin typeface="Aptos" pitchFamily="34" charset="0"/>
                <a:ea typeface="Aptos" pitchFamily="34" charset="-122"/>
                <a:cs typeface="Aptos" pitchFamily="34" charset="-120"/>
              </a:rPr>
              <a:t>TÉCNICA E INSTRUMENTO</a:t>
            </a:r>
            <a:endParaRPr lang="en-US" sz="1170" dirty="0"/>
          </a:p>
        </p:txBody>
      </p:sp>
      <p:sp>
        <p:nvSpPr>
          <p:cNvPr id="15" name="Shape 13"/>
          <p:cNvSpPr/>
          <p:nvPr/>
        </p:nvSpPr>
        <p:spPr>
          <a:xfrm>
            <a:off x="658368" y="2167128"/>
            <a:ext cx="10890504" cy="0"/>
          </a:xfrm>
          <a:prstGeom prst="line">
            <a:avLst/>
          </a:prstGeom>
          <a:noFill/>
          <a:ln w="6985">
            <a:solidFill>
              <a:srgbClr val="D6DEE8"/>
            </a:solidFill>
            <a:prstDash val="solid"/>
          </a:ln>
        </p:spPr>
      </p:sp>
      <p:sp>
        <p:nvSpPr>
          <p:cNvPr id="16" name="Shape 14"/>
          <p:cNvSpPr/>
          <p:nvPr/>
        </p:nvSpPr>
        <p:spPr>
          <a:xfrm>
            <a:off x="658368" y="2167128"/>
            <a:ext cx="10890504" cy="905256"/>
          </a:xfrm>
          <a:prstGeom prst="rect">
            <a:avLst/>
          </a:prstGeom>
          <a:solidFill>
            <a:srgbClr val="FFFFFF"/>
          </a:solidFill>
          <a:ln w="12700">
            <a:solidFill>
              <a:srgbClr val="FFFFFF">
                <a:alpha val="0"/>
              </a:srgbClr>
            </a:solidFill>
            <a:prstDash val="solid"/>
          </a:ln>
        </p:spPr>
      </p:sp>
      <p:sp>
        <p:nvSpPr>
          <p:cNvPr id="17" name="Text 15"/>
          <p:cNvSpPr/>
          <p:nvPr/>
        </p:nvSpPr>
        <p:spPr>
          <a:xfrm>
            <a:off x="740664" y="2208276"/>
            <a:ext cx="2130552"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Desempeño diagnóstico</a:t>
            </a:r>
            <a:endParaRPr lang="en-US" sz="1270" dirty="0"/>
          </a:p>
        </p:txBody>
      </p:sp>
      <p:sp>
        <p:nvSpPr>
          <p:cNvPr id="18" name="Shape 16"/>
          <p:cNvSpPr/>
          <p:nvPr/>
        </p:nvSpPr>
        <p:spPr>
          <a:xfrm>
            <a:off x="2953512" y="2167128"/>
            <a:ext cx="0" cy="905256"/>
          </a:xfrm>
          <a:prstGeom prst="line">
            <a:avLst/>
          </a:prstGeom>
          <a:noFill/>
          <a:ln w="6985">
            <a:solidFill>
              <a:srgbClr val="D6DEE8"/>
            </a:solidFill>
            <a:prstDash val="solid"/>
          </a:ln>
        </p:spPr>
      </p:sp>
      <p:sp>
        <p:nvSpPr>
          <p:cNvPr id="19" name="Text 17"/>
          <p:cNvSpPr/>
          <p:nvPr/>
        </p:nvSpPr>
        <p:spPr>
          <a:xfrm>
            <a:off x="3035808" y="2208276"/>
            <a:ext cx="4754880"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Precisión, recall, F1-score, AUC, tasa de falsos positivos y falsos negativos.</a:t>
            </a:r>
            <a:endParaRPr lang="en-US" sz="1270" dirty="0"/>
          </a:p>
        </p:txBody>
      </p:sp>
      <p:sp>
        <p:nvSpPr>
          <p:cNvPr id="20" name="Shape 18"/>
          <p:cNvSpPr/>
          <p:nvPr/>
        </p:nvSpPr>
        <p:spPr>
          <a:xfrm>
            <a:off x="7872984" y="2167128"/>
            <a:ext cx="0" cy="905256"/>
          </a:xfrm>
          <a:prstGeom prst="line">
            <a:avLst/>
          </a:prstGeom>
          <a:noFill/>
          <a:ln w="6985">
            <a:solidFill>
              <a:srgbClr val="D6DEE8"/>
            </a:solidFill>
            <a:prstDash val="solid"/>
          </a:ln>
        </p:spPr>
      </p:sp>
      <p:sp>
        <p:nvSpPr>
          <p:cNvPr id="21" name="Text 19"/>
          <p:cNvSpPr/>
          <p:nvPr/>
        </p:nvSpPr>
        <p:spPr>
          <a:xfrm>
            <a:off x="7955280" y="2208276"/>
            <a:ext cx="3511296"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Análisis comparativo; matriz de resultados diagnósticos.</a:t>
            </a:r>
            <a:endParaRPr lang="en-US" sz="1270" dirty="0"/>
          </a:p>
        </p:txBody>
      </p:sp>
      <p:sp>
        <p:nvSpPr>
          <p:cNvPr id="22" name="Shape 20"/>
          <p:cNvSpPr/>
          <p:nvPr/>
        </p:nvSpPr>
        <p:spPr>
          <a:xfrm>
            <a:off x="658368" y="3072384"/>
            <a:ext cx="10890504" cy="0"/>
          </a:xfrm>
          <a:prstGeom prst="line">
            <a:avLst/>
          </a:prstGeom>
          <a:noFill/>
          <a:ln w="6985">
            <a:solidFill>
              <a:srgbClr val="D6DEE8"/>
            </a:solidFill>
            <a:prstDash val="solid"/>
          </a:ln>
        </p:spPr>
      </p:sp>
      <p:sp>
        <p:nvSpPr>
          <p:cNvPr id="23" name="Shape 21"/>
          <p:cNvSpPr/>
          <p:nvPr/>
        </p:nvSpPr>
        <p:spPr>
          <a:xfrm>
            <a:off x="658368" y="3072384"/>
            <a:ext cx="10890504" cy="905256"/>
          </a:xfrm>
          <a:prstGeom prst="rect">
            <a:avLst/>
          </a:prstGeom>
          <a:solidFill>
            <a:srgbClr val="EDF2F8"/>
          </a:solidFill>
          <a:ln w="12700">
            <a:solidFill>
              <a:srgbClr val="FFFFFF">
                <a:alpha val="0"/>
              </a:srgbClr>
            </a:solidFill>
            <a:prstDash val="solid"/>
          </a:ln>
        </p:spPr>
      </p:sp>
      <p:sp>
        <p:nvSpPr>
          <p:cNvPr id="24" name="Text 22"/>
          <p:cNvSpPr/>
          <p:nvPr/>
        </p:nvSpPr>
        <p:spPr>
          <a:xfrm>
            <a:off x="740664" y="3113532"/>
            <a:ext cx="2130552"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Precisión del pronóstico</a:t>
            </a:r>
            <a:endParaRPr lang="en-US" sz="1270" dirty="0"/>
          </a:p>
        </p:txBody>
      </p:sp>
      <p:sp>
        <p:nvSpPr>
          <p:cNvPr id="25" name="Shape 23"/>
          <p:cNvSpPr/>
          <p:nvPr/>
        </p:nvSpPr>
        <p:spPr>
          <a:xfrm>
            <a:off x="2953512" y="3072384"/>
            <a:ext cx="0" cy="905256"/>
          </a:xfrm>
          <a:prstGeom prst="line">
            <a:avLst/>
          </a:prstGeom>
          <a:noFill/>
          <a:ln w="6985">
            <a:solidFill>
              <a:srgbClr val="D6DEE8"/>
            </a:solidFill>
            <a:prstDash val="solid"/>
          </a:ln>
        </p:spPr>
      </p:sp>
      <p:sp>
        <p:nvSpPr>
          <p:cNvPr id="26" name="Text 24"/>
          <p:cNvSpPr/>
          <p:nvPr/>
        </p:nvSpPr>
        <p:spPr>
          <a:xfrm>
            <a:off x="3035808" y="3113532"/>
            <a:ext cx="4754880"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MAE, RMSE, MAPE y error según horizontes para RSSI, MCS y tasa de datos DL.</a:t>
            </a:r>
            <a:endParaRPr lang="en-US" sz="1270" dirty="0"/>
          </a:p>
        </p:txBody>
      </p:sp>
      <p:sp>
        <p:nvSpPr>
          <p:cNvPr id="27" name="Shape 25"/>
          <p:cNvSpPr/>
          <p:nvPr/>
        </p:nvSpPr>
        <p:spPr>
          <a:xfrm>
            <a:off x="7872984" y="3072384"/>
            <a:ext cx="0" cy="905256"/>
          </a:xfrm>
          <a:prstGeom prst="line">
            <a:avLst/>
          </a:prstGeom>
          <a:noFill/>
          <a:ln w="6985">
            <a:solidFill>
              <a:srgbClr val="D6DEE8"/>
            </a:solidFill>
            <a:prstDash val="solid"/>
          </a:ln>
        </p:spPr>
      </p:sp>
      <p:sp>
        <p:nvSpPr>
          <p:cNvPr id="28" name="Text 26"/>
          <p:cNvSpPr/>
          <p:nvPr/>
        </p:nvSpPr>
        <p:spPr>
          <a:xfrm>
            <a:off x="7955280" y="3113532"/>
            <a:ext cx="3511296"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Análisis predictivo; ficha de evaluación de pronósticos.</a:t>
            </a:r>
            <a:endParaRPr lang="en-US" sz="1270" dirty="0"/>
          </a:p>
        </p:txBody>
      </p:sp>
      <p:sp>
        <p:nvSpPr>
          <p:cNvPr id="29" name="Shape 27"/>
          <p:cNvSpPr/>
          <p:nvPr/>
        </p:nvSpPr>
        <p:spPr>
          <a:xfrm>
            <a:off x="658368" y="3977640"/>
            <a:ext cx="10890504" cy="0"/>
          </a:xfrm>
          <a:prstGeom prst="line">
            <a:avLst/>
          </a:prstGeom>
          <a:noFill/>
          <a:ln w="6985">
            <a:solidFill>
              <a:srgbClr val="D6DEE8"/>
            </a:solidFill>
            <a:prstDash val="solid"/>
          </a:ln>
        </p:spPr>
      </p:sp>
      <p:sp>
        <p:nvSpPr>
          <p:cNvPr id="30" name="Shape 28"/>
          <p:cNvSpPr/>
          <p:nvPr/>
        </p:nvSpPr>
        <p:spPr>
          <a:xfrm>
            <a:off x="658368" y="3977640"/>
            <a:ext cx="10890504" cy="905256"/>
          </a:xfrm>
          <a:prstGeom prst="rect">
            <a:avLst/>
          </a:prstGeom>
          <a:solidFill>
            <a:srgbClr val="FFFFFF"/>
          </a:solidFill>
          <a:ln w="12700">
            <a:solidFill>
              <a:srgbClr val="FFFFFF">
                <a:alpha val="0"/>
              </a:srgbClr>
            </a:solidFill>
            <a:prstDash val="solid"/>
          </a:ln>
        </p:spPr>
      </p:sp>
      <p:sp>
        <p:nvSpPr>
          <p:cNvPr id="31" name="Text 29"/>
          <p:cNvSpPr/>
          <p:nvPr/>
        </p:nvSpPr>
        <p:spPr>
          <a:xfrm>
            <a:off x="740664" y="4018788"/>
            <a:ext cx="2130552"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Capacidad de anticipación</a:t>
            </a:r>
            <a:endParaRPr lang="en-US" sz="1270" dirty="0"/>
          </a:p>
        </p:txBody>
      </p:sp>
      <p:sp>
        <p:nvSpPr>
          <p:cNvPr id="32" name="Shape 30"/>
          <p:cNvSpPr/>
          <p:nvPr/>
        </p:nvSpPr>
        <p:spPr>
          <a:xfrm>
            <a:off x="2953512" y="3977640"/>
            <a:ext cx="0" cy="905256"/>
          </a:xfrm>
          <a:prstGeom prst="line">
            <a:avLst/>
          </a:prstGeom>
          <a:noFill/>
          <a:ln w="6985">
            <a:solidFill>
              <a:srgbClr val="D6DEE8"/>
            </a:solidFill>
            <a:prstDash val="solid"/>
          </a:ln>
        </p:spPr>
      </p:sp>
      <p:sp>
        <p:nvSpPr>
          <p:cNvPr id="33" name="Text 31"/>
          <p:cNvSpPr/>
          <p:nvPr/>
        </p:nvSpPr>
        <p:spPr>
          <a:xfrm>
            <a:off x="3035808" y="4018788"/>
            <a:ext cx="4754880"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Horizonte 15 min; condiciones no normales anticipadas; recall/precisión; falsas alertas; no detectadas.</a:t>
            </a:r>
            <a:endParaRPr lang="en-US" sz="1270" dirty="0"/>
          </a:p>
        </p:txBody>
      </p:sp>
      <p:sp>
        <p:nvSpPr>
          <p:cNvPr id="34" name="Shape 32"/>
          <p:cNvSpPr/>
          <p:nvPr/>
        </p:nvSpPr>
        <p:spPr>
          <a:xfrm>
            <a:off x="7872984" y="3977640"/>
            <a:ext cx="0" cy="905256"/>
          </a:xfrm>
          <a:prstGeom prst="line">
            <a:avLst/>
          </a:prstGeom>
          <a:noFill/>
          <a:ln w="6985">
            <a:solidFill>
              <a:srgbClr val="D6DEE8"/>
            </a:solidFill>
            <a:prstDash val="solid"/>
          </a:ln>
        </p:spPr>
      </p:sp>
      <p:sp>
        <p:nvSpPr>
          <p:cNvPr id="35" name="Text 33"/>
          <p:cNvSpPr/>
          <p:nvPr/>
        </p:nvSpPr>
        <p:spPr>
          <a:xfrm>
            <a:off x="7955280" y="4018788"/>
            <a:ext cx="3511296"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Análisis temporal de condiciones futuras; ficha de evaluación de alertas.</a:t>
            </a:r>
            <a:endParaRPr lang="en-US" sz="1270" dirty="0"/>
          </a:p>
        </p:txBody>
      </p:sp>
      <p:sp>
        <p:nvSpPr>
          <p:cNvPr id="36" name="Shape 34"/>
          <p:cNvSpPr/>
          <p:nvPr/>
        </p:nvSpPr>
        <p:spPr>
          <a:xfrm>
            <a:off x="658368" y="4882896"/>
            <a:ext cx="10890504" cy="0"/>
          </a:xfrm>
          <a:prstGeom prst="line">
            <a:avLst/>
          </a:prstGeom>
          <a:noFill/>
          <a:ln w="6985">
            <a:solidFill>
              <a:srgbClr val="D6DEE8"/>
            </a:solidFill>
            <a:prstDash val="solid"/>
          </a:ln>
        </p:spPr>
      </p:sp>
      <p:sp>
        <p:nvSpPr>
          <p:cNvPr id="37" name="Shape 35"/>
          <p:cNvSpPr/>
          <p:nvPr/>
        </p:nvSpPr>
        <p:spPr>
          <a:xfrm>
            <a:off x="658368" y="4882896"/>
            <a:ext cx="10890504" cy="905256"/>
          </a:xfrm>
          <a:prstGeom prst="rect">
            <a:avLst/>
          </a:prstGeom>
          <a:solidFill>
            <a:srgbClr val="EDF2F8"/>
          </a:solidFill>
          <a:ln w="12700">
            <a:solidFill>
              <a:srgbClr val="FFFFFF">
                <a:alpha val="0"/>
              </a:srgbClr>
            </a:solidFill>
            <a:prstDash val="solid"/>
          </a:ln>
        </p:spPr>
      </p:sp>
      <p:sp>
        <p:nvSpPr>
          <p:cNvPr id="38" name="Text 36"/>
          <p:cNvSpPr/>
          <p:nvPr/>
        </p:nvSpPr>
        <p:spPr>
          <a:xfrm>
            <a:off x="740664" y="4924044"/>
            <a:ext cx="2130552"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Interpretabilidad de resultados</a:t>
            </a:r>
            <a:endParaRPr lang="en-US" sz="1270" dirty="0"/>
          </a:p>
        </p:txBody>
      </p:sp>
      <p:sp>
        <p:nvSpPr>
          <p:cNvPr id="39" name="Shape 37"/>
          <p:cNvSpPr/>
          <p:nvPr/>
        </p:nvSpPr>
        <p:spPr>
          <a:xfrm>
            <a:off x="2953512" y="4882896"/>
            <a:ext cx="0" cy="905256"/>
          </a:xfrm>
          <a:prstGeom prst="line">
            <a:avLst/>
          </a:prstGeom>
          <a:noFill/>
          <a:ln w="6985">
            <a:solidFill>
              <a:srgbClr val="D6DEE8"/>
            </a:solidFill>
            <a:prstDash val="solid"/>
          </a:ln>
        </p:spPr>
      </p:sp>
      <p:sp>
        <p:nvSpPr>
          <p:cNvPr id="40" name="Text 38"/>
          <p:cNvSpPr/>
          <p:nvPr/>
        </p:nvSpPr>
        <p:spPr>
          <a:xfrm>
            <a:off x="3035808" y="4924044"/>
            <a:ext cx="4754880"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Características influyentes; disminución media de F1-macro por permutación; variabilidad entre repeticiones.</a:t>
            </a:r>
            <a:endParaRPr lang="en-US" sz="1270" dirty="0"/>
          </a:p>
        </p:txBody>
      </p:sp>
      <p:sp>
        <p:nvSpPr>
          <p:cNvPr id="41" name="Shape 39"/>
          <p:cNvSpPr/>
          <p:nvPr/>
        </p:nvSpPr>
        <p:spPr>
          <a:xfrm>
            <a:off x="7872984" y="4882896"/>
            <a:ext cx="0" cy="905256"/>
          </a:xfrm>
          <a:prstGeom prst="line">
            <a:avLst/>
          </a:prstGeom>
          <a:noFill/>
          <a:ln w="6985">
            <a:solidFill>
              <a:srgbClr val="D6DEE8"/>
            </a:solidFill>
            <a:prstDash val="solid"/>
          </a:ln>
        </p:spPr>
      </p:sp>
      <p:sp>
        <p:nvSpPr>
          <p:cNvPr id="42" name="Text 40"/>
          <p:cNvSpPr/>
          <p:nvPr/>
        </p:nvSpPr>
        <p:spPr>
          <a:xfrm>
            <a:off x="7955280" y="4924044"/>
            <a:ext cx="3511296" cy="822960"/>
          </a:xfrm>
          <a:prstGeom prst="rect">
            <a:avLst/>
          </a:prstGeom>
          <a:noFill/>
          <a:ln/>
        </p:spPr>
        <p:txBody>
          <a:bodyPr wrap="square" lIns="0" tIns="0" rIns="0" bIns="0" rtlCol="0" anchor="ctr">
            <a:normAutofit/>
          </a:bodyPr>
          <a:lstStyle/>
          <a:p>
            <a:pPr algn="l" indent="0" marL="0">
              <a:buNone/>
            </a:pPr>
            <a:r>
              <a:rPr lang="en-US" sz="1270" dirty="0">
                <a:solidFill>
                  <a:srgbClr val="202B3C"/>
                </a:solidFill>
                <a:latin typeface="Aptos" pitchFamily="34" charset="0"/>
                <a:ea typeface="Aptos" pitchFamily="34" charset="-122"/>
                <a:cs typeface="Aptos" pitchFamily="34" charset="-120"/>
              </a:rPr>
              <a:t>Análisis de explicabilidad; matriz de interpretación.</a:t>
            </a:r>
            <a:endParaRPr lang="en-US" sz="1270" dirty="0"/>
          </a:p>
        </p:txBody>
      </p:sp>
      <p:sp>
        <p:nvSpPr>
          <p:cNvPr id="43" name="Shape 41"/>
          <p:cNvSpPr/>
          <p:nvPr/>
        </p:nvSpPr>
        <p:spPr>
          <a:xfrm>
            <a:off x="658368" y="5788152"/>
            <a:ext cx="10890504" cy="0"/>
          </a:xfrm>
          <a:prstGeom prst="line">
            <a:avLst/>
          </a:prstGeom>
          <a:noFill/>
          <a:ln w="6985">
            <a:solidFill>
              <a:srgbClr val="D6DEE8"/>
            </a:solidFill>
            <a:prstDash val="solid"/>
          </a:ln>
        </p:spPr>
      </p:sp>
      <p:sp>
        <p:nvSpPr>
          <p:cNvPr id="44" name="Shape 42"/>
          <p:cNvSpPr/>
          <p:nvPr/>
        </p:nvSpPr>
        <p:spPr>
          <a:xfrm>
            <a:off x="685800" y="5943600"/>
            <a:ext cx="10863072" cy="365760"/>
          </a:xfrm>
          <a:prstGeom prst="roundRect">
            <a:avLst/>
          </a:prstGeom>
          <a:solidFill>
            <a:srgbClr val="E8F4F3"/>
          </a:solidFill>
          <a:ln w="12700">
            <a:solidFill>
              <a:srgbClr val="FFFFFF">
                <a:alpha val="0"/>
              </a:srgbClr>
            </a:solidFill>
            <a:prstDash val="solid"/>
          </a:ln>
        </p:spPr>
      </p:sp>
      <p:sp>
        <p:nvSpPr>
          <p:cNvPr id="45" name="Shape 43"/>
          <p:cNvSpPr/>
          <p:nvPr/>
        </p:nvSpPr>
        <p:spPr>
          <a:xfrm>
            <a:off x="685800" y="5943600"/>
            <a:ext cx="73152" cy="365760"/>
          </a:xfrm>
          <a:prstGeom prst="rect">
            <a:avLst/>
          </a:prstGeom>
          <a:solidFill>
            <a:srgbClr val="168B91"/>
          </a:solidFill>
          <a:ln w="12700">
            <a:solidFill>
              <a:srgbClr val="FFFFFF">
                <a:alpha val="0"/>
              </a:srgbClr>
            </a:solidFill>
            <a:prstDash val="solid"/>
          </a:ln>
        </p:spPr>
      </p:sp>
      <p:sp>
        <p:nvSpPr>
          <p:cNvPr id="46" name="Text 44"/>
          <p:cNvSpPr/>
          <p:nvPr/>
        </p:nvSpPr>
        <p:spPr>
          <a:xfrm>
            <a:off x="877824" y="6035040"/>
            <a:ext cx="10497312" cy="201168"/>
          </a:xfrm>
          <a:prstGeom prst="rect">
            <a:avLst/>
          </a:prstGeom>
          <a:noFill/>
          <a:ln/>
        </p:spPr>
        <p:txBody>
          <a:bodyPr wrap="square" lIns="0" tIns="0" rIns="0" bIns="0" rtlCol="0" anchor="ctr">
            <a:normAutofit/>
          </a:bodyPr>
          <a:lstStyle/>
          <a:p>
            <a:pPr algn="l" indent="0" marL="0">
              <a:buNone/>
            </a:pPr>
            <a:r>
              <a:rPr lang="en-US" sz="1180" b="1" dirty="0">
                <a:solidFill>
                  <a:srgbClr val="111E37"/>
                </a:solidFill>
                <a:latin typeface="Aptos" pitchFamily="34" charset="0"/>
                <a:ea typeface="Aptos" pitchFamily="34" charset="-122"/>
                <a:cs typeface="Aptos" pitchFamily="34" charset="-120"/>
              </a:rPr>
              <a:t>Variable: desempeño del diagnóstico y pronóstico operacional. Referentes y métricas de prueba: base de contraste de la hipótesis general.</a:t>
            </a:r>
            <a:endParaRPr lang="en-US" sz="11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Tabla VIII — matriz de consistencia · nivel general</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Matriz original reorganizada en campos para conservar legibilidad durante la sustentación.</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VIII, fila del problema general.</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40</a:t>
            </a:r>
            <a:endParaRPr lang="en-US" sz="1040" dirty="0"/>
          </a:p>
        </p:txBody>
      </p:sp>
      <p:sp>
        <p:nvSpPr>
          <p:cNvPr id="9" name="Shape 7"/>
          <p:cNvSpPr/>
          <p:nvPr/>
        </p:nvSpPr>
        <p:spPr>
          <a:xfrm>
            <a:off x="685800" y="1581912"/>
            <a:ext cx="5248656" cy="1261872"/>
          </a:xfrm>
          <a:prstGeom prst="roundRect">
            <a:avLst/>
          </a:prstGeom>
          <a:solidFill>
            <a:srgbClr val="FFFFFF"/>
          </a:solidFill>
          <a:ln w="10160">
            <a:solidFill>
              <a:srgbClr val="DBE3ED"/>
            </a:solidFill>
            <a:prstDash val="solid"/>
          </a:ln>
        </p:spPr>
      </p:sp>
      <p:sp>
        <p:nvSpPr>
          <p:cNvPr id="10" name="Shape 8"/>
          <p:cNvSpPr/>
          <p:nvPr/>
        </p:nvSpPr>
        <p:spPr>
          <a:xfrm>
            <a:off x="685800" y="1581912"/>
            <a:ext cx="64008" cy="1261872"/>
          </a:xfrm>
          <a:prstGeom prst="rect">
            <a:avLst/>
          </a:prstGeom>
          <a:solidFill>
            <a:srgbClr val="2861A1"/>
          </a:solidFill>
          <a:ln w="12700">
            <a:solidFill>
              <a:srgbClr val="FFFFFF">
                <a:alpha val="0"/>
              </a:srgbClr>
            </a:solidFill>
            <a:prstDash val="solid"/>
          </a:ln>
        </p:spPr>
      </p:sp>
      <p:sp>
        <p:nvSpPr>
          <p:cNvPr id="11" name="Text 9"/>
          <p:cNvSpPr/>
          <p:nvPr/>
        </p:nvSpPr>
        <p:spPr>
          <a:xfrm>
            <a:off x="896112" y="1719072"/>
            <a:ext cx="4837176" cy="411480"/>
          </a:xfrm>
          <a:prstGeom prst="rect">
            <a:avLst/>
          </a:prstGeom>
          <a:noFill/>
          <a:ln/>
        </p:spPr>
        <p:txBody>
          <a:bodyPr wrap="square" lIns="0" tIns="0" rIns="0" bIns="0" rtlCol="0" anchor="ctr">
            <a:normAutofit/>
          </a:bodyPr>
          <a:lstStyle/>
          <a:p>
            <a:pPr algn="l" indent="0" marL="0">
              <a:buNone/>
            </a:pPr>
            <a:r>
              <a:rPr lang="en-US" sz="1380" b="1" dirty="0">
                <a:solidFill>
                  <a:srgbClr val="111E37"/>
                </a:solidFill>
                <a:latin typeface="Aptos" pitchFamily="34" charset="0"/>
                <a:ea typeface="Aptos" pitchFamily="34" charset="-122"/>
                <a:cs typeface="Aptos" pitchFamily="34" charset="-120"/>
              </a:rPr>
              <a:t>PROBLEMA GENERAL</a:t>
            </a:r>
            <a:endParaRPr lang="en-US" sz="1380" dirty="0"/>
          </a:p>
        </p:txBody>
      </p:sp>
      <p:sp>
        <p:nvSpPr>
          <p:cNvPr id="12" name="Text 10"/>
          <p:cNvSpPr/>
          <p:nvPr/>
        </p:nvSpPr>
        <p:spPr>
          <a:xfrm>
            <a:off x="896112" y="2240280"/>
            <a:ext cx="4828032" cy="466344"/>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¿En qué medida el sistema mejora el diagnóstico y pronóstico del desempeño operacional?</a:t>
            </a:r>
            <a:endParaRPr lang="en-US" sz="1500" dirty="0"/>
          </a:p>
        </p:txBody>
      </p:sp>
      <p:sp>
        <p:nvSpPr>
          <p:cNvPr id="13" name="Shape 11"/>
          <p:cNvSpPr/>
          <p:nvPr/>
        </p:nvSpPr>
        <p:spPr>
          <a:xfrm>
            <a:off x="6071616" y="1581912"/>
            <a:ext cx="5385816" cy="1261872"/>
          </a:xfrm>
          <a:prstGeom prst="roundRect">
            <a:avLst/>
          </a:prstGeom>
          <a:solidFill>
            <a:srgbClr val="FFFFFF"/>
          </a:solidFill>
          <a:ln w="10160">
            <a:solidFill>
              <a:srgbClr val="DBE3ED"/>
            </a:solidFill>
            <a:prstDash val="solid"/>
          </a:ln>
        </p:spPr>
      </p:sp>
      <p:sp>
        <p:nvSpPr>
          <p:cNvPr id="14" name="Shape 12"/>
          <p:cNvSpPr/>
          <p:nvPr/>
        </p:nvSpPr>
        <p:spPr>
          <a:xfrm>
            <a:off x="6071616" y="1581912"/>
            <a:ext cx="64008" cy="1261872"/>
          </a:xfrm>
          <a:prstGeom prst="rect">
            <a:avLst/>
          </a:prstGeom>
          <a:solidFill>
            <a:srgbClr val="168B91"/>
          </a:solidFill>
          <a:ln w="12700">
            <a:solidFill>
              <a:srgbClr val="FFFFFF">
                <a:alpha val="0"/>
              </a:srgbClr>
            </a:solidFill>
            <a:prstDash val="solid"/>
          </a:ln>
        </p:spPr>
      </p:sp>
      <p:sp>
        <p:nvSpPr>
          <p:cNvPr id="15" name="Text 13"/>
          <p:cNvSpPr/>
          <p:nvPr/>
        </p:nvSpPr>
        <p:spPr>
          <a:xfrm>
            <a:off x="6281928" y="1719072"/>
            <a:ext cx="4974336" cy="411480"/>
          </a:xfrm>
          <a:prstGeom prst="rect">
            <a:avLst/>
          </a:prstGeom>
          <a:noFill/>
          <a:ln/>
        </p:spPr>
        <p:txBody>
          <a:bodyPr wrap="square" lIns="0" tIns="0" rIns="0" bIns="0" rtlCol="0" anchor="ctr">
            <a:normAutofit/>
          </a:bodyPr>
          <a:lstStyle/>
          <a:p>
            <a:pPr algn="l" indent="0" marL="0">
              <a:buNone/>
            </a:pPr>
            <a:r>
              <a:rPr lang="en-US" sz="1380" b="1" dirty="0">
                <a:solidFill>
                  <a:srgbClr val="111E37"/>
                </a:solidFill>
                <a:latin typeface="Aptos" pitchFamily="34" charset="0"/>
                <a:ea typeface="Aptos" pitchFamily="34" charset="-122"/>
                <a:cs typeface="Aptos" pitchFamily="34" charset="-120"/>
              </a:rPr>
              <a:t>OBJETIVO GENERAL</a:t>
            </a:r>
            <a:endParaRPr lang="en-US" sz="1380" dirty="0"/>
          </a:p>
        </p:txBody>
      </p:sp>
      <p:sp>
        <p:nvSpPr>
          <p:cNvPr id="16" name="Text 14"/>
          <p:cNvSpPr/>
          <p:nvPr/>
        </p:nvSpPr>
        <p:spPr>
          <a:xfrm>
            <a:off x="6281928" y="2240280"/>
            <a:ext cx="4965192" cy="466344"/>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Desarrollar un sistema basado en analítica temporal para mejorar diagnóstico y pronóstico.</a:t>
            </a:r>
            <a:endParaRPr lang="en-US" sz="1500" dirty="0"/>
          </a:p>
        </p:txBody>
      </p:sp>
      <p:sp>
        <p:nvSpPr>
          <p:cNvPr id="17" name="Shape 15"/>
          <p:cNvSpPr/>
          <p:nvPr/>
        </p:nvSpPr>
        <p:spPr>
          <a:xfrm>
            <a:off x="685800" y="3044952"/>
            <a:ext cx="10771632" cy="1124712"/>
          </a:xfrm>
          <a:prstGeom prst="roundRect">
            <a:avLst/>
          </a:prstGeom>
          <a:solidFill>
            <a:srgbClr val="FFFFFF"/>
          </a:solidFill>
          <a:ln w="10160">
            <a:solidFill>
              <a:srgbClr val="DBE3ED"/>
            </a:solidFill>
            <a:prstDash val="solid"/>
          </a:ln>
        </p:spPr>
      </p:sp>
      <p:sp>
        <p:nvSpPr>
          <p:cNvPr id="18" name="Shape 16"/>
          <p:cNvSpPr/>
          <p:nvPr/>
        </p:nvSpPr>
        <p:spPr>
          <a:xfrm>
            <a:off x="685800" y="3044952"/>
            <a:ext cx="64008" cy="1124712"/>
          </a:xfrm>
          <a:prstGeom prst="rect">
            <a:avLst/>
          </a:prstGeom>
          <a:solidFill>
            <a:srgbClr val="E7B755"/>
          </a:solidFill>
          <a:ln w="12700">
            <a:solidFill>
              <a:srgbClr val="FFFFFF">
                <a:alpha val="0"/>
              </a:srgbClr>
            </a:solidFill>
            <a:prstDash val="solid"/>
          </a:ln>
        </p:spPr>
      </p:sp>
      <p:sp>
        <p:nvSpPr>
          <p:cNvPr id="19" name="Text 17"/>
          <p:cNvSpPr/>
          <p:nvPr/>
        </p:nvSpPr>
        <p:spPr>
          <a:xfrm>
            <a:off x="896112" y="3182112"/>
            <a:ext cx="10360152" cy="411480"/>
          </a:xfrm>
          <a:prstGeom prst="rect">
            <a:avLst/>
          </a:prstGeom>
          <a:noFill/>
          <a:ln/>
        </p:spPr>
        <p:txBody>
          <a:bodyPr wrap="square" lIns="0" tIns="0" rIns="0" bIns="0" rtlCol="0" anchor="ctr">
            <a:normAutofit/>
          </a:bodyPr>
          <a:lstStyle/>
          <a:p>
            <a:pPr algn="l" indent="0" marL="0">
              <a:buNone/>
            </a:pPr>
            <a:r>
              <a:rPr lang="en-US" sz="1380" b="1" dirty="0">
                <a:solidFill>
                  <a:srgbClr val="111E37"/>
                </a:solidFill>
                <a:latin typeface="Aptos" pitchFamily="34" charset="0"/>
                <a:ea typeface="Aptos" pitchFamily="34" charset="-122"/>
                <a:cs typeface="Aptos" pitchFamily="34" charset="-120"/>
              </a:rPr>
              <a:t>HIPÓTESIS GENERAL</a:t>
            </a:r>
            <a:endParaRPr lang="en-US" sz="1380" dirty="0"/>
          </a:p>
        </p:txBody>
      </p:sp>
      <p:sp>
        <p:nvSpPr>
          <p:cNvPr id="20" name="Text 18"/>
          <p:cNvSpPr/>
          <p:nvPr/>
        </p:nvSpPr>
        <p:spPr>
          <a:xfrm>
            <a:off x="896112" y="3703320"/>
            <a:ext cx="10351008" cy="329184"/>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El sistema mejora significativamente el diagnóstico y pronóstico frente a métodos convencionales y modelos de referencia.</a:t>
            </a:r>
            <a:endParaRPr lang="en-US" sz="1500" dirty="0"/>
          </a:p>
        </p:txBody>
      </p:sp>
      <p:sp>
        <p:nvSpPr>
          <p:cNvPr id="21" name="Shape 19"/>
          <p:cNvSpPr/>
          <p:nvPr/>
        </p:nvSpPr>
        <p:spPr>
          <a:xfrm>
            <a:off x="713232" y="4398264"/>
            <a:ext cx="10707624" cy="457200"/>
          </a:xfrm>
          <a:prstGeom prst="rect">
            <a:avLst/>
          </a:prstGeom>
          <a:solidFill>
            <a:srgbClr val="111E37"/>
          </a:solidFill>
          <a:ln w="12700">
            <a:solidFill>
              <a:srgbClr val="FFFFFF">
                <a:alpha val="0"/>
              </a:srgbClr>
            </a:solidFill>
            <a:prstDash val="solid"/>
          </a:ln>
        </p:spPr>
      </p:sp>
      <p:sp>
        <p:nvSpPr>
          <p:cNvPr id="22" name="Text 20"/>
          <p:cNvSpPr/>
          <p:nvPr/>
        </p:nvSpPr>
        <p:spPr>
          <a:xfrm>
            <a:off x="795528" y="4439412"/>
            <a:ext cx="4983480" cy="374904"/>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VARIABLE INDEPENDIENTE</a:t>
            </a:r>
            <a:endParaRPr lang="en-US" sz="1160" dirty="0"/>
          </a:p>
        </p:txBody>
      </p:sp>
      <p:sp>
        <p:nvSpPr>
          <p:cNvPr id="23" name="Shape 21"/>
          <p:cNvSpPr/>
          <p:nvPr/>
        </p:nvSpPr>
        <p:spPr>
          <a:xfrm>
            <a:off x="5861304" y="4398264"/>
            <a:ext cx="0" cy="457200"/>
          </a:xfrm>
          <a:prstGeom prst="line">
            <a:avLst/>
          </a:prstGeom>
          <a:noFill/>
          <a:ln w="6985">
            <a:solidFill>
              <a:srgbClr val="506078"/>
            </a:solidFill>
            <a:prstDash val="solid"/>
          </a:ln>
        </p:spPr>
      </p:sp>
      <p:sp>
        <p:nvSpPr>
          <p:cNvPr id="24" name="Text 22"/>
          <p:cNvSpPr/>
          <p:nvPr/>
        </p:nvSpPr>
        <p:spPr>
          <a:xfrm>
            <a:off x="5943600" y="4439412"/>
            <a:ext cx="5394960" cy="374904"/>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VARIABLE DEPENDIENTE</a:t>
            </a:r>
            <a:endParaRPr lang="en-US" sz="1160" dirty="0"/>
          </a:p>
        </p:txBody>
      </p:sp>
      <p:sp>
        <p:nvSpPr>
          <p:cNvPr id="25" name="Shape 23"/>
          <p:cNvSpPr/>
          <p:nvPr/>
        </p:nvSpPr>
        <p:spPr>
          <a:xfrm>
            <a:off x="713232" y="4855464"/>
            <a:ext cx="10707624" cy="0"/>
          </a:xfrm>
          <a:prstGeom prst="line">
            <a:avLst/>
          </a:prstGeom>
          <a:noFill/>
          <a:ln w="6985">
            <a:solidFill>
              <a:srgbClr val="D6DEE8"/>
            </a:solidFill>
            <a:prstDash val="solid"/>
          </a:ln>
        </p:spPr>
      </p:sp>
      <p:sp>
        <p:nvSpPr>
          <p:cNvPr id="26" name="Shape 24"/>
          <p:cNvSpPr/>
          <p:nvPr/>
        </p:nvSpPr>
        <p:spPr>
          <a:xfrm>
            <a:off x="713232" y="4855464"/>
            <a:ext cx="10707624" cy="850392"/>
          </a:xfrm>
          <a:prstGeom prst="rect">
            <a:avLst/>
          </a:prstGeom>
          <a:solidFill>
            <a:srgbClr val="FFFFFF"/>
          </a:solidFill>
          <a:ln w="12700">
            <a:solidFill>
              <a:srgbClr val="FFFFFF">
                <a:alpha val="0"/>
              </a:srgbClr>
            </a:solidFill>
            <a:prstDash val="solid"/>
          </a:ln>
        </p:spPr>
      </p:sp>
      <p:sp>
        <p:nvSpPr>
          <p:cNvPr id="27" name="Text 25"/>
          <p:cNvSpPr/>
          <p:nvPr/>
        </p:nvSpPr>
        <p:spPr>
          <a:xfrm>
            <a:off x="795528" y="4896612"/>
            <a:ext cx="4983480" cy="768096"/>
          </a:xfrm>
          <a:prstGeom prst="rect">
            <a:avLst/>
          </a:prstGeom>
          <a:noFill/>
          <a:ln/>
        </p:spPr>
        <p:txBody>
          <a:bodyPr wrap="square" lIns="0" tIns="0" rIns="0" bIns="0" rtlCol="0" anchor="ctr">
            <a:normAutofit/>
          </a:bodyPr>
          <a:lstStyle/>
          <a:p>
            <a:pPr algn="l" indent="0" marL="0">
              <a:buNone/>
            </a:pPr>
            <a:r>
              <a:rPr lang="en-US" sz="1470" dirty="0">
                <a:solidFill>
                  <a:srgbClr val="202B3C"/>
                </a:solidFill>
                <a:latin typeface="Aptos" pitchFamily="34" charset="0"/>
                <a:ea typeface="Aptos" pitchFamily="34" charset="-122"/>
                <a:cs typeface="Aptos" pitchFamily="34" charset="-120"/>
              </a:rPr>
              <a:t>Sistema inteligente basado en analítica de datos temporales</a:t>
            </a:r>
            <a:endParaRPr lang="en-US" sz="1470" dirty="0"/>
          </a:p>
        </p:txBody>
      </p:sp>
      <p:sp>
        <p:nvSpPr>
          <p:cNvPr id="28" name="Shape 26"/>
          <p:cNvSpPr/>
          <p:nvPr/>
        </p:nvSpPr>
        <p:spPr>
          <a:xfrm>
            <a:off x="5861304" y="4855464"/>
            <a:ext cx="0" cy="850392"/>
          </a:xfrm>
          <a:prstGeom prst="line">
            <a:avLst/>
          </a:prstGeom>
          <a:noFill/>
          <a:ln w="6985">
            <a:solidFill>
              <a:srgbClr val="D6DEE8"/>
            </a:solidFill>
            <a:prstDash val="solid"/>
          </a:ln>
        </p:spPr>
      </p:sp>
      <p:sp>
        <p:nvSpPr>
          <p:cNvPr id="29" name="Text 27"/>
          <p:cNvSpPr/>
          <p:nvPr/>
        </p:nvSpPr>
        <p:spPr>
          <a:xfrm>
            <a:off x="5943600" y="4896612"/>
            <a:ext cx="5394960" cy="768096"/>
          </a:xfrm>
          <a:prstGeom prst="rect">
            <a:avLst/>
          </a:prstGeom>
          <a:noFill/>
          <a:ln/>
        </p:spPr>
        <p:txBody>
          <a:bodyPr wrap="square" lIns="0" tIns="0" rIns="0" bIns="0" rtlCol="0" anchor="ctr">
            <a:normAutofit/>
          </a:bodyPr>
          <a:lstStyle/>
          <a:p>
            <a:pPr algn="l" indent="0" marL="0">
              <a:buNone/>
            </a:pPr>
            <a:r>
              <a:rPr lang="en-US" sz="1470" dirty="0">
                <a:solidFill>
                  <a:srgbClr val="202B3C"/>
                </a:solidFill>
                <a:latin typeface="Aptos" pitchFamily="34" charset="0"/>
                <a:ea typeface="Aptos" pitchFamily="34" charset="-122"/>
                <a:cs typeface="Aptos" pitchFamily="34" charset="-120"/>
              </a:rPr>
              <a:t>Desempeño del diagnóstico y pronóstico operacional</a:t>
            </a:r>
            <a:endParaRPr lang="en-US" sz="1470" dirty="0"/>
          </a:p>
        </p:txBody>
      </p:sp>
      <p:sp>
        <p:nvSpPr>
          <p:cNvPr id="30" name="Shape 28"/>
          <p:cNvSpPr/>
          <p:nvPr/>
        </p:nvSpPr>
        <p:spPr>
          <a:xfrm>
            <a:off x="713232" y="5705856"/>
            <a:ext cx="10707624" cy="0"/>
          </a:xfrm>
          <a:prstGeom prst="line">
            <a:avLst/>
          </a:prstGeom>
          <a:noFill/>
          <a:ln w="6985">
            <a:solidFill>
              <a:srgbClr val="D6DEE8"/>
            </a:solidFill>
            <a:prstDash val="solid"/>
          </a:ln>
        </p:spPr>
      </p:sp>
      <p:sp>
        <p:nvSpPr>
          <p:cNvPr id="31" name="Text 29"/>
          <p:cNvSpPr/>
          <p:nvPr/>
        </p:nvSpPr>
        <p:spPr>
          <a:xfrm>
            <a:off x="749808" y="5934456"/>
            <a:ext cx="10698480" cy="365760"/>
          </a:xfrm>
          <a:prstGeom prst="rect">
            <a:avLst/>
          </a:prstGeom>
          <a:noFill/>
          <a:ln/>
        </p:spPr>
        <p:txBody>
          <a:bodyPr wrap="square" lIns="0" tIns="0" rIns="0" bIns="0" rtlCol="0" anchor="ctr">
            <a:normAutofit/>
          </a:bodyPr>
          <a:lstStyle/>
          <a:p>
            <a:pPr algn="l" indent="0" marL="0">
              <a:buNone/>
            </a:pPr>
            <a:r>
              <a:rPr lang="en-US" sz="1360" b="1" dirty="0">
                <a:solidFill>
                  <a:srgbClr val="111E37"/>
                </a:solidFill>
                <a:latin typeface="Aptos" pitchFamily="34" charset="0"/>
                <a:ea typeface="Aptos" pitchFamily="34" charset="-122"/>
                <a:cs typeface="Aptos" pitchFamily="34" charset="-120"/>
              </a:rPr>
              <a:t>Metodología: cuantitativa · aplicada · predictiva · no experimental longitudinal · hipotético-deductiva con ciencia del diseño.</a:t>
            </a:r>
            <a:endParaRPr lang="en-US" sz="13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Tabla VIII — matriz de consistencia · objetivos 1 y 2</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Alineación explícita entre formulación, evidencia e instrumento.</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VIII, P1–P2 / OE1–OE2 / HE1–HE2.</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41</a:t>
            </a:r>
            <a:endParaRPr lang="en-US" sz="1040" dirty="0"/>
          </a:p>
        </p:txBody>
      </p:sp>
      <p:sp>
        <p:nvSpPr>
          <p:cNvPr id="9" name="Shape 7"/>
          <p:cNvSpPr/>
          <p:nvPr/>
        </p:nvSpPr>
        <p:spPr>
          <a:xfrm>
            <a:off x="676656" y="1700784"/>
            <a:ext cx="10808208" cy="475488"/>
          </a:xfrm>
          <a:prstGeom prst="rect">
            <a:avLst/>
          </a:prstGeom>
          <a:solidFill>
            <a:srgbClr val="111E37"/>
          </a:solidFill>
          <a:ln w="12700">
            <a:solidFill>
              <a:srgbClr val="FFFFFF">
                <a:alpha val="0"/>
              </a:srgbClr>
            </a:solidFill>
            <a:prstDash val="solid"/>
          </a:ln>
        </p:spPr>
      </p:sp>
      <p:sp>
        <p:nvSpPr>
          <p:cNvPr id="10" name="Text 8"/>
          <p:cNvSpPr/>
          <p:nvPr/>
        </p:nvSpPr>
        <p:spPr>
          <a:xfrm>
            <a:off x="758952" y="1741932"/>
            <a:ext cx="3401568"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PROBLEMA ESPECÍFICO</a:t>
            </a:r>
            <a:endParaRPr lang="en-US" sz="1160" dirty="0"/>
          </a:p>
        </p:txBody>
      </p:sp>
      <p:sp>
        <p:nvSpPr>
          <p:cNvPr id="11" name="Shape 9"/>
          <p:cNvSpPr/>
          <p:nvPr/>
        </p:nvSpPr>
        <p:spPr>
          <a:xfrm>
            <a:off x="4242816" y="1700784"/>
            <a:ext cx="0" cy="475488"/>
          </a:xfrm>
          <a:prstGeom prst="line">
            <a:avLst/>
          </a:prstGeom>
          <a:noFill/>
          <a:ln w="6985">
            <a:solidFill>
              <a:srgbClr val="506078"/>
            </a:solidFill>
            <a:prstDash val="solid"/>
          </a:ln>
        </p:spPr>
      </p:sp>
      <p:sp>
        <p:nvSpPr>
          <p:cNvPr id="12" name="Text 10"/>
          <p:cNvSpPr/>
          <p:nvPr/>
        </p:nvSpPr>
        <p:spPr>
          <a:xfrm>
            <a:off x="4325112" y="1741932"/>
            <a:ext cx="3401568"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OBJETIVO ESPECÍFICO</a:t>
            </a:r>
            <a:endParaRPr lang="en-US" sz="1160" dirty="0"/>
          </a:p>
        </p:txBody>
      </p:sp>
      <p:sp>
        <p:nvSpPr>
          <p:cNvPr id="13" name="Shape 11"/>
          <p:cNvSpPr/>
          <p:nvPr/>
        </p:nvSpPr>
        <p:spPr>
          <a:xfrm>
            <a:off x="7808976" y="1700784"/>
            <a:ext cx="0" cy="475488"/>
          </a:xfrm>
          <a:prstGeom prst="line">
            <a:avLst/>
          </a:prstGeom>
          <a:noFill/>
          <a:ln w="6985">
            <a:solidFill>
              <a:srgbClr val="506078"/>
            </a:solidFill>
            <a:prstDash val="solid"/>
          </a:ln>
        </p:spPr>
      </p:sp>
      <p:sp>
        <p:nvSpPr>
          <p:cNvPr id="14" name="Text 12"/>
          <p:cNvSpPr/>
          <p:nvPr/>
        </p:nvSpPr>
        <p:spPr>
          <a:xfrm>
            <a:off x="7891272" y="1741932"/>
            <a:ext cx="3511296"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HIPÓTESIS ESPECÍFICA</a:t>
            </a:r>
            <a:endParaRPr lang="en-US" sz="1160" dirty="0"/>
          </a:p>
        </p:txBody>
      </p:sp>
      <p:sp>
        <p:nvSpPr>
          <p:cNvPr id="15" name="Shape 13"/>
          <p:cNvSpPr/>
          <p:nvPr/>
        </p:nvSpPr>
        <p:spPr>
          <a:xfrm>
            <a:off x="676656" y="2176272"/>
            <a:ext cx="10808208" cy="0"/>
          </a:xfrm>
          <a:prstGeom prst="line">
            <a:avLst/>
          </a:prstGeom>
          <a:noFill/>
          <a:ln w="6985">
            <a:solidFill>
              <a:srgbClr val="D6DEE8"/>
            </a:solidFill>
            <a:prstDash val="solid"/>
          </a:ln>
        </p:spPr>
      </p:sp>
      <p:sp>
        <p:nvSpPr>
          <p:cNvPr id="16" name="Shape 14"/>
          <p:cNvSpPr/>
          <p:nvPr/>
        </p:nvSpPr>
        <p:spPr>
          <a:xfrm>
            <a:off x="676656" y="2176272"/>
            <a:ext cx="10808208" cy="1664208"/>
          </a:xfrm>
          <a:prstGeom prst="rect">
            <a:avLst/>
          </a:prstGeom>
          <a:solidFill>
            <a:srgbClr val="FFFFFF"/>
          </a:solidFill>
          <a:ln w="12700">
            <a:solidFill>
              <a:srgbClr val="FFFFFF">
                <a:alpha val="0"/>
              </a:srgbClr>
            </a:solidFill>
            <a:prstDash val="solid"/>
          </a:ln>
        </p:spPr>
      </p:sp>
      <p:sp>
        <p:nvSpPr>
          <p:cNvPr id="17" name="Text 15"/>
          <p:cNvSpPr/>
          <p:nvPr/>
        </p:nvSpPr>
        <p:spPr>
          <a:xfrm>
            <a:off x="758952" y="2217420"/>
            <a:ext cx="3401568"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P1. ¿Qué calidad y comportamiento temporal presenta la telemetría después de su integración, sincronización y depuración?</a:t>
            </a:r>
            <a:endParaRPr lang="en-US" sz="1315" dirty="0"/>
          </a:p>
        </p:txBody>
      </p:sp>
      <p:sp>
        <p:nvSpPr>
          <p:cNvPr id="18" name="Shape 16"/>
          <p:cNvSpPr/>
          <p:nvPr/>
        </p:nvSpPr>
        <p:spPr>
          <a:xfrm>
            <a:off x="4242816" y="2176272"/>
            <a:ext cx="0" cy="1664208"/>
          </a:xfrm>
          <a:prstGeom prst="line">
            <a:avLst/>
          </a:prstGeom>
          <a:noFill/>
          <a:ln w="6985">
            <a:solidFill>
              <a:srgbClr val="D6DEE8"/>
            </a:solidFill>
            <a:prstDash val="solid"/>
          </a:ln>
        </p:spPr>
      </p:sp>
      <p:sp>
        <p:nvSpPr>
          <p:cNvPr id="19" name="Text 17"/>
          <p:cNvSpPr/>
          <p:nvPr/>
        </p:nvSpPr>
        <p:spPr>
          <a:xfrm>
            <a:off x="4325112" y="2217420"/>
            <a:ext cx="3401568"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OE1. Construir un conjunto temporal mediante integración, sincronización, depuración y control de calidad.</a:t>
            </a:r>
            <a:endParaRPr lang="en-US" sz="1315" dirty="0"/>
          </a:p>
        </p:txBody>
      </p:sp>
      <p:sp>
        <p:nvSpPr>
          <p:cNvPr id="20" name="Shape 18"/>
          <p:cNvSpPr/>
          <p:nvPr/>
        </p:nvSpPr>
        <p:spPr>
          <a:xfrm>
            <a:off x="7808976" y="2176272"/>
            <a:ext cx="0" cy="1664208"/>
          </a:xfrm>
          <a:prstGeom prst="line">
            <a:avLst/>
          </a:prstGeom>
          <a:noFill/>
          <a:ln w="6985">
            <a:solidFill>
              <a:srgbClr val="D6DEE8"/>
            </a:solidFill>
            <a:prstDash val="solid"/>
          </a:ln>
        </p:spPr>
      </p:sp>
      <p:sp>
        <p:nvSpPr>
          <p:cNvPr id="21" name="Text 19"/>
          <p:cNvSpPr/>
          <p:nvPr/>
        </p:nvSpPr>
        <p:spPr>
          <a:xfrm>
            <a:off x="7891272" y="2217420"/>
            <a:ext cx="3511296"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HE1. Obtener conjunto trazable, consistente, técnicamente válido y con alta completitud entre minutos observados.</a:t>
            </a:r>
            <a:endParaRPr lang="en-US" sz="1315" dirty="0"/>
          </a:p>
        </p:txBody>
      </p:sp>
      <p:sp>
        <p:nvSpPr>
          <p:cNvPr id="22" name="Shape 20"/>
          <p:cNvSpPr/>
          <p:nvPr/>
        </p:nvSpPr>
        <p:spPr>
          <a:xfrm>
            <a:off x="676656" y="3840480"/>
            <a:ext cx="10808208" cy="0"/>
          </a:xfrm>
          <a:prstGeom prst="line">
            <a:avLst/>
          </a:prstGeom>
          <a:noFill/>
          <a:ln w="6985">
            <a:solidFill>
              <a:srgbClr val="D6DEE8"/>
            </a:solidFill>
            <a:prstDash val="solid"/>
          </a:ln>
        </p:spPr>
      </p:sp>
      <p:sp>
        <p:nvSpPr>
          <p:cNvPr id="23" name="Shape 21"/>
          <p:cNvSpPr/>
          <p:nvPr/>
        </p:nvSpPr>
        <p:spPr>
          <a:xfrm>
            <a:off x="676656" y="3840480"/>
            <a:ext cx="10808208" cy="1664208"/>
          </a:xfrm>
          <a:prstGeom prst="rect">
            <a:avLst/>
          </a:prstGeom>
          <a:solidFill>
            <a:srgbClr val="EDF2F8"/>
          </a:solidFill>
          <a:ln w="12700">
            <a:solidFill>
              <a:srgbClr val="FFFFFF">
                <a:alpha val="0"/>
              </a:srgbClr>
            </a:solidFill>
            <a:prstDash val="solid"/>
          </a:ln>
        </p:spPr>
      </p:sp>
      <p:sp>
        <p:nvSpPr>
          <p:cNvPr id="24" name="Text 22"/>
          <p:cNvSpPr/>
          <p:nvPr/>
        </p:nvSpPr>
        <p:spPr>
          <a:xfrm>
            <a:off x="758952" y="3881628"/>
            <a:ext cx="3401568"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P2. ¿Cómo diseñar e implementar clasificación, detección de anomalías y pronóstico temporal?</a:t>
            </a:r>
            <a:endParaRPr lang="en-US" sz="1315" dirty="0"/>
          </a:p>
        </p:txBody>
      </p:sp>
      <p:sp>
        <p:nvSpPr>
          <p:cNvPr id="25" name="Shape 23"/>
          <p:cNvSpPr/>
          <p:nvPr/>
        </p:nvSpPr>
        <p:spPr>
          <a:xfrm>
            <a:off x="4242816" y="3840480"/>
            <a:ext cx="0" cy="1664208"/>
          </a:xfrm>
          <a:prstGeom prst="line">
            <a:avLst/>
          </a:prstGeom>
          <a:noFill/>
          <a:ln w="6985">
            <a:solidFill>
              <a:srgbClr val="D6DEE8"/>
            </a:solidFill>
            <a:prstDash val="solid"/>
          </a:ln>
        </p:spPr>
      </p:sp>
      <p:sp>
        <p:nvSpPr>
          <p:cNvPr id="26" name="Text 24"/>
          <p:cNvSpPr/>
          <p:nvPr/>
        </p:nvSpPr>
        <p:spPr>
          <a:xfrm>
            <a:off x="4325112" y="3881628"/>
            <a:ext cx="3401568"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OE2. Diseñar e implementar un sistema inteligente que integre clasificación, anomalías y pronóstico.</a:t>
            </a:r>
            <a:endParaRPr lang="en-US" sz="1315" dirty="0"/>
          </a:p>
        </p:txBody>
      </p:sp>
      <p:sp>
        <p:nvSpPr>
          <p:cNvPr id="27" name="Shape 25"/>
          <p:cNvSpPr/>
          <p:nvPr/>
        </p:nvSpPr>
        <p:spPr>
          <a:xfrm>
            <a:off x="7808976" y="3840480"/>
            <a:ext cx="0" cy="1664208"/>
          </a:xfrm>
          <a:prstGeom prst="line">
            <a:avLst/>
          </a:prstGeom>
          <a:noFill/>
          <a:ln w="6985">
            <a:solidFill>
              <a:srgbClr val="D6DEE8"/>
            </a:solidFill>
            <a:prstDash val="solid"/>
          </a:ln>
        </p:spPr>
      </p:sp>
      <p:sp>
        <p:nvSpPr>
          <p:cNvPr id="28" name="Text 26"/>
          <p:cNvSpPr/>
          <p:nvPr/>
        </p:nvSpPr>
        <p:spPr>
          <a:xfrm>
            <a:off x="7891272" y="3881628"/>
            <a:ext cx="3511296" cy="1581912"/>
          </a:xfrm>
          <a:prstGeom prst="rect">
            <a:avLst/>
          </a:prstGeom>
          <a:noFill/>
          <a:ln/>
        </p:spPr>
        <p:txBody>
          <a:bodyPr wrap="square" lIns="0" tIns="0" rIns="0" bIns="0" rtlCol="0" anchor="ctr">
            <a:normAutofit/>
          </a:bodyPr>
          <a:lstStyle/>
          <a:p>
            <a:pPr algn="l" indent="0" marL="0">
              <a:buNone/>
            </a:pPr>
            <a:r>
              <a:rPr lang="en-US" sz="1315" dirty="0">
                <a:solidFill>
                  <a:srgbClr val="202B3C"/>
                </a:solidFill>
                <a:latin typeface="Aptos" pitchFamily="34" charset="0"/>
                <a:ea typeface="Aptos" pitchFamily="34" charset="-122"/>
                <a:cs typeface="Aptos" pitchFamily="34" charset="-120"/>
              </a:rPr>
              <a:t>HE2. El diseño modular permitirá integrar preparación, clasificación, anomalías y pronóstico temporal.</a:t>
            </a:r>
            <a:endParaRPr lang="en-US" sz="1315" dirty="0"/>
          </a:p>
        </p:txBody>
      </p:sp>
      <p:sp>
        <p:nvSpPr>
          <p:cNvPr id="29" name="Shape 27"/>
          <p:cNvSpPr/>
          <p:nvPr/>
        </p:nvSpPr>
        <p:spPr>
          <a:xfrm>
            <a:off x="676656" y="5504688"/>
            <a:ext cx="10808208" cy="0"/>
          </a:xfrm>
          <a:prstGeom prst="line">
            <a:avLst/>
          </a:prstGeom>
          <a:noFill/>
          <a:ln w="6985">
            <a:solidFill>
              <a:srgbClr val="D6DEE8"/>
            </a:solidFill>
            <a:prstDash val="solid"/>
          </a:ln>
        </p:spPr>
      </p:sp>
      <p:sp>
        <p:nvSpPr>
          <p:cNvPr id="30" name="Shape 28"/>
          <p:cNvSpPr/>
          <p:nvPr/>
        </p:nvSpPr>
        <p:spPr>
          <a:xfrm>
            <a:off x="704088" y="5861304"/>
            <a:ext cx="10780776" cy="411480"/>
          </a:xfrm>
          <a:prstGeom prst="roundRect">
            <a:avLst/>
          </a:prstGeom>
          <a:solidFill>
            <a:srgbClr val="E8F4F3"/>
          </a:solidFill>
          <a:ln w="12700">
            <a:solidFill>
              <a:srgbClr val="FFFFFF">
                <a:alpha val="0"/>
              </a:srgbClr>
            </a:solidFill>
            <a:prstDash val="solid"/>
          </a:ln>
        </p:spPr>
      </p:sp>
      <p:sp>
        <p:nvSpPr>
          <p:cNvPr id="31" name="Shape 29"/>
          <p:cNvSpPr/>
          <p:nvPr/>
        </p:nvSpPr>
        <p:spPr>
          <a:xfrm>
            <a:off x="704088" y="5861304"/>
            <a:ext cx="73152" cy="411480"/>
          </a:xfrm>
          <a:prstGeom prst="rect">
            <a:avLst/>
          </a:prstGeom>
          <a:solidFill>
            <a:srgbClr val="168B91"/>
          </a:solidFill>
          <a:ln w="12700">
            <a:solidFill>
              <a:srgbClr val="FFFFFF">
                <a:alpha val="0"/>
              </a:srgbClr>
            </a:solidFill>
            <a:prstDash val="solid"/>
          </a:ln>
        </p:spPr>
      </p:sp>
      <p:sp>
        <p:nvSpPr>
          <p:cNvPr id="32" name="Text 30"/>
          <p:cNvSpPr/>
          <p:nvPr/>
        </p:nvSpPr>
        <p:spPr>
          <a:xfrm>
            <a:off x="896112" y="5952744"/>
            <a:ext cx="10415016" cy="246888"/>
          </a:xfrm>
          <a:prstGeom prst="rect">
            <a:avLst/>
          </a:prstGeom>
          <a:noFill/>
          <a:ln/>
        </p:spPr>
        <p:txBody>
          <a:bodyPr wrap="square" lIns="0" tIns="0" rIns="0" bIns="0" rtlCol="0" anchor="ctr">
            <a:normAutofit/>
          </a:bodyPr>
          <a:lstStyle/>
          <a:p>
            <a:pPr algn="l" indent="0" marL="0">
              <a:buNone/>
            </a:pPr>
            <a:r>
              <a:rPr lang="en-US" sz="1260" b="1" dirty="0">
                <a:solidFill>
                  <a:srgbClr val="111E37"/>
                </a:solidFill>
                <a:latin typeface="Aptos" pitchFamily="34" charset="0"/>
                <a:ea typeface="Aptos" pitchFamily="34" charset="-122"/>
                <a:cs typeface="Aptos" pitchFamily="34" charset="-120"/>
              </a:rPr>
              <a:t>OE1: análisis de datos y control de calidad. OE2: ciencia del diseño y pruebas funcionales; fichas técnicas y matriz de verificación.</a:t>
            </a:r>
            <a:endParaRPr lang="en-US" sz="12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Tabla VIII — matriz de consistencia · objetivos 3 y 4</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Se explicita la lógica comparativa y la salida de alertas con etiquetas proxy.</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tabla VIII, P3–P4 / OE3–OE4 / HE3–HE4.</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42</a:t>
            </a:r>
            <a:endParaRPr lang="en-US" sz="1040" dirty="0"/>
          </a:p>
        </p:txBody>
      </p:sp>
      <p:sp>
        <p:nvSpPr>
          <p:cNvPr id="9" name="Shape 7"/>
          <p:cNvSpPr/>
          <p:nvPr/>
        </p:nvSpPr>
        <p:spPr>
          <a:xfrm>
            <a:off x="676656" y="1700784"/>
            <a:ext cx="10808208" cy="475488"/>
          </a:xfrm>
          <a:prstGeom prst="rect">
            <a:avLst/>
          </a:prstGeom>
          <a:solidFill>
            <a:srgbClr val="111E37"/>
          </a:solidFill>
          <a:ln w="12700">
            <a:solidFill>
              <a:srgbClr val="FFFFFF">
                <a:alpha val="0"/>
              </a:srgbClr>
            </a:solidFill>
            <a:prstDash val="solid"/>
          </a:ln>
        </p:spPr>
      </p:sp>
      <p:sp>
        <p:nvSpPr>
          <p:cNvPr id="10" name="Text 8"/>
          <p:cNvSpPr/>
          <p:nvPr/>
        </p:nvSpPr>
        <p:spPr>
          <a:xfrm>
            <a:off x="758952" y="1741932"/>
            <a:ext cx="3401568"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PROBLEMA ESPECÍFICO</a:t>
            </a:r>
            <a:endParaRPr lang="en-US" sz="1160" dirty="0"/>
          </a:p>
        </p:txBody>
      </p:sp>
      <p:sp>
        <p:nvSpPr>
          <p:cNvPr id="11" name="Shape 9"/>
          <p:cNvSpPr/>
          <p:nvPr/>
        </p:nvSpPr>
        <p:spPr>
          <a:xfrm>
            <a:off x="4242816" y="1700784"/>
            <a:ext cx="0" cy="475488"/>
          </a:xfrm>
          <a:prstGeom prst="line">
            <a:avLst/>
          </a:prstGeom>
          <a:noFill/>
          <a:ln w="6985">
            <a:solidFill>
              <a:srgbClr val="506078"/>
            </a:solidFill>
            <a:prstDash val="solid"/>
          </a:ln>
        </p:spPr>
      </p:sp>
      <p:sp>
        <p:nvSpPr>
          <p:cNvPr id="12" name="Text 10"/>
          <p:cNvSpPr/>
          <p:nvPr/>
        </p:nvSpPr>
        <p:spPr>
          <a:xfrm>
            <a:off x="4325112" y="1741932"/>
            <a:ext cx="3401568"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OBJETIVO ESPECÍFICO</a:t>
            </a:r>
            <a:endParaRPr lang="en-US" sz="1160" dirty="0"/>
          </a:p>
        </p:txBody>
      </p:sp>
      <p:sp>
        <p:nvSpPr>
          <p:cNvPr id="13" name="Shape 11"/>
          <p:cNvSpPr/>
          <p:nvPr/>
        </p:nvSpPr>
        <p:spPr>
          <a:xfrm>
            <a:off x="7808976" y="1700784"/>
            <a:ext cx="0" cy="475488"/>
          </a:xfrm>
          <a:prstGeom prst="line">
            <a:avLst/>
          </a:prstGeom>
          <a:noFill/>
          <a:ln w="6985">
            <a:solidFill>
              <a:srgbClr val="506078"/>
            </a:solidFill>
            <a:prstDash val="solid"/>
          </a:ln>
        </p:spPr>
      </p:sp>
      <p:sp>
        <p:nvSpPr>
          <p:cNvPr id="14" name="Text 12"/>
          <p:cNvSpPr/>
          <p:nvPr/>
        </p:nvSpPr>
        <p:spPr>
          <a:xfrm>
            <a:off x="7891272" y="1741932"/>
            <a:ext cx="3511296" cy="393192"/>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Aptos" pitchFamily="34" charset="0"/>
                <a:ea typeface="Aptos" pitchFamily="34" charset="-122"/>
                <a:cs typeface="Aptos" pitchFamily="34" charset="-120"/>
              </a:rPr>
              <a:t>HIPÓTESIS ESPECÍFICA</a:t>
            </a:r>
            <a:endParaRPr lang="en-US" sz="1160" dirty="0"/>
          </a:p>
        </p:txBody>
      </p:sp>
      <p:sp>
        <p:nvSpPr>
          <p:cNvPr id="15" name="Shape 13"/>
          <p:cNvSpPr/>
          <p:nvPr/>
        </p:nvSpPr>
        <p:spPr>
          <a:xfrm>
            <a:off x="676656" y="2176272"/>
            <a:ext cx="10808208" cy="0"/>
          </a:xfrm>
          <a:prstGeom prst="line">
            <a:avLst/>
          </a:prstGeom>
          <a:noFill/>
          <a:ln w="6985">
            <a:solidFill>
              <a:srgbClr val="D6DEE8"/>
            </a:solidFill>
            <a:prstDash val="solid"/>
          </a:ln>
        </p:spPr>
      </p:sp>
      <p:sp>
        <p:nvSpPr>
          <p:cNvPr id="16" name="Shape 14"/>
          <p:cNvSpPr/>
          <p:nvPr/>
        </p:nvSpPr>
        <p:spPr>
          <a:xfrm>
            <a:off x="676656" y="2176272"/>
            <a:ext cx="10808208" cy="1664208"/>
          </a:xfrm>
          <a:prstGeom prst="rect">
            <a:avLst/>
          </a:prstGeom>
          <a:solidFill>
            <a:srgbClr val="FFFFFF"/>
          </a:solidFill>
          <a:ln w="12700">
            <a:solidFill>
              <a:srgbClr val="FFFFFF">
                <a:alpha val="0"/>
              </a:srgbClr>
            </a:solidFill>
            <a:prstDash val="solid"/>
          </a:ln>
        </p:spPr>
      </p:sp>
      <p:sp>
        <p:nvSpPr>
          <p:cNvPr id="17" name="Text 15"/>
          <p:cNvSpPr/>
          <p:nvPr/>
        </p:nvSpPr>
        <p:spPr>
          <a:xfrm>
            <a:off x="758952" y="2217420"/>
            <a:ext cx="3401568"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P3. ¿Qué desempeño diagnóstico y predictivo alcanza el sistema frente a métodos convencionales y modelos de referencia?</a:t>
            </a:r>
            <a:endParaRPr lang="en-US" sz="1300" dirty="0"/>
          </a:p>
        </p:txBody>
      </p:sp>
      <p:sp>
        <p:nvSpPr>
          <p:cNvPr id="18" name="Shape 16"/>
          <p:cNvSpPr/>
          <p:nvPr/>
        </p:nvSpPr>
        <p:spPr>
          <a:xfrm>
            <a:off x="4242816" y="2176272"/>
            <a:ext cx="0" cy="1664208"/>
          </a:xfrm>
          <a:prstGeom prst="line">
            <a:avLst/>
          </a:prstGeom>
          <a:noFill/>
          <a:ln w="6985">
            <a:solidFill>
              <a:srgbClr val="D6DEE8"/>
            </a:solidFill>
            <a:prstDash val="solid"/>
          </a:ln>
        </p:spPr>
      </p:sp>
      <p:sp>
        <p:nvSpPr>
          <p:cNvPr id="19" name="Text 17"/>
          <p:cNvSpPr/>
          <p:nvPr/>
        </p:nvSpPr>
        <p:spPr>
          <a:xfrm>
            <a:off x="4325112" y="2217420"/>
            <a:ext cx="3401568"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OE3. Comparar desempeño diagnóstico y predictivo con métodos convencionales y modelos de referencia.</a:t>
            </a:r>
            <a:endParaRPr lang="en-US" sz="1300" dirty="0"/>
          </a:p>
        </p:txBody>
      </p:sp>
      <p:sp>
        <p:nvSpPr>
          <p:cNvPr id="20" name="Shape 18"/>
          <p:cNvSpPr/>
          <p:nvPr/>
        </p:nvSpPr>
        <p:spPr>
          <a:xfrm>
            <a:off x="7808976" y="2176272"/>
            <a:ext cx="0" cy="1664208"/>
          </a:xfrm>
          <a:prstGeom prst="line">
            <a:avLst/>
          </a:prstGeom>
          <a:noFill/>
          <a:ln w="6985">
            <a:solidFill>
              <a:srgbClr val="D6DEE8"/>
            </a:solidFill>
            <a:prstDash val="solid"/>
          </a:ln>
        </p:spPr>
      </p:sp>
      <p:sp>
        <p:nvSpPr>
          <p:cNvPr id="21" name="Text 19"/>
          <p:cNvSpPr/>
          <p:nvPr/>
        </p:nvSpPr>
        <p:spPr>
          <a:xfrm>
            <a:off x="7891272" y="2217420"/>
            <a:ext cx="3511296"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HE3. Mayor F1-macro que persistencia, menor MAE y RMSE en al menos un indicador y AUC multiclase reportado.</a:t>
            </a:r>
            <a:endParaRPr lang="en-US" sz="1300" dirty="0"/>
          </a:p>
        </p:txBody>
      </p:sp>
      <p:sp>
        <p:nvSpPr>
          <p:cNvPr id="22" name="Shape 20"/>
          <p:cNvSpPr/>
          <p:nvPr/>
        </p:nvSpPr>
        <p:spPr>
          <a:xfrm>
            <a:off x="676656" y="3840480"/>
            <a:ext cx="10808208" cy="0"/>
          </a:xfrm>
          <a:prstGeom prst="line">
            <a:avLst/>
          </a:prstGeom>
          <a:noFill/>
          <a:ln w="6985">
            <a:solidFill>
              <a:srgbClr val="D6DEE8"/>
            </a:solidFill>
            <a:prstDash val="solid"/>
          </a:ln>
        </p:spPr>
      </p:sp>
      <p:sp>
        <p:nvSpPr>
          <p:cNvPr id="23" name="Shape 21"/>
          <p:cNvSpPr/>
          <p:nvPr/>
        </p:nvSpPr>
        <p:spPr>
          <a:xfrm>
            <a:off x="676656" y="3840480"/>
            <a:ext cx="10808208" cy="1664208"/>
          </a:xfrm>
          <a:prstGeom prst="rect">
            <a:avLst/>
          </a:prstGeom>
          <a:solidFill>
            <a:srgbClr val="EDF2F8"/>
          </a:solidFill>
          <a:ln w="12700">
            <a:solidFill>
              <a:srgbClr val="FFFFFF">
                <a:alpha val="0"/>
              </a:srgbClr>
            </a:solidFill>
            <a:prstDash val="solid"/>
          </a:ln>
        </p:spPr>
      </p:sp>
      <p:sp>
        <p:nvSpPr>
          <p:cNvPr id="24" name="Text 22"/>
          <p:cNvSpPr/>
          <p:nvPr/>
        </p:nvSpPr>
        <p:spPr>
          <a:xfrm>
            <a:off x="758952" y="3881628"/>
            <a:ext cx="3401568"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P4. ¿Con qué capacidad anticipa degradaciones y qué indicadores influyen más en los resultados?</a:t>
            </a:r>
            <a:endParaRPr lang="en-US" sz="1300" dirty="0"/>
          </a:p>
        </p:txBody>
      </p:sp>
      <p:sp>
        <p:nvSpPr>
          <p:cNvPr id="25" name="Shape 23"/>
          <p:cNvSpPr/>
          <p:nvPr/>
        </p:nvSpPr>
        <p:spPr>
          <a:xfrm>
            <a:off x="4242816" y="3840480"/>
            <a:ext cx="0" cy="1664208"/>
          </a:xfrm>
          <a:prstGeom prst="line">
            <a:avLst/>
          </a:prstGeom>
          <a:noFill/>
          <a:ln w="6985">
            <a:solidFill>
              <a:srgbClr val="D6DEE8"/>
            </a:solidFill>
            <a:prstDash val="solid"/>
          </a:ln>
        </p:spPr>
      </p:sp>
      <p:sp>
        <p:nvSpPr>
          <p:cNvPr id="26" name="Text 24"/>
          <p:cNvSpPr/>
          <p:nvPr/>
        </p:nvSpPr>
        <p:spPr>
          <a:xfrm>
            <a:off x="4325112" y="3881628"/>
            <a:ext cx="3401568"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OE4. Determinar capacidad de anticipación e identificar indicadores más influyentes.</a:t>
            </a:r>
            <a:endParaRPr lang="en-US" sz="1300" dirty="0"/>
          </a:p>
        </p:txBody>
      </p:sp>
      <p:sp>
        <p:nvSpPr>
          <p:cNvPr id="27" name="Shape 25"/>
          <p:cNvSpPr/>
          <p:nvPr/>
        </p:nvSpPr>
        <p:spPr>
          <a:xfrm>
            <a:off x="7808976" y="3840480"/>
            <a:ext cx="0" cy="1664208"/>
          </a:xfrm>
          <a:prstGeom prst="line">
            <a:avLst/>
          </a:prstGeom>
          <a:noFill/>
          <a:ln w="6985">
            <a:solidFill>
              <a:srgbClr val="D6DEE8"/>
            </a:solidFill>
            <a:prstDash val="solid"/>
          </a:ln>
        </p:spPr>
      </p:sp>
      <p:sp>
        <p:nvSpPr>
          <p:cNvPr id="28" name="Text 26"/>
          <p:cNvSpPr/>
          <p:nvPr/>
        </p:nvSpPr>
        <p:spPr>
          <a:xfrm>
            <a:off x="7891272" y="3881628"/>
            <a:ext cx="3511296" cy="1581912"/>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HE4. Mayor proporción de condiciones futuras no normales anticipadas que persistencia a 15 min y características influyentes identificadas.</a:t>
            </a:r>
            <a:endParaRPr lang="en-US" sz="1300" dirty="0"/>
          </a:p>
        </p:txBody>
      </p:sp>
      <p:sp>
        <p:nvSpPr>
          <p:cNvPr id="29" name="Shape 27"/>
          <p:cNvSpPr/>
          <p:nvPr/>
        </p:nvSpPr>
        <p:spPr>
          <a:xfrm>
            <a:off x="676656" y="5504688"/>
            <a:ext cx="10808208" cy="0"/>
          </a:xfrm>
          <a:prstGeom prst="line">
            <a:avLst/>
          </a:prstGeom>
          <a:noFill/>
          <a:ln w="6985">
            <a:solidFill>
              <a:srgbClr val="D6DEE8"/>
            </a:solidFill>
            <a:prstDash val="solid"/>
          </a:ln>
        </p:spPr>
      </p:sp>
      <p:sp>
        <p:nvSpPr>
          <p:cNvPr id="30" name="Shape 28"/>
          <p:cNvSpPr/>
          <p:nvPr/>
        </p:nvSpPr>
        <p:spPr>
          <a:xfrm>
            <a:off x="704088" y="5861304"/>
            <a:ext cx="10780776" cy="411480"/>
          </a:xfrm>
          <a:prstGeom prst="roundRect">
            <a:avLst/>
          </a:prstGeom>
          <a:solidFill>
            <a:srgbClr val="E8F4F3"/>
          </a:solidFill>
          <a:ln w="12700">
            <a:solidFill>
              <a:srgbClr val="FFFFFF">
                <a:alpha val="0"/>
              </a:srgbClr>
            </a:solidFill>
            <a:prstDash val="solid"/>
          </a:ln>
        </p:spPr>
      </p:sp>
      <p:sp>
        <p:nvSpPr>
          <p:cNvPr id="31" name="Shape 29"/>
          <p:cNvSpPr/>
          <p:nvPr/>
        </p:nvSpPr>
        <p:spPr>
          <a:xfrm>
            <a:off x="704088" y="5861304"/>
            <a:ext cx="73152" cy="411480"/>
          </a:xfrm>
          <a:prstGeom prst="rect">
            <a:avLst/>
          </a:prstGeom>
          <a:solidFill>
            <a:srgbClr val="168B91"/>
          </a:solidFill>
          <a:ln w="12700">
            <a:solidFill>
              <a:srgbClr val="FFFFFF">
                <a:alpha val="0"/>
              </a:srgbClr>
            </a:solidFill>
            <a:prstDash val="solid"/>
          </a:ln>
        </p:spPr>
      </p:sp>
      <p:sp>
        <p:nvSpPr>
          <p:cNvPr id="32" name="Text 30"/>
          <p:cNvSpPr/>
          <p:nvPr/>
        </p:nvSpPr>
        <p:spPr>
          <a:xfrm>
            <a:off x="896112" y="5952744"/>
            <a:ext cx="10415016" cy="246888"/>
          </a:xfrm>
          <a:prstGeom prst="rect">
            <a:avLst/>
          </a:prstGeom>
          <a:noFill/>
          <a:ln/>
        </p:spPr>
        <p:txBody>
          <a:bodyPr wrap="square" lIns="0" tIns="0" rIns="0" bIns="0" rtlCol="0" anchor="ctr">
            <a:normAutofit/>
          </a:bodyPr>
          <a:lstStyle/>
          <a:p>
            <a:pPr algn="l" indent="0" marL="0">
              <a:buNone/>
            </a:pPr>
            <a:r>
              <a:rPr lang="en-US" sz="1250" b="1" dirty="0">
                <a:solidFill>
                  <a:srgbClr val="111E37"/>
                </a:solidFill>
                <a:latin typeface="Aptos" pitchFamily="34" charset="0"/>
                <a:ea typeface="Aptos" pitchFamily="34" charset="-122"/>
                <a:cs typeface="Aptos" pitchFamily="34" charset="-120"/>
              </a:rPr>
              <a:t>OE3: evaluación temporal comparativa. OE4: análisis de alertas y explicabilidad. Indicadores: F1/AUC/MAE/RMSE, recall y falsas alertas.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1E37"/>
          </a:solidFill>
          <a:ln w="12700">
            <a:solidFill>
              <a:srgbClr val="FFFFFF">
                <a:alpha val="0"/>
              </a:srgbClr>
            </a:solidFill>
            <a:prstDash val="solid"/>
          </a:ln>
        </p:spPr>
      </p:sp>
      <p:sp>
        <p:nvSpPr>
          <p:cNvPr id="3" name="Text 1"/>
          <p:cNvSpPr/>
          <p:nvPr/>
        </p:nvSpPr>
        <p:spPr>
          <a:xfrm>
            <a:off x="576072" y="301752"/>
            <a:ext cx="10332720" cy="228600"/>
          </a:xfrm>
          <a:prstGeom prst="rect">
            <a:avLst/>
          </a:prstGeom>
          <a:noFill/>
          <a:ln/>
        </p:spPr>
        <p:txBody>
          <a:bodyPr wrap="square" lIns="0" tIns="0" rIns="0" bIns="0" rtlCol="0" anchor="ctr">
            <a:normAutofit/>
          </a:bodyPr>
          <a:lstStyle/>
          <a:p>
            <a:pPr algn="l" indent="0" marL="0">
              <a:buNone/>
            </a:pPr>
            <a:r>
              <a:rPr lang="en-US" sz="1030" b="1" spc="170" kern="0" dirty="0">
                <a:solidFill>
                  <a:srgbClr val="168B91"/>
                </a:solidFill>
                <a:latin typeface="Aptos" pitchFamily="34" charset="0"/>
                <a:ea typeface="Aptos" pitchFamily="34" charset="-122"/>
                <a:cs typeface="Aptos" pitchFamily="34" charset="-120"/>
              </a:rPr>
              <a:t>APÉNDICE</a:t>
            </a:r>
            <a:endParaRPr lang="en-US" sz="1030" dirty="0"/>
          </a:p>
        </p:txBody>
      </p:sp>
      <p:sp>
        <p:nvSpPr>
          <p:cNvPr id="4" name="Text 2"/>
          <p:cNvSpPr/>
          <p:nvPr/>
        </p:nvSpPr>
        <p:spPr>
          <a:xfrm>
            <a:off x="576072" y="621792"/>
            <a:ext cx="11018520" cy="438912"/>
          </a:xfrm>
          <a:prstGeom prst="rect">
            <a:avLst/>
          </a:prstGeom>
          <a:noFill/>
          <a:ln/>
        </p:spPr>
        <p:txBody>
          <a:bodyPr wrap="square" lIns="0" tIns="0" rIns="0" bIns="0" rtlCol="0" anchor="ctr">
            <a:normAutofit/>
          </a:bodyPr>
          <a:lstStyle/>
          <a:p>
            <a:pPr algn="l" indent="0" marL="0">
              <a:buNone/>
            </a:pPr>
            <a:r>
              <a:rPr lang="en-US" sz="2520" b="1" dirty="0">
                <a:solidFill>
                  <a:srgbClr val="111E37"/>
                </a:solidFill>
                <a:latin typeface="Aptos Display" pitchFamily="34" charset="0"/>
                <a:ea typeface="Aptos Display" pitchFamily="34" charset="-122"/>
                <a:cs typeface="Aptos Display" pitchFamily="34" charset="-120"/>
              </a:rPr>
              <a:t>Preguntas previsibles del jurado y respuestas metodológicas</a:t>
            </a:r>
            <a:endParaRPr lang="en-US" sz="2520" dirty="0"/>
          </a:p>
        </p:txBody>
      </p:sp>
      <p:sp>
        <p:nvSpPr>
          <p:cNvPr id="5" name="Text 3"/>
          <p:cNvSpPr/>
          <p:nvPr/>
        </p:nvSpPr>
        <p:spPr>
          <a:xfrm>
            <a:off x="594360" y="1106424"/>
            <a:ext cx="10972800" cy="256032"/>
          </a:xfrm>
          <a:prstGeom prst="rect">
            <a:avLst/>
          </a:prstGeom>
          <a:noFill/>
          <a:ln/>
        </p:spPr>
        <p:txBody>
          <a:bodyPr wrap="square" lIns="0" tIns="0" rIns="0" bIns="0" rtlCol="0" anchor="ctr">
            <a:normAutofit/>
          </a:bodyPr>
          <a:lstStyle/>
          <a:p>
            <a:pPr algn="l" indent="0" marL="0">
              <a:buNone/>
            </a:pPr>
            <a:r>
              <a:rPr lang="en-US" sz="1190" dirty="0">
                <a:solidFill>
                  <a:srgbClr val="64748B"/>
                </a:solidFill>
                <a:latin typeface="Aptos" pitchFamily="34" charset="0"/>
                <a:ea typeface="Aptos" pitchFamily="34" charset="-122"/>
                <a:cs typeface="Aptos" pitchFamily="34" charset="-120"/>
              </a:rPr>
              <a:t>Respuestas fieles a las limitaciones reconocidas y a los instrumentos efectivamente empleados.</a:t>
            </a:r>
            <a:endParaRPr lang="en-US" sz="1190" dirty="0"/>
          </a:p>
        </p:txBody>
      </p:sp>
      <p:sp>
        <p:nvSpPr>
          <p:cNvPr id="6" name="Shape 4"/>
          <p:cNvSpPr/>
          <p:nvPr/>
        </p:nvSpPr>
        <p:spPr>
          <a:xfrm>
            <a:off x="576072" y="6483096"/>
            <a:ext cx="11027664" cy="0"/>
          </a:xfrm>
          <a:prstGeom prst="line">
            <a:avLst/>
          </a:prstGeom>
          <a:noFill/>
          <a:ln w="10795">
            <a:solidFill>
              <a:srgbClr val="DBE3ED"/>
            </a:solidFill>
            <a:prstDash val="solid"/>
          </a:ln>
        </p:spPr>
      </p:sp>
      <p:sp>
        <p:nvSpPr>
          <p:cNvPr id="7" name="Text 5"/>
          <p:cNvSpPr/>
          <p:nvPr/>
        </p:nvSpPr>
        <p:spPr>
          <a:xfrm>
            <a:off x="594360" y="6537960"/>
            <a:ext cx="10442448" cy="155448"/>
          </a:xfrm>
          <a:prstGeom prst="rect">
            <a:avLst/>
          </a:prstGeom>
          <a:noFill/>
          <a:ln/>
        </p:spPr>
        <p:txBody>
          <a:bodyPr wrap="square" lIns="0" tIns="0" rIns="0" bIns="0" rtlCol="0" anchor="ctr">
            <a:normAutofit/>
          </a:bodyPr>
          <a:lstStyle/>
          <a:p>
            <a:pPr algn="l" indent="0" marL="0">
              <a:buNone/>
            </a:pPr>
            <a:r>
              <a:rPr lang="en-US" sz="860" dirty="0">
                <a:solidFill>
                  <a:srgbClr val="64748B"/>
                </a:solidFill>
                <a:latin typeface="Aptos" pitchFamily="34" charset="0"/>
                <a:ea typeface="Aptos" pitchFamily="34" charset="-122"/>
                <a:cs typeface="Aptos" pitchFamily="34" charset="-120"/>
              </a:rPr>
              <a:t>Fuente: Tesis de Tamay Nuñez (2026).</a:t>
            </a:r>
            <a:endParaRPr lang="en-US" sz="860" dirty="0"/>
          </a:p>
        </p:txBody>
      </p:sp>
      <p:sp>
        <p:nvSpPr>
          <p:cNvPr id="8" name="Text 6"/>
          <p:cNvSpPr/>
          <p:nvPr/>
        </p:nvSpPr>
        <p:spPr>
          <a:xfrm>
            <a:off x="11237976" y="6501384"/>
            <a:ext cx="320040" cy="210312"/>
          </a:xfrm>
          <a:prstGeom prst="rect">
            <a:avLst/>
          </a:prstGeom>
          <a:noFill/>
          <a:ln/>
        </p:spPr>
        <p:txBody>
          <a:bodyPr wrap="square" lIns="0" tIns="0" rIns="0" bIns="0" rtlCol="0" anchor="ctr">
            <a:normAutofit/>
          </a:bodyPr>
          <a:lstStyle/>
          <a:p>
            <a:pPr algn="r" indent="0" marL="0">
              <a:buNone/>
            </a:pPr>
            <a:r>
              <a:rPr lang="en-US" sz="1040" b="1" dirty="0">
                <a:solidFill>
                  <a:srgbClr val="168B91"/>
                </a:solidFill>
                <a:latin typeface="Aptos" pitchFamily="34" charset="0"/>
                <a:ea typeface="Aptos" pitchFamily="34" charset="-122"/>
                <a:cs typeface="Aptos" pitchFamily="34" charset="-120"/>
              </a:rPr>
              <a:t>43</a:t>
            </a:r>
            <a:endParaRPr lang="en-US" sz="1040" dirty="0"/>
          </a:p>
        </p:txBody>
      </p:sp>
      <p:sp>
        <p:nvSpPr>
          <p:cNvPr id="9" name="Shape 7"/>
          <p:cNvSpPr/>
          <p:nvPr/>
        </p:nvSpPr>
        <p:spPr>
          <a:xfrm>
            <a:off x="704088" y="1618488"/>
            <a:ext cx="10780776" cy="512064"/>
          </a:xfrm>
          <a:prstGeom prst="rect">
            <a:avLst/>
          </a:prstGeom>
          <a:solidFill>
            <a:srgbClr val="111E37"/>
          </a:solidFill>
          <a:ln w="12700">
            <a:solidFill>
              <a:srgbClr val="FFFFFF">
                <a:alpha val="0"/>
              </a:srgbClr>
            </a:solidFill>
            <a:prstDash val="solid"/>
          </a:ln>
        </p:spPr>
      </p:sp>
      <p:sp>
        <p:nvSpPr>
          <p:cNvPr id="10" name="Text 8"/>
          <p:cNvSpPr/>
          <p:nvPr/>
        </p:nvSpPr>
        <p:spPr>
          <a:xfrm>
            <a:off x="786384" y="1659636"/>
            <a:ext cx="3566160" cy="429768"/>
          </a:xfrm>
          <a:prstGeom prst="rect">
            <a:avLst/>
          </a:prstGeom>
          <a:noFill/>
          <a:ln/>
        </p:spPr>
        <p:txBody>
          <a:bodyPr wrap="square" lIns="0" tIns="0" rIns="0" bIns="0" rtlCol="0" anchor="ctr">
            <a:normAutofit/>
          </a:bodyPr>
          <a:lstStyle/>
          <a:p>
            <a:pPr algn="l" indent="0" marL="0">
              <a:buNone/>
            </a:pPr>
            <a:r>
              <a:rPr lang="en-US" sz="1190" b="1" dirty="0">
                <a:solidFill>
                  <a:srgbClr val="FFFFFF"/>
                </a:solidFill>
                <a:latin typeface="Aptos" pitchFamily="34" charset="0"/>
                <a:ea typeface="Aptos" pitchFamily="34" charset="-122"/>
                <a:cs typeface="Aptos" pitchFamily="34" charset="-120"/>
              </a:rPr>
              <a:t>PREGUNTA</a:t>
            </a:r>
            <a:endParaRPr lang="en-US" sz="1190" dirty="0"/>
          </a:p>
        </p:txBody>
      </p:sp>
      <p:sp>
        <p:nvSpPr>
          <p:cNvPr id="11" name="Shape 9"/>
          <p:cNvSpPr/>
          <p:nvPr/>
        </p:nvSpPr>
        <p:spPr>
          <a:xfrm>
            <a:off x="4434840" y="1618488"/>
            <a:ext cx="0" cy="512064"/>
          </a:xfrm>
          <a:prstGeom prst="line">
            <a:avLst/>
          </a:prstGeom>
          <a:noFill/>
          <a:ln w="6985">
            <a:solidFill>
              <a:srgbClr val="506078"/>
            </a:solidFill>
            <a:prstDash val="solid"/>
          </a:ln>
        </p:spPr>
      </p:sp>
      <p:sp>
        <p:nvSpPr>
          <p:cNvPr id="12" name="Text 10"/>
          <p:cNvSpPr/>
          <p:nvPr/>
        </p:nvSpPr>
        <p:spPr>
          <a:xfrm>
            <a:off x="4517136" y="1659636"/>
            <a:ext cx="6885432" cy="429768"/>
          </a:xfrm>
          <a:prstGeom prst="rect">
            <a:avLst/>
          </a:prstGeom>
          <a:noFill/>
          <a:ln/>
        </p:spPr>
        <p:txBody>
          <a:bodyPr wrap="square" lIns="0" tIns="0" rIns="0" bIns="0" rtlCol="0" anchor="ctr">
            <a:normAutofit/>
          </a:bodyPr>
          <a:lstStyle/>
          <a:p>
            <a:pPr algn="l" indent="0" marL="0">
              <a:buNone/>
            </a:pPr>
            <a:r>
              <a:rPr lang="en-US" sz="1190" b="1" dirty="0">
                <a:solidFill>
                  <a:srgbClr val="FFFFFF"/>
                </a:solidFill>
                <a:latin typeface="Aptos" pitchFamily="34" charset="0"/>
                <a:ea typeface="Aptos" pitchFamily="34" charset="-122"/>
                <a:cs typeface="Aptos" pitchFamily="34" charset="-120"/>
              </a:rPr>
              <a:t>RESPUESTA</a:t>
            </a:r>
            <a:endParaRPr lang="en-US" sz="1190" dirty="0"/>
          </a:p>
        </p:txBody>
      </p:sp>
      <p:sp>
        <p:nvSpPr>
          <p:cNvPr id="13" name="Shape 11"/>
          <p:cNvSpPr/>
          <p:nvPr/>
        </p:nvSpPr>
        <p:spPr>
          <a:xfrm>
            <a:off x="704088" y="2130552"/>
            <a:ext cx="10780776" cy="0"/>
          </a:xfrm>
          <a:prstGeom prst="line">
            <a:avLst/>
          </a:prstGeom>
          <a:noFill/>
          <a:ln w="6985">
            <a:solidFill>
              <a:srgbClr val="D6DEE8"/>
            </a:solidFill>
            <a:prstDash val="solid"/>
          </a:ln>
        </p:spPr>
      </p:sp>
      <p:sp>
        <p:nvSpPr>
          <p:cNvPr id="14" name="Shape 12"/>
          <p:cNvSpPr/>
          <p:nvPr/>
        </p:nvSpPr>
        <p:spPr>
          <a:xfrm>
            <a:off x="704088" y="2130552"/>
            <a:ext cx="10780776" cy="832104"/>
          </a:xfrm>
          <a:prstGeom prst="rect">
            <a:avLst/>
          </a:prstGeom>
          <a:solidFill>
            <a:srgbClr val="FFFFFF"/>
          </a:solidFill>
          <a:ln w="12700">
            <a:solidFill>
              <a:srgbClr val="FFFFFF">
                <a:alpha val="0"/>
              </a:srgbClr>
            </a:solidFill>
            <a:prstDash val="solid"/>
          </a:ln>
        </p:spPr>
      </p:sp>
      <p:sp>
        <p:nvSpPr>
          <p:cNvPr id="15" name="Text 13"/>
          <p:cNvSpPr/>
          <p:nvPr/>
        </p:nvSpPr>
        <p:spPr>
          <a:xfrm>
            <a:off x="786384" y="2171700"/>
            <a:ext cx="3566160"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¿Por qué no alfa de Cronbach?</a:t>
            </a:r>
            <a:endParaRPr lang="en-US" sz="1300" dirty="0"/>
          </a:p>
        </p:txBody>
      </p:sp>
      <p:sp>
        <p:nvSpPr>
          <p:cNvPr id="16" name="Shape 14"/>
          <p:cNvSpPr/>
          <p:nvPr/>
        </p:nvSpPr>
        <p:spPr>
          <a:xfrm>
            <a:off x="4434840" y="2130552"/>
            <a:ext cx="0" cy="832104"/>
          </a:xfrm>
          <a:prstGeom prst="line">
            <a:avLst/>
          </a:prstGeom>
          <a:noFill/>
          <a:ln w="6985">
            <a:solidFill>
              <a:srgbClr val="D6DEE8"/>
            </a:solidFill>
            <a:prstDash val="solid"/>
          </a:ln>
        </p:spPr>
      </p:sp>
      <p:sp>
        <p:nvSpPr>
          <p:cNvPr id="17" name="Text 15"/>
          <p:cNvSpPr/>
          <p:nvPr/>
        </p:nvSpPr>
        <p:spPr>
          <a:xfrm>
            <a:off x="4517136" y="2171700"/>
            <a:ext cx="6885432"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No son cuestionarios psicométricos: son fichas técnicas con campos y reglas verificables.</a:t>
            </a:r>
            <a:endParaRPr lang="en-US" sz="1300" dirty="0"/>
          </a:p>
        </p:txBody>
      </p:sp>
      <p:sp>
        <p:nvSpPr>
          <p:cNvPr id="18" name="Shape 16"/>
          <p:cNvSpPr/>
          <p:nvPr/>
        </p:nvSpPr>
        <p:spPr>
          <a:xfrm>
            <a:off x="704088" y="2962656"/>
            <a:ext cx="10780776" cy="0"/>
          </a:xfrm>
          <a:prstGeom prst="line">
            <a:avLst/>
          </a:prstGeom>
          <a:noFill/>
          <a:ln w="6985">
            <a:solidFill>
              <a:srgbClr val="D6DEE8"/>
            </a:solidFill>
            <a:prstDash val="solid"/>
          </a:ln>
        </p:spPr>
      </p:sp>
      <p:sp>
        <p:nvSpPr>
          <p:cNvPr id="19" name="Shape 17"/>
          <p:cNvSpPr/>
          <p:nvPr/>
        </p:nvSpPr>
        <p:spPr>
          <a:xfrm>
            <a:off x="704088" y="2962656"/>
            <a:ext cx="10780776" cy="832104"/>
          </a:xfrm>
          <a:prstGeom prst="rect">
            <a:avLst/>
          </a:prstGeom>
          <a:solidFill>
            <a:srgbClr val="EDF2F8"/>
          </a:solidFill>
          <a:ln w="12700">
            <a:solidFill>
              <a:srgbClr val="FFFFFF">
                <a:alpha val="0"/>
              </a:srgbClr>
            </a:solidFill>
            <a:prstDash val="solid"/>
          </a:ln>
        </p:spPr>
      </p:sp>
      <p:sp>
        <p:nvSpPr>
          <p:cNvPr id="20" name="Text 18"/>
          <p:cNvSpPr/>
          <p:nvPr/>
        </p:nvSpPr>
        <p:spPr>
          <a:xfrm>
            <a:off x="786384" y="3003804"/>
            <a:ext cx="3566160"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¿Cuál es la validez?</a:t>
            </a:r>
            <a:endParaRPr lang="en-US" sz="1300" dirty="0"/>
          </a:p>
        </p:txBody>
      </p:sp>
      <p:sp>
        <p:nvSpPr>
          <p:cNvPr id="21" name="Shape 19"/>
          <p:cNvSpPr/>
          <p:nvPr/>
        </p:nvSpPr>
        <p:spPr>
          <a:xfrm>
            <a:off x="4434840" y="2962656"/>
            <a:ext cx="0" cy="832104"/>
          </a:xfrm>
          <a:prstGeom prst="line">
            <a:avLst/>
          </a:prstGeom>
          <a:noFill/>
          <a:ln w="6985">
            <a:solidFill>
              <a:srgbClr val="D6DEE8"/>
            </a:solidFill>
            <a:prstDash val="solid"/>
          </a:ln>
        </p:spPr>
      </p:sp>
      <p:sp>
        <p:nvSpPr>
          <p:cNvPr id="22" name="Text 20"/>
          <p:cNvSpPr/>
          <p:nvPr/>
        </p:nvSpPr>
        <p:spPr>
          <a:xfrm>
            <a:off x="4517136" y="3003804"/>
            <a:ext cx="6885432"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Correspondencia con operacionalización y controles técnicos; no afirmar jueces externos no documentados.</a:t>
            </a:r>
            <a:endParaRPr lang="en-US" sz="1300" dirty="0"/>
          </a:p>
        </p:txBody>
      </p:sp>
      <p:sp>
        <p:nvSpPr>
          <p:cNvPr id="23" name="Shape 21"/>
          <p:cNvSpPr/>
          <p:nvPr/>
        </p:nvSpPr>
        <p:spPr>
          <a:xfrm>
            <a:off x="704088" y="3794760"/>
            <a:ext cx="10780776" cy="0"/>
          </a:xfrm>
          <a:prstGeom prst="line">
            <a:avLst/>
          </a:prstGeom>
          <a:noFill/>
          <a:ln w="6985">
            <a:solidFill>
              <a:srgbClr val="D6DEE8"/>
            </a:solidFill>
            <a:prstDash val="solid"/>
          </a:ln>
        </p:spPr>
      </p:sp>
      <p:sp>
        <p:nvSpPr>
          <p:cNvPr id="24" name="Shape 22"/>
          <p:cNvSpPr/>
          <p:nvPr/>
        </p:nvSpPr>
        <p:spPr>
          <a:xfrm>
            <a:off x="704088" y="3794760"/>
            <a:ext cx="10780776" cy="832104"/>
          </a:xfrm>
          <a:prstGeom prst="rect">
            <a:avLst/>
          </a:prstGeom>
          <a:solidFill>
            <a:srgbClr val="FFFFFF"/>
          </a:solidFill>
          <a:ln w="12700">
            <a:solidFill>
              <a:srgbClr val="FFFFFF">
                <a:alpha val="0"/>
              </a:srgbClr>
            </a:solidFill>
            <a:prstDash val="solid"/>
          </a:ln>
        </p:spPr>
      </p:sp>
      <p:sp>
        <p:nvSpPr>
          <p:cNvPr id="25" name="Text 23"/>
          <p:cNvSpPr/>
          <p:nvPr/>
        </p:nvSpPr>
        <p:spPr>
          <a:xfrm>
            <a:off x="786384" y="3835908"/>
            <a:ext cx="3566160"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¿Son fallas reales los estados?</a:t>
            </a:r>
            <a:endParaRPr lang="en-US" sz="1300" dirty="0"/>
          </a:p>
        </p:txBody>
      </p:sp>
      <p:sp>
        <p:nvSpPr>
          <p:cNvPr id="26" name="Shape 24"/>
          <p:cNvSpPr/>
          <p:nvPr/>
        </p:nvSpPr>
        <p:spPr>
          <a:xfrm>
            <a:off x="4434840" y="3794760"/>
            <a:ext cx="0" cy="832104"/>
          </a:xfrm>
          <a:prstGeom prst="line">
            <a:avLst/>
          </a:prstGeom>
          <a:noFill/>
          <a:ln w="6985">
            <a:solidFill>
              <a:srgbClr val="D6DEE8"/>
            </a:solidFill>
            <a:prstDash val="solid"/>
          </a:ln>
        </p:spPr>
      </p:sp>
      <p:sp>
        <p:nvSpPr>
          <p:cNvPr id="27" name="Text 25"/>
          <p:cNvSpPr/>
          <p:nvPr/>
        </p:nvSpPr>
        <p:spPr>
          <a:xfrm>
            <a:off x="4517136" y="3835908"/>
            <a:ext cx="6885432"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No. Son etiquetas proxy; se requiere bitácora confirmatoria para validación externa.</a:t>
            </a:r>
            <a:endParaRPr lang="en-US" sz="1300" dirty="0"/>
          </a:p>
        </p:txBody>
      </p:sp>
      <p:sp>
        <p:nvSpPr>
          <p:cNvPr id="28" name="Shape 26"/>
          <p:cNvSpPr/>
          <p:nvPr/>
        </p:nvSpPr>
        <p:spPr>
          <a:xfrm>
            <a:off x="704088" y="4626864"/>
            <a:ext cx="10780776" cy="0"/>
          </a:xfrm>
          <a:prstGeom prst="line">
            <a:avLst/>
          </a:prstGeom>
          <a:noFill/>
          <a:ln w="6985">
            <a:solidFill>
              <a:srgbClr val="D6DEE8"/>
            </a:solidFill>
            <a:prstDash val="solid"/>
          </a:ln>
        </p:spPr>
      </p:sp>
      <p:sp>
        <p:nvSpPr>
          <p:cNvPr id="29" name="Shape 27"/>
          <p:cNvSpPr/>
          <p:nvPr/>
        </p:nvSpPr>
        <p:spPr>
          <a:xfrm>
            <a:off x="704088" y="4626864"/>
            <a:ext cx="10780776" cy="832104"/>
          </a:xfrm>
          <a:prstGeom prst="rect">
            <a:avLst/>
          </a:prstGeom>
          <a:solidFill>
            <a:srgbClr val="EDF2F8"/>
          </a:solidFill>
          <a:ln w="12700">
            <a:solidFill>
              <a:srgbClr val="FFFFFF">
                <a:alpha val="0"/>
              </a:srgbClr>
            </a:solidFill>
            <a:prstDash val="solid"/>
          </a:ln>
        </p:spPr>
      </p:sp>
      <p:sp>
        <p:nvSpPr>
          <p:cNvPr id="30" name="Text 28"/>
          <p:cNvSpPr/>
          <p:nvPr/>
        </p:nvSpPr>
        <p:spPr>
          <a:xfrm>
            <a:off x="786384" y="4668012"/>
            <a:ext cx="3566160"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¿Por qué un solo enlace?</a:t>
            </a:r>
            <a:endParaRPr lang="en-US" sz="1300" dirty="0"/>
          </a:p>
        </p:txBody>
      </p:sp>
      <p:sp>
        <p:nvSpPr>
          <p:cNvPr id="31" name="Shape 29"/>
          <p:cNvSpPr/>
          <p:nvPr/>
        </p:nvSpPr>
        <p:spPr>
          <a:xfrm>
            <a:off x="4434840" y="4626864"/>
            <a:ext cx="0" cy="832104"/>
          </a:xfrm>
          <a:prstGeom prst="line">
            <a:avLst/>
          </a:prstGeom>
          <a:noFill/>
          <a:ln w="6985">
            <a:solidFill>
              <a:srgbClr val="D6DEE8"/>
            </a:solidFill>
            <a:prstDash val="solid"/>
          </a:ln>
        </p:spPr>
      </p:sp>
      <p:sp>
        <p:nvSpPr>
          <p:cNvPr id="32" name="Text 30"/>
          <p:cNvSpPr/>
          <p:nvPr/>
        </p:nvSpPr>
        <p:spPr>
          <a:xfrm>
            <a:off x="4517136" y="4668012"/>
            <a:ext cx="6885432"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Estudio de caso real; resultados delimitados al escenario; metodología reproducible con recalibración.</a:t>
            </a:r>
            <a:endParaRPr lang="en-US" sz="1300" dirty="0"/>
          </a:p>
        </p:txBody>
      </p:sp>
      <p:sp>
        <p:nvSpPr>
          <p:cNvPr id="33" name="Shape 31"/>
          <p:cNvSpPr/>
          <p:nvPr/>
        </p:nvSpPr>
        <p:spPr>
          <a:xfrm>
            <a:off x="704088" y="5458968"/>
            <a:ext cx="10780776" cy="0"/>
          </a:xfrm>
          <a:prstGeom prst="line">
            <a:avLst/>
          </a:prstGeom>
          <a:noFill/>
          <a:ln w="6985">
            <a:solidFill>
              <a:srgbClr val="D6DEE8"/>
            </a:solidFill>
            <a:prstDash val="solid"/>
          </a:ln>
        </p:spPr>
      </p:sp>
      <p:sp>
        <p:nvSpPr>
          <p:cNvPr id="34" name="Shape 32"/>
          <p:cNvSpPr/>
          <p:nvPr/>
        </p:nvSpPr>
        <p:spPr>
          <a:xfrm>
            <a:off x="704088" y="5458968"/>
            <a:ext cx="10780776" cy="832104"/>
          </a:xfrm>
          <a:prstGeom prst="rect">
            <a:avLst/>
          </a:prstGeom>
          <a:solidFill>
            <a:srgbClr val="FFFFFF"/>
          </a:solidFill>
          <a:ln w="12700">
            <a:solidFill>
              <a:srgbClr val="FFFFFF">
                <a:alpha val="0"/>
              </a:srgbClr>
            </a:solidFill>
            <a:prstDash val="solid"/>
          </a:ln>
        </p:spPr>
      </p:sp>
      <p:sp>
        <p:nvSpPr>
          <p:cNvPr id="35" name="Text 33"/>
          <p:cNvSpPr/>
          <p:nvPr/>
        </p:nvSpPr>
        <p:spPr>
          <a:xfrm>
            <a:off x="786384" y="5500116"/>
            <a:ext cx="3566160"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¿Por qué hipótesis parcial?</a:t>
            </a:r>
            <a:endParaRPr lang="en-US" sz="1300" dirty="0"/>
          </a:p>
        </p:txBody>
      </p:sp>
      <p:sp>
        <p:nvSpPr>
          <p:cNvPr id="36" name="Shape 34"/>
          <p:cNvSpPr/>
          <p:nvPr/>
        </p:nvSpPr>
        <p:spPr>
          <a:xfrm>
            <a:off x="4434840" y="5458968"/>
            <a:ext cx="0" cy="832104"/>
          </a:xfrm>
          <a:prstGeom prst="line">
            <a:avLst/>
          </a:prstGeom>
          <a:noFill/>
          <a:ln w="6985">
            <a:solidFill>
              <a:srgbClr val="D6DEE8"/>
            </a:solidFill>
            <a:prstDash val="solid"/>
          </a:ln>
        </p:spPr>
      </p:sp>
      <p:sp>
        <p:nvSpPr>
          <p:cNvPr id="37" name="Text 35"/>
          <p:cNvSpPr/>
          <p:nvPr/>
        </p:nvSpPr>
        <p:spPr>
          <a:xfrm>
            <a:off x="4517136" y="5500116"/>
            <a:ext cx="6885432" cy="749808"/>
          </a:xfrm>
          <a:prstGeom prst="rect">
            <a:avLst/>
          </a:prstGeom>
          <a:noFill/>
          <a:ln/>
        </p:spPr>
        <p:txBody>
          <a:bodyPr wrap="square" lIns="0" tIns="0" rIns="0" bIns="0" rtlCol="0" anchor="ctr">
            <a:normAutofit/>
          </a:bodyPr>
          <a:lstStyle/>
          <a:p>
            <a:pPr algn="l" indent="0" marL="0">
              <a:buNone/>
            </a:pPr>
            <a:r>
              <a:rPr lang="en-US" sz="1300" dirty="0">
                <a:solidFill>
                  <a:srgbClr val="202B3C"/>
                </a:solidFill>
                <a:latin typeface="Aptos" pitchFamily="34" charset="0"/>
                <a:ea typeface="Aptos" pitchFamily="34" charset="-122"/>
                <a:cs typeface="Aptos" pitchFamily="34" charset="-120"/>
              </a:rPr>
              <a:t>Las mejoras de MCS/tasa están respaldadas, pero F1 y RSSI no presentan superioridad uniforme.</a:t>
            </a:r>
            <a:endParaRPr lang="en-US" sz="1300" dirty="0"/>
          </a:p>
        </p:txBody>
      </p:sp>
      <p:sp>
        <p:nvSpPr>
          <p:cNvPr id="38" name="Shape 36"/>
          <p:cNvSpPr/>
          <p:nvPr/>
        </p:nvSpPr>
        <p:spPr>
          <a:xfrm>
            <a:off x="704088" y="6291072"/>
            <a:ext cx="10780776" cy="0"/>
          </a:xfrm>
          <a:prstGeom prst="line">
            <a:avLst/>
          </a:prstGeom>
          <a:noFill/>
          <a:ln w="6985">
            <a:solidFill>
              <a:srgbClr val="D6DEE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Universidad Nacional de Cajamarca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de tesis — Sistema inteligente de analítica temporal</dc:title>
  <dc:subject>Presentación de sustentación de tesis: Ubelser Tamay Nuñez</dc:subject>
  <dc:creator>Laboratorio de Investigación Avanzada en Telecomunicaciones — UNC</dc:creator>
  <cp:lastModifiedBy>Laboratorio de Investigación Avanzada en Telecomunicaciones — UNC</cp:lastModifiedBy>
  <cp:revision>1</cp:revision>
  <dcterms:created xsi:type="dcterms:W3CDTF">2026-10-28T16:37:59Z</dcterms:created>
  <dcterms:modified xsi:type="dcterms:W3CDTF">2026-10-28T16:37:59Z</dcterms:modified>
</cp:coreProperties>
</file>